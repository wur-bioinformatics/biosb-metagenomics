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52"/>
  </p:notesMasterIdLst>
  <p:sldIdLst>
    <p:sldId id="256" r:id="rId2"/>
    <p:sldId id="321" r:id="rId3"/>
    <p:sldId id="257" r:id="rId4"/>
    <p:sldId id="258" r:id="rId5"/>
    <p:sldId id="348" r:id="rId6"/>
    <p:sldId id="260" r:id="rId7"/>
    <p:sldId id="261" r:id="rId8"/>
    <p:sldId id="262" r:id="rId9"/>
    <p:sldId id="263" r:id="rId10"/>
    <p:sldId id="349"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306" r:id="rId24"/>
    <p:sldId id="350" r:id="rId25"/>
    <p:sldId id="286" r:id="rId26"/>
    <p:sldId id="309" r:id="rId27"/>
    <p:sldId id="998" r:id="rId28"/>
    <p:sldId id="1000" r:id="rId29"/>
    <p:sldId id="1004" r:id="rId30"/>
    <p:sldId id="1001" r:id="rId31"/>
    <p:sldId id="1002" r:id="rId32"/>
    <p:sldId id="978" r:id="rId33"/>
    <p:sldId id="457" r:id="rId34"/>
    <p:sldId id="504" r:id="rId35"/>
    <p:sldId id="460" r:id="rId36"/>
    <p:sldId id="1008" r:id="rId37"/>
    <p:sldId id="311" r:id="rId38"/>
    <p:sldId id="313" r:id="rId39"/>
    <p:sldId id="314" r:id="rId40"/>
    <p:sldId id="315" r:id="rId41"/>
    <p:sldId id="316" r:id="rId42"/>
    <p:sldId id="318" r:id="rId43"/>
    <p:sldId id="319" r:id="rId44"/>
    <p:sldId id="1007" r:id="rId45"/>
    <p:sldId id="332" r:id="rId46"/>
    <p:sldId id="333" r:id="rId47"/>
    <p:sldId id="335" r:id="rId48"/>
    <p:sldId id="338" r:id="rId49"/>
    <p:sldId id="340" r:id="rId50"/>
    <p:sldId id="346" r:id="rId51"/>
  </p:sldIdLst>
  <p:sldSz cx="9144000" cy="5143500" type="screen16x9"/>
  <p:notesSz cx="6858000" cy="9144000"/>
  <p:embeddedFontLst>
    <p:embeddedFont>
      <p:font typeface="Cambria Math" panose="02040503050406030204" pitchFamily="18" charset="0"/>
      <p:regular r:id="rId53"/>
    </p:embeddedFont>
    <p:embeddedFont>
      <p:font typeface="Helvetica Neue" panose="020B0604020202020204" charset="0"/>
      <p:regular r:id="rId54"/>
      <p:bold r:id="rId55"/>
      <p:italic r:id="rId56"/>
      <p:boldItalic r:id="rId57"/>
    </p:embeddedFont>
    <p:embeddedFont>
      <p:font typeface="Roboto Mono" panose="00000009000000000000" pitchFamily="49" charset="0"/>
      <p:regular r:id="rId58"/>
      <p:bold r:id="rId59"/>
      <p:italic r:id="rId60"/>
      <p:boldItalic r:id="rId61"/>
    </p:embeddedFont>
    <p:embeddedFont>
      <p:font typeface="Verdana" panose="020B0604030504040204" pitchFamily="34"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4ED590C-AC18-4EEA-A8E6-FBBD931EF637}">
  <a:tblStyle styleId="{74ED590C-AC18-4EEA-A8E6-FBBD931EF63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06E1C7E-A112-4B5E-AF22-2FFA16795C80}"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b="off" i="off"/>
      <a:tcStyle>
        <a:tcBdr/>
        <a:fill>
          <a:solidFill>
            <a:srgbClr val="CACACA"/>
          </a:solidFill>
        </a:fill>
      </a:tcStyle>
    </a:band1H>
    <a:band2H>
      <a:tcTxStyle b="off" i="off"/>
      <a:tcStyle>
        <a:tcBdr/>
      </a:tcStyle>
    </a:band2H>
    <a:band1V>
      <a:tcTxStyle b="off" i="off"/>
      <a:tcStyle>
        <a:tcBdr/>
        <a:fill>
          <a:solidFill>
            <a:srgbClr val="CACACA"/>
          </a:solidFill>
        </a:fill>
      </a:tcStyle>
    </a:band1V>
    <a:band2V>
      <a:tcTxStyle b="off" i="off"/>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111" autoAdjust="0"/>
  </p:normalViewPr>
  <p:slideViewPr>
    <p:cSldViewPr snapToGrid="0">
      <p:cViewPr varScale="1">
        <p:scale>
          <a:sx n="112" d="100"/>
          <a:sy n="112" d="100"/>
        </p:scale>
        <p:origin x="750" y="1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1"/>
        <p:cNvGrpSpPr/>
        <p:nvPr/>
      </p:nvGrpSpPr>
      <p:grpSpPr>
        <a:xfrm>
          <a:off x="0" y="0"/>
          <a:ext cx="0" cy="0"/>
          <a:chOff x="0" y="0"/>
          <a:chExt cx="0" cy="0"/>
        </a:xfrm>
      </p:grpSpPr>
      <p:sp>
        <p:nvSpPr>
          <p:cNvPr id="1702" name="Google Shape;1702;g3094e50031b_0_6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3" name="Google Shape;1703;g3094e50031b_0_6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094e50031b_0_17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 name="Google Shape;76;g3094e50031b_0_17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094e50031b_0_17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g3094e50031b_0_17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E9557808-8797-7F23-D7F5-8A9E8DDE9E88}"/>
            </a:ext>
          </a:extLst>
        </p:cNvPr>
        <p:cNvGrpSpPr/>
        <p:nvPr/>
      </p:nvGrpSpPr>
      <p:grpSpPr>
        <a:xfrm>
          <a:off x="0" y="0"/>
          <a:ext cx="0" cy="0"/>
          <a:chOff x="0" y="0"/>
          <a:chExt cx="0" cy="0"/>
        </a:xfrm>
      </p:grpSpPr>
      <p:sp>
        <p:nvSpPr>
          <p:cNvPr id="114" name="Google Shape;114;g3094e50031b_0_1788:notes">
            <a:extLst>
              <a:ext uri="{FF2B5EF4-FFF2-40B4-BE49-F238E27FC236}">
                <a16:creationId xmlns:a16="http://schemas.microsoft.com/office/drawing/2014/main" id="{CABBC977-3E83-7F29-76B9-1C251859529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g3094e50031b_0_1788:notes">
            <a:extLst>
              <a:ext uri="{FF2B5EF4-FFF2-40B4-BE49-F238E27FC236}">
                <a16:creationId xmlns:a16="http://schemas.microsoft.com/office/drawing/2014/main" id="{2733BB4C-9973-F12E-9BE7-85ECE99AF1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30406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094e50031b_0_1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094e50031b_0_1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primer binding site is necessary to amplify, and primers then attach an index and the sequencer binding site nucleotides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0951717440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0951717440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If you are doing it yourself, be sure to do an orientation check</a:t>
            </a: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0951717440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095171744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Poly G can indicate the end of a read.</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0951717440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095171744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At the end of the read the quality score drops due to phasing. Every cycle a nucleotide is added to a cluster of DNA fragments. When a nucleotides is not incorporated in one DNA fragment, it is an error, and it is one nucleotide behind the rest, increasing the chances that more errors can creep in (polluting the light signal). The reverse reads go in the reverse direction, and that is more prone to errors than forward reads.</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FastQC</a:t>
            </a:r>
            <a:r>
              <a:rPr lang="en-US" dirty="0"/>
              <a:t> was designed around single-genome or single-transcriptome libraries, where the expectations are simple: a roughly unimodal GC distribution, low duplication, no enriched sequences. </a:t>
            </a:r>
            <a:endParaRPr lang="nl-NL" dirty="0"/>
          </a:p>
        </p:txBody>
      </p:sp>
    </p:spTree>
    <p:extLst>
      <p:ext uri="{BB962C8B-B14F-4D97-AF65-F5344CB8AC3E}">
        <p14:creationId xmlns:p14="http://schemas.microsoft.com/office/powerpoint/2010/main" val="3708486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0951717440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0951717440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094e50031b_0_14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g3094e50031b_0_14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094e50031b_0_13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b="1">
                <a:solidFill>
                  <a:schemeClr val="dk1"/>
                </a:solidFill>
              </a:rPr>
              <a:t>read-based approaches</a:t>
            </a:r>
            <a:r>
              <a:rPr lang="en">
                <a:solidFill>
                  <a:schemeClr val="dk1"/>
                </a:solidFill>
              </a:rPr>
              <a:t> involve analyzing the </a:t>
            </a:r>
            <a:r>
              <a:rPr lang="en" b="1">
                <a:solidFill>
                  <a:schemeClr val="dk1"/>
                </a:solidFill>
              </a:rPr>
              <a:t>sequencing reads directly</a:t>
            </a:r>
            <a:r>
              <a:rPr lang="en">
                <a:solidFill>
                  <a:schemeClr val="dk1"/>
                </a:solidFill>
              </a:rPr>
              <a:t>, rather than assembling them into longer contiguous sequences (</a:t>
            </a:r>
            <a:r>
              <a:rPr lang="en" b="1">
                <a:solidFill>
                  <a:schemeClr val="dk1"/>
                </a:solidFill>
              </a:rPr>
              <a:t>contigs</a:t>
            </a:r>
            <a:r>
              <a:rPr lang="en">
                <a:solidFill>
                  <a:schemeClr val="dk1"/>
                </a:solidFill>
              </a:rPr>
              <a: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Read-based ≃ Reference-based</a:t>
            </a:r>
            <a:endParaRPr>
              <a:solidFill>
                <a:schemeClr val="dk1"/>
              </a:solidFill>
            </a:endParaRPr>
          </a:p>
          <a:p>
            <a:pPr marL="0" lvl="0" indent="0" algn="l" rtl="0">
              <a:spcBef>
                <a:spcPts val="0"/>
              </a:spcBef>
              <a:spcAft>
                <a:spcPts val="0"/>
              </a:spcAft>
              <a:buSzPts val="1100"/>
              <a:buNone/>
            </a:pPr>
            <a:r>
              <a:rPr lang="en">
                <a:solidFill>
                  <a:schemeClr val="dk1"/>
                </a:solidFill>
              </a:rPr>
              <a:t>Align short-reads to different databases containing reference sequences</a:t>
            </a:r>
            <a:endParaRPr>
              <a:solidFill>
                <a:schemeClr val="dk1"/>
              </a:solidFill>
            </a:endParaRPr>
          </a:p>
          <a:p>
            <a:pPr marL="0" lvl="0" indent="0" algn="l" rtl="0">
              <a:spcBef>
                <a:spcPts val="0"/>
              </a:spcBef>
              <a:spcAft>
                <a:spcPts val="0"/>
              </a:spcAft>
              <a:buSzPts val="1100"/>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SzPts val="1400"/>
              <a:buNone/>
            </a:pPr>
            <a:endParaRPr>
              <a:solidFill>
                <a:schemeClr val="dk1"/>
              </a:solidFill>
            </a:endParaRPr>
          </a:p>
          <a:p>
            <a:pPr marL="0" lvl="0" indent="0" algn="l" rtl="0">
              <a:lnSpc>
                <a:spcPct val="100000"/>
              </a:lnSpc>
              <a:spcBef>
                <a:spcPts val="0"/>
              </a:spcBef>
              <a:spcAft>
                <a:spcPts val="0"/>
              </a:spcAft>
              <a:buSzPts val="1400"/>
              <a:buNone/>
            </a:pPr>
            <a:endParaRPr>
              <a:solidFill>
                <a:schemeClr val="dk1"/>
              </a:solidFill>
            </a:endParaRPr>
          </a:p>
          <a:p>
            <a:pPr marL="0" lvl="0" indent="0" algn="l" rtl="0">
              <a:lnSpc>
                <a:spcPct val="100000"/>
              </a:lnSpc>
              <a:spcBef>
                <a:spcPts val="0"/>
              </a:spcBef>
              <a:spcAft>
                <a:spcPts val="0"/>
              </a:spcAft>
              <a:buSzPts val="1400"/>
              <a:buNone/>
            </a:pPr>
            <a:endParaRPr>
              <a:solidFill>
                <a:schemeClr val="dk1"/>
              </a:solidFill>
            </a:endParaRPr>
          </a:p>
        </p:txBody>
      </p:sp>
      <p:sp>
        <p:nvSpPr>
          <p:cNvPr id="416" name="Google Shape;416;g3094e50031b_0_13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09528d3720_4_16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15000"/>
              </a:lnSpc>
              <a:spcBef>
                <a:spcPts val="1200"/>
              </a:spcBef>
              <a:spcAft>
                <a:spcPts val="0"/>
              </a:spcAft>
              <a:buClr>
                <a:schemeClr val="dk1"/>
              </a:buClr>
              <a:buSzPts val="1100"/>
              <a:buChar char="●"/>
            </a:pPr>
            <a:r>
              <a:rPr lang="en" b="1">
                <a:solidFill>
                  <a:schemeClr val="dk1"/>
                </a:solidFill>
              </a:rPr>
              <a:t>Classifying reads</a:t>
            </a:r>
            <a:r>
              <a:rPr lang="en">
                <a:solidFill>
                  <a:schemeClr val="dk1"/>
                </a:solidFill>
              </a:rPr>
              <a:t> based on their similarity to known sequences in reference databases (e.g., using tools </a:t>
            </a:r>
            <a:r>
              <a:rPr lang="en" b="1">
                <a:solidFill>
                  <a:schemeClr val="dk1"/>
                </a:solidFill>
              </a:rPr>
              <a:t>MetaPhlAn or Kraken</a:t>
            </a:r>
            <a:r>
              <a:rPr lang="e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Assigning reads to </a:t>
            </a:r>
            <a:r>
              <a:rPr lang="en" b="1">
                <a:solidFill>
                  <a:schemeClr val="dk1"/>
                </a:solidFill>
              </a:rPr>
              <a:t>taxonomic ranks</a:t>
            </a:r>
            <a:r>
              <a:rPr lang="en">
                <a:solidFill>
                  <a:schemeClr val="dk1"/>
                </a:solidFill>
              </a:rPr>
              <a:t> (e.g., species, genus, family) based on these matches.</a:t>
            </a:r>
            <a:endParaRPr>
              <a:solidFill>
                <a:schemeClr val="dk1"/>
              </a:solidFill>
            </a:endParaRPr>
          </a:p>
          <a:p>
            <a:pPr marL="0" lvl="0" indent="0" algn="l" rtl="0">
              <a:lnSpc>
                <a:spcPct val="115000"/>
              </a:lnSpc>
              <a:spcBef>
                <a:spcPts val="1200"/>
              </a:spcBef>
              <a:spcAft>
                <a:spcPts val="1200"/>
              </a:spcAft>
              <a:buNone/>
            </a:pPr>
            <a:r>
              <a:rPr lang="en" b="1">
                <a:solidFill>
                  <a:schemeClr val="dk1"/>
                </a:solidFill>
              </a:rPr>
              <a:t>MetaPhlAn uses clade-specific marker genes while Kraken uses whole-genome databases and k-mer-based alignment</a:t>
            </a:r>
            <a:endParaRPr>
              <a:solidFill>
                <a:schemeClr val="dk1"/>
              </a:solidFill>
            </a:endParaRPr>
          </a:p>
        </p:txBody>
      </p:sp>
      <p:sp>
        <p:nvSpPr>
          <p:cNvPr id="433" name="Google Shape;433;g309528d3720_4_16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09528d3720_4_16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HUMAnN maps the </a:t>
            </a:r>
            <a:r>
              <a:rPr lang="en" b="1">
                <a:solidFill>
                  <a:schemeClr val="dk1"/>
                </a:solidFill>
              </a:rPr>
              <a:t>identified gene families</a:t>
            </a:r>
            <a:r>
              <a:rPr lang="en">
                <a:solidFill>
                  <a:schemeClr val="dk1"/>
                </a:solidFill>
              </a:rPr>
              <a:t> to </a:t>
            </a:r>
            <a:r>
              <a:rPr lang="en" b="1">
                <a:solidFill>
                  <a:schemeClr val="dk1"/>
                </a:solidFill>
              </a:rPr>
              <a:t>metabolic pathways</a:t>
            </a:r>
            <a:r>
              <a:rPr lang="en">
                <a:solidFill>
                  <a:schemeClr val="dk1"/>
                </a:solidFill>
              </a:rPr>
              <a:t> using a </a:t>
            </a:r>
            <a:r>
              <a:rPr lang="en" b="1">
                <a:solidFill>
                  <a:schemeClr val="dk1"/>
                </a:solidFill>
              </a:rPr>
              <a:t>reference pathway database</a:t>
            </a:r>
            <a:r>
              <a:rPr lang="en">
                <a:solidFill>
                  <a:schemeClr val="dk1"/>
                </a:solidFill>
              </a:rPr>
              <a:t> (e.g., </a:t>
            </a:r>
            <a:r>
              <a:rPr lang="en" b="1">
                <a:solidFill>
                  <a:schemeClr val="dk1"/>
                </a:solidFill>
              </a:rPr>
              <a:t>MetaCyc</a:t>
            </a:r>
            <a:r>
              <a:rPr lang="en">
                <a:solidFill>
                  <a:schemeClr val="dk1"/>
                </a:solidFill>
              </a:rPr>
              <a:t>).</a:t>
            </a:r>
            <a:endParaRPr b="1">
              <a:solidFill>
                <a:schemeClr val="dk1"/>
              </a:solidFill>
            </a:endParaRPr>
          </a:p>
          <a:p>
            <a:pPr marL="0" lvl="0" indent="0" algn="l" rtl="0">
              <a:spcBef>
                <a:spcPts val="1200"/>
              </a:spcBef>
              <a:spcAft>
                <a:spcPts val="0"/>
              </a:spcAft>
              <a:buClr>
                <a:schemeClr val="dk1"/>
              </a:buClr>
              <a:buSzPts val="1100"/>
              <a:buFont typeface="Arial"/>
              <a:buNone/>
            </a:pPr>
            <a:r>
              <a:rPr lang="en" b="1">
                <a:solidFill>
                  <a:schemeClr val="dk1"/>
                </a:solidFill>
              </a:rPr>
              <a:t>HUMAnN uses a two-step strategy</a:t>
            </a:r>
            <a:r>
              <a:rPr lang="en">
                <a:solidFill>
                  <a:schemeClr val="dk1"/>
                </a:solidFill>
              </a:rPr>
              <a:t> to map reads to known sequences, making use of both </a:t>
            </a:r>
            <a:r>
              <a:rPr lang="en" b="1">
                <a:solidFill>
                  <a:schemeClr val="dk1"/>
                </a:solidFill>
              </a:rPr>
              <a:t>protein databases</a:t>
            </a:r>
            <a:r>
              <a:rPr lang="en">
                <a:solidFill>
                  <a:schemeClr val="dk1"/>
                </a:solidFill>
              </a:rPr>
              <a:t> and </a:t>
            </a:r>
            <a:r>
              <a:rPr lang="en" b="1">
                <a:solidFill>
                  <a:schemeClr val="dk1"/>
                </a:solidFill>
              </a:rPr>
              <a:t>nucleotide databases</a:t>
            </a:r>
            <a:r>
              <a:rPr lang="en">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
                <a:solidFill>
                  <a:schemeClr val="dk1"/>
                </a:solidFill>
              </a:rPr>
              <a:t>Reads are first aligned to a </a:t>
            </a:r>
            <a:r>
              <a:rPr lang="en" b="1">
                <a:solidFill>
                  <a:schemeClr val="dk1"/>
                </a:solidFill>
              </a:rPr>
              <a:t>reference protein database</a:t>
            </a:r>
            <a:r>
              <a:rPr lang="en">
                <a:solidFill>
                  <a:schemeClr val="dk1"/>
                </a:solidFill>
              </a:rPr>
              <a:t> (e.g., </a:t>
            </a:r>
            <a:r>
              <a:rPr lang="en" b="1">
                <a:solidFill>
                  <a:schemeClr val="dk1"/>
                </a:solidFill>
              </a:rPr>
              <a:t>UniRef90 or UniRef50</a:t>
            </a:r>
            <a:r>
              <a:rPr lang="en">
                <a:solidFill>
                  <a:schemeClr val="dk1"/>
                </a:solidFill>
              </a:rPr>
              <a:t>, which contain protein families clustered at different levels of sequence identity).</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This allows HUMAnN to identify reads that </a:t>
            </a:r>
            <a:r>
              <a:rPr lang="en" b="1">
                <a:solidFill>
                  <a:schemeClr val="dk1"/>
                </a:solidFill>
              </a:rPr>
              <a:t>match known protein-coding genes</a:t>
            </a:r>
            <a:r>
              <a:rPr lang="en">
                <a:solidFill>
                  <a:schemeClr val="dk1"/>
                </a:solidFill>
              </a:rPr>
              <a:t> and provides </a:t>
            </a:r>
            <a:r>
              <a:rPr lang="en" b="1">
                <a:solidFill>
                  <a:schemeClr val="dk1"/>
                </a:solidFill>
              </a:rPr>
              <a:t>functional annotation</a:t>
            </a:r>
            <a:r>
              <a:rPr lang="e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Reads that do not map to protein families are then aligned to a </a:t>
            </a:r>
            <a:r>
              <a:rPr lang="en" b="1">
                <a:solidFill>
                  <a:schemeClr val="dk1"/>
                </a:solidFill>
              </a:rPr>
              <a:t>custom nucleotide database</a:t>
            </a:r>
            <a:r>
              <a:rPr lang="en">
                <a:solidFill>
                  <a:schemeClr val="dk1"/>
                </a:solidFill>
              </a:rPr>
              <a:t> (e.g., </a:t>
            </a:r>
            <a:r>
              <a:rPr lang="en" b="1">
                <a:solidFill>
                  <a:schemeClr val="dk1"/>
                </a:solidFill>
              </a:rPr>
              <a:t>ChocoPhlAn</a:t>
            </a:r>
            <a:r>
              <a:rPr lang="en">
                <a:solidFill>
                  <a:schemeClr val="dk1"/>
                </a:solidFill>
              </a:rPr>
              <a:t>, which includes microbial genomes).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This helps detect additional </a:t>
            </a:r>
            <a:r>
              <a:rPr lang="en" b="1">
                <a:solidFill>
                  <a:schemeClr val="dk1"/>
                </a:solidFill>
              </a:rPr>
              <a:t>gene families</a:t>
            </a:r>
            <a:r>
              <a:rPr lang="en">
                <a:solidFill>
                  <a:schemeClr val="dk1"/>
                </a:solidFill>
              </a:rPr>
              <a:t> that may not be present in the protein database.</a:t>
            </a:r>
            <a:endParaRPr>
              <a:solidFill>
                <a:schemeClr val="dk1"/>
              </a:solidFill>
            </a:endParaRPr>
          </a:p>
        </p:txBody>
      </p:sp>
      <p:sp>
        <p:nvSpPr>
          <p:cNvPr id="452" name="Google Shape;452;g309528d3720_4_16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09528d3720_4_16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 b="1">
                <a:solidFill>
                  <a:schemeClr val="dk1"/>
                </a:solidFill>
              </a:rPr>
              <a:t>ShortBRED</a:t>
            </a:r>
            <a:r>
              <a:rPr lang="en">
                <a:solidFill>
                  <a:schemeClr val="dk1"/>
                </a:solidFill>
              </a:rPr>
              <a:t> is designed to detect and quantify </a:t>
            </a:r>
            <a:r>
              <a:rPr lang="en" b="1">
                <a:solidFill>
                  <a:schemeClr val="dk1"/>
                </a:solidFill>
              </a:rPr>
              <a:t>specific protein families, such as Virulence factors and Antibiotic resistance genes</a:t>
            </a:r>
            <a:r>
              <a:rPr lang="en">
                <a:solidFill>
                  <a:schemeClr val="dk1"/>
                </a:solidFill>
              </a:rPr>
              <a:t> in a metagenomic dataset by using </a:t>
            </a:r>
            <a:r>
              <a:rPr lang="en" b="1">
                <a:solidFill>
                  <a:schemeClr val="dk1"/>
                </a:solidFill>
              </a:rPr>
              <a:t>marker sequences</a:t>
            </a:r>
            <a:r>
              <a:rPr lang="en">
                <a:solidFill>
                  <a:schemeClr val="dk1"/>
                </a:solidFill>
              </a:rPr>
              <a:t> derived from known protein families.</a:t>
            </a:r>
            <a:endParaRPr>
              <a:solidFill>
                <a:schemeClr val="dk1"/>
              </a:solidFill>
            </a:endParaRPr>
          </a:p>
          <a:p>
            <a:pPr marL="0" lvl="0" indent="0" algn="l" rtl="0">
              <a:lnSpc>
                <a:spcPct val="100000"/>
              </a:lnSpc>
              <a:spcBef>
                <a:spcPts val="1200"/>
              </a:spcBef>
              <a:spcAft>
                <a:spcPts val="0"/>
              </a:spcAft>
              <a:buSzPts val="1400"/>
              <a:buNone/>
            </a:pPr>
            <a:endParaRPr>
              <a:solidFill>
                <a:schemeClr val="dk1"/>
              </a:solidFill>
            </a:endParaRPr>
          </a:p>
        </p:txBody>
      </p:sp>
      <p:sp>
        <p:nvSpPr>
          <p:cNvPr id="471" name="Google Shape;471;g309528d3720_4_16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094e50031b_0_15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0" name="Google Shape;490;g3094e50031b_0_15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309528d3720_4_1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309528d3720_4_1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Imagine you have a </a:t>
            </a:r>
            <a:r>
              <a:rPr lang="en" sz="1200" b="1">
                <a:solidFill>
                  <a:schemeClr val="dk1"/>
                </a:solidFill>
              </a:rPr>
              <a:t>library filled with books</a:t>
            </a:r>
            <a:r>
              <a:rPr lang="en" sz="1200">
                <a:solidFill>
                  <a:schemeClr val="dk1"/>
                </a:solidFill>
              </a:rPr>
              <a:t>. Each book contains a </a:t>
            </a:r>
            <a:r>
              <a:rPr lang="en" sz="1200" b="1">
                <a:solidFill>
                  <a:schemeClr val="dk1"/>
                </a:solidFill>
              </a:rPr>
              <a:t>complete, coherent story</a:t>
            </a:r>
            <a:r>
              <a:rPr lang="en" sz="1200">
                <a:solidFill>
                  <a:schemeClr val="dk1"/>
                </a:solidFill>
              </a:rPr>
              <a:t> or piece of information. </a:t>
            </a:r>
            <a:br>
              <a:rPr lang="en" sz="1200">
                <a:solidFill>
                  <a:schemeClr val="dk1"/>
                </a:solidFill>
              </a:rPr>
            </a:br>
            <a:r>
              <a:rPr lang="en" sz="1200" b="1">
                <a:solidFill>
                  <a:schemeClr val="dk1"/>
                </a:solidFill>
              </a:rPr>
              <a:t>Now</a:t>
            </a:r>
            <a:r>
              <a:rPr lang="en" sz="1200">
                <a:solidFill>
                  <a:schemeClr val="dk1"/>
                </a:solidFill>
              </a:rPr>
              <a:t>, imagine that you </a:t>
            </a:r>
            <a:r>
              <a:rPr lang="en" sz="1200" b="1">
                <a:solidFill>
                  <a:schemeClr val="dk1"/>
                </a:solidFill>
              </a:rPr>
              <a:t>shred each book into small pieces</a:t>
            </a:r>
            <a:r>
              <a:rPr lang="en" sz="1200">
                <a:solidFill>
                  <a:schemeClr val="dk1"/>
                </a:solidFill>
              </a:rPr>
              <a:t> and </a:t>
            </a:r>
            <a:r>
              <a:rPr lang="en" sz="1200" b="1">
                <a:solidFill>
                  <a:schemeClr val="dk1"/>
                </a:solidFill>
              </a:rPr>
              <a:t>mix them together</a:t>
            </a:r>
            <a:r>
              <a:rPr lang="en" sz="1200">
                <a:solidFill>
                  <a:schemeClr val="dk1"/>
                </a:solidFill>
              </a:rPr>
              <a:t>, so you no longer know which fragment belongs to which book.</a:t>
            </a:r>
            <a:endParaRPr sz="1200">
              <a:solidFill>
                <a:schemeClr val="dk1"/>
              </a:solidFill>
            </a:endParaRPr>
          </a:p>
          <a:p>
            <a:pPr marL="0" lvl="0" indent="0" algn="l" rtl="0">
              <a:spcBef>
                <a:spcPts val="0"/>
              </a:spcBef>
              <a:spcAft>
                <a:spcPts val="0"/>
              </a:spcAft>
              <a:buNone/>
            </a:pPr>
            <a:r>
              <a:rPr lang="en" sz="1200" b="1">
                <a:solidFill>
                  <a:schemeClr val="dk1"/>
                </a:solidFill>
              </a:rPr>
              <a:t>Now</a:t>
            </a:r>
            <a:r>
              <a:rPr lang="en" sz="1200">
                <a:solidFill>
                  <a:schemeClr val="dk1"/>
                </a:solidFill>
              </a:rPr>
              <a:t> </a:t>
            </a:r>
            <a:r>
              <a:rPr lang="en" sz="1200" b="1">
                <a:solidFill>
                  <a:schemeClr val="dk1"/>
                </a:solidFill>
              </a:rPr>
              <a:t>attempt to reconstruct each book using the mixed collection of fragments</a:t>
            </a:r>
            <a:r>
              <a:rPr lang="en" sz="1200">
                <a:solidFill>
                  <a:schemeClr val="dk1"/>
                </a:solidFill>
              </a:rPr>
              <a:t>. The goal is to piece together the fragments in the </a:t>
            </a:r>
            <a:r>
              <a:rPr lang="en" sz="1200" b="1">
                <a:solidFill>
                  <a:schemeClr val="dk1"/>
                </a:solidFill>
              </a:rPr>
              <a:t>correct order</a:t>
            </a:r>
            <a:r>
              <a:rPr lang="en" sz="1200">
                <a:solidFill>
                  <a:schemeClr val="dk1"/>
                </a:solidFill>
              </a:rPr>
              <a:t> to recreate each original story. </a:t>
            </a:r>
            <a:br>
              <a:rPr lang="en" sz="1200">
                <a:solidFill>
                  <a:schemeClr val="dk1"/>
                </a:solidFill>
              </a:rPr>
            </a:br>
            <a:endParaRPr sz="1200">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represents the process of </a:t>
            </a:r>
            <a:r>
              <a:rPr lang="en" b="1">
                <a:solidFill>
                  <a:schemeClr val="dk1"/>
                </a:solidFill>
              </a:rPr>
              <a:t>sequencing</a:t>
            </a:r>
            <a:r>
              <a:rPr lang="en">
                <a:solidFill>
                  <a:schemeClr val="dk1"/>
                </a:solidFill>
              </a:rPr>
              <a:t> a genome, where </a:t>
            </a:r>
            <a:r>
              <a:rPr lang="en" b="1">
                <a:solidFill>
                  <a:schemeClr val="dk1"/>
                </a:solidFill>
              </a:rPr>
              <a:t>DNA is fragmented</a:t>
            </a:r>
            <a:r>
              <a:rPr lang="en">
                <a:solidFill>
                  <a:schemeClr val="dk1"/>
                </a:solidFill>
              </a:rPr>
              <a:t> into </a:t>
            </a:r>
            <a:r>
              <a:rPr lang="en" b="1">
                <a:solidFill>
                  <a:schemeClr val="dk1"/>
                </a:solidFill>
              </a:rPr>
              <a:t>short reads</a:t>
            </a:r>
            <a:r>
              <a:rPr lang="en">
                <a:solidFill>
                  <a:schemeClr val="dk1"/>
                </a:solidFill>
              </a:rPr>
              <a:t>.</a:t>
            </a:r>
            <a:endParaRPr>
              <a:solidFill>
                <a:schemeClr val="dk1"/>
              </a:solidFill>
            </a:endParaRPr>
          </a:p>
          <a:p>
            <a:pPr marL="0" lvl="0" indent="0" algn="l" rtl="0">
              <a:spcBef>
                <a:spcPts val="0"/>
              </a:spcBef>
              <a:spcAft>
                <a:spcPts val="0"/>
              </a:spcAft>
              <a:buNone/>
            </a:pPr>
            <a:r>
              <a:rPr lang="en">
                <a:solidFill>
                  <a:schemeClr val="dk1"/>
                </a:solidFill>
              </a:rPr>
              <a:t>This is similar to </a:t>
            </a:r>
            <a:r>
              <a:rPr lang="en" b="1">
                <a:solidFill>
                  <a:schemeClr val="dk1"/>
                </a:solidFill>
              </a:rPr>
              <a:t>de novo genome assembly</a:t>
            </a:r>
            <a:r>
              <a:rPr lang="en">
                <a:solidFill>
                  <a:schemeClr val="dk1"/>
                </a:solidFill>
              </a:rPr>
              <a:t>, where you try to piece together </a:t>
            </a:r>
            <a:r>
              <a:rPr lang="en" b="1">
                <a:solidFill>
                  <a:schemeClr val="dk1"/>
                </a:solidFill>
              </a:rPr>
              <a:t>short reads</a:t>
            </a:r>
            <a:r>
              <a:rPr lang="en">
                <a:solidFill>
                  <a:schemeClr val="dk1"/>
                </a:solidFill>
              </a:rPr>
              <a:t> into longer </a:t>
            </a:r>
            <a:r>
              <a:rPr lang="en" b="1">
                <a:solidFill>
                  <a:schemeClr val="dk1"/>
                </a:solidFill>
              </a:rPr>
              <a:t>contiguous sequences</a:t>
            </a:r>
            <a:r>
              <a:rPr lang="en">
                <a:solidFill>
                  <a:schemeClr val="dk1"/>
                </a:solidFill>
              </a:rPr>
              <a:t> (or contigs), ultimately reconstructing the original genome.</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09528d3720_4_1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09528d3720_4_1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If some sections of the books contain </a:t>
            </a:r>
            <a:r>
              <a:rPr lang="en" sz="1200" b="1">
                <a:solidFill>
                  <a:schemeClr val="dk1"/>
                </a:solidFill>
              </a:rPr>
              <a:t>repeated sentences, phrases or paragraphs,</a:t>
            </a:r>
            <a:r>
              <a:rPr lang="en" sz="1200">
                <a:solidFill>
                  <a:schemeClr val="dk1"/>
                </a:solidFill>
              </a:rPr>
              <a:t> it becomes more challenging to determine where each fragment fits.</a:t>
            </a:r>
            <a:endParaRPr sz="1200">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Similarly, in genome assembly, </a:t>
            </a:r>
            <a:r>
              <a:rPr lang="en" b="1">
                <a:solidFill>
                  <a:schemeClr val="dk1"/>
                </a:solidFill>
              </a:rPr>
              <a:t>repetitive sequences</a:t>
            </a:r>
            <a:r>
              <a:rPr lang="en">
                <a:solidFill>
                  <a:schemeClr val="dk1"/>
                </a:solidFill>
              </a:rPr>
              <a:t> create </a:t>
            </a:r>
            <a:r>
              <a:rPr lang="en" b="1">
                <a:solidFill>
                  <a:schemeClr val="dk1"/>
                </a:solidFill>
              </a:rPr>
              <a:t>ambiguities</a:t>
            </a:r>
            <a:r>
              <a:rPr lang="en">
                <a:solidFill>
                  <a:schemeClr val="dk1"/>
                </a:solidFill>
              </a:rPr>
              <a:t> in the assembly process where </a:t>
            </a:r>
            <a:r>
              <a:rPr lang="en" b="1">
                <a:solidFill>
                  <a:schemeClr val="dk1"/>
                </a:solidFill>
              </a:rPr>
              <a:t>multiple reads</a:t>
            </a:r>
            <a:r>
              <a:rPr lang="en">
                <a:solidFill>
                  <a:schemeClr val="dk1"/>
                </a:solidFill>
              </a:rPr>
              <a:t> can map to </a:t>
            </a:r>
            <a:r>
              <a:rPr lang="en" b="1">
                <a:solidFill>
                  <a:schemeClr val="dk1"/>
                </a:solidFill>
              </a:rPr>
              <a:t>different occurrences of the repetitive sequence</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09528d3720_4_1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309528d3720_4_1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Some fragments may also be </a:t>
            </a:r>
            <a:r>
              <a:rPr lang="en" sz="1200" b="1">
                <a:solidFill>
                  <a:schemeClr val="dk1"/>
                </a:solidFill>
              </a:rPr>
              <a:t>damaged</a:t>
            </a:r>
            <a:r>
              <a:rPr lang="en" sz="1200">
                <a:solidFill>
                  <a:schemeClr val="dk1"/>
                </a:solidFill>
              </a:rPr>
              <a:t> or contain </a:t>
            </a:r>
            <a:r>
              <a:rPr lang="en" sz="1200" b="1">
                <a:solidFill>
                  <a:schemeClr val="dk1"/>
                </a:solidFill>
              </a:rPr>
              <a:t>misprints</a:t>
            </a:r>
            <a:r>
              <a:rPr lang="en" sz="1200">
                <a:solidFill>
                  <a:schemeClr val="dk1"/>
                </a:solidFill>
              </a:rPr>
              <a:t>, making it difficult to know </a:t>
            </a:r>
            <a:r>
              <a:rPr lang="en" sz="1200" b="1">
                <a:solidFill>
                  <a:schemeClr val="dk1"/>
                </a:solidFill>
              </a:rPr>
              <a:t>IF</a:t>
            </a:r>
            <a:r>
              <a:rPr lang="en" sz="1200">
                <a:solidFill>
                  <a:schemeClr val="dk1"/>
                </a:solidFill>
              </a:rPr>
              <a:t> the original text was like this </a:t>
            </a:r>
            <a:r>
              <a:rPr lang="en" sz="1200" b="1">
                <a:solidFill>
                  <a:schemeClr val="dk1"/>
                </a:solidFill>
              </a:rPr>
              <a:t>OR</a:t>
            </a:r>
            <a:r>
              <a:rPr lang="en" sz="1200">
                <a:solidFill>
                  <a:schemeClr val="dk1"/>
                </a:solidFill>
              </a:rPr>
              <a:t> if an error occurred during the shredding process.</a:t>
            </a:r>
            <a:endParaRPr sz="1200">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Similarly, in genome sequencing, </a:t>
            </a:r>
            <a:r>
              <a:rPr lang="en" b="1">
                <a:solidFill>
                  <a:schemeClr val="dk1"/>
                </a:solidFill>
              </a:rPr>
              <a:t>sequencing errors</a:t>
            </a:r>
            <a:r>
              <a:rPr lang="en">
                <a:solidFill>
                  <a:schemeClr val="dk1"/>
                </a:solidFill>
              </a:rPr>
              <a:t> introduce </a:t>
            </a:r>
            <a:r>
              <a:rPr lang="en" b="1">
                <a:solidFill>
                  <a:schemeClr val="dk1"/>
                </a:solidFill>
              </a:rPr>
              <a:t>incorrect bases</a:t>
            </a:r>
            <a:r>
              <a:rPr lang="en">
                <a:solidFill>
                  <a:schemeClr val="dk1"/>
                </a:solidFill>
              </a:rPr>
              <a:t> that can lead to </a:t>
            </a:r>
            <a:r>
              <a:rPr lang="en" b="1">
                <a:solidFill>
                  <a:schemeClr val="dk1"/>
                </a:solidFill>
              </a:rPr>
              <a:t>mis-assemblies</a:t>
            </a:r>
            <a:r>
              <a:rPr lang="en">
                <a:solidFill>
                  <a:schemeClr val="dk1"/>
                </a:solidFill>
              </a:rPr>
              <a:t> if not properly corrected.</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09528d3720_4_1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309528d3720_4_1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And finally, it may be impossible to reconstruct certain rare copies or books, because you don't have enough fragments from them. </a:t>
            </a:r>
            <a:endParaRPr sz="1200">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solidFill>
                  <a:schemeClr val="dk1"/>
                </a:solidFill>
              </a:rPr>
              <a:t>In genome assembly, </a:t>
            </a:r>
            <a:r>
              <a:rPr lang="en" b="1">
                <a:solidFill>
                  <a:schemeClr val="dk1"/>
                </a:solidFill>
              </a:rPr>
              <a:t>coverage</a:t>
            </a:r>
            <a:r>
              <a:rPr lang="en">
                <a:solidFill>
                  <a:schemeClr val="dk1"/>
                </a:solidFill>
              </a:rPr>
              <a:t> refers to the </a:t>
            </a:r>
            <a:r>
              <a:rPr lang="en" b="1">
                <a:solidFill>
                  <a:schemeClr val="dk1"/>
                </a:solidFill>
              </a:rPr>
              <a:t>average number of times each base in the genome is sequenced</a:t>
            </a:r>
            <a:r>
              <a:rPr lang="en">
                <a:solidFill>
                  <a:schemeClr val="dk1"/>
                </a:solidFill>
              </a:rPr>
              <a:t>. </a:t>
            </a:r>
            <a:endParaRPr>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Low coverage</a:t>
            </a:r>
            <a:r>
              <a:rPr lang="en">
                <a:solidFill>
                  <a:schemeClr val="dk1"/>
                </a:solidFill>
              </a:rPr>
              <a:t> may result in </a:t>
            </a:r>
            <a:r>
              <a:rPr lang="en" b="1">
                <a:solidFill>
                  <a:schemeClr val="dk1"/>
                </a:solidFill>
              </a:rPr>
              <a:t>gaps </a:t>
            </a:r>
            <a:r>
              <a:rPr lang="en">
                <a:solidFill>
                  <a:schemeClr val="dk1"/>
                </a:solidFill>
              </a:rPr>
              <a:t>where certain regions are not well represented, or rare genomes completely missing from the assembly.</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09528d3720_4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309528d3720_4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a:t>From these short reads reconstruct this.</a:t>
            </a:r>
            <a:endParaRPr sz="1300"/>
          </a:p>
          <a:p>
            <a:pPr marL="0" lvl="0" indent="0" algn="l" rtl="0">
              <a:spcBef>
                <a:spcPts val="0"/>
              </a:spcBef>
              <a:spcAft>
                <a:spcPts val="0"/>
              </a:spcAft>
              <a:buNone/>
            </a:pPr>
            <a:r>
              <a:rPr lang="en" sz="1300"/>
              <a:t>Why is this example misleading?  </a:t>
            </a:r>
            <a:endParaRPr sz="13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30ae077bc5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30ae077bc5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Modern short-read assemblers don’t use overlap graphs but rather something called the de Bruijn graph. </a:t>
            </a:r>
            <a:br>
              <a:rPr lang="en" dirty="0">
                <a:solidFill>
                  <a:schemeClr val="dk1"/>
                </a:solidFill>
              </a:rPr>
            </a:br>
            <a:r>
              <a:rPr lang="en" dirty="0">
                <a:solidFill>
                  <a:schemeClr val="dk1"/>
                </a:solidFill>
              </a:rPr>
              <a:t>Where each read is broken into k-mers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k-mers are added to the graph as nodes if they are </a:t>
            </a:r>
            <a:r>
              <a:rPr lang="en" b="1" dirty="0">
                <a:solidFill>
                  <a:schemeClr val="dk1"/>
                </a:solidFill>
              </a:rPr>
              <a:t>unique</a:t>
            </a:r>
            <a:endParaRPr b="1"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Edges are drawn between adjacent k-mers based on </a:t>
            </a:r>
            <a:r>
              <a:rPr lang="en" b="1" dirty="0">
                <a:solidFill>
                  <a:schemeClr val="dk1"/>
                </a:solidFill>
              </a:rPr>
              <a:t>k-1 overlaps</a:t>
            </a:r>
          </a:p>
          <a:p>
            <a:pPr marL="0" lvl="0" indent="0" algn="l" rtl="0">
              <a:spcBef>
                <a:spcPts val="0"/>
              </a:spcBef>
              <a:spcAft>
                <a:spcPts val="0"/>
              </a:spcAft>
              <a:buClr>
                <a:schemeClr val="dk1"/>
              </a:buClr>
              <a:buSzPts val="1100"/>
              <a:buFont typeface="Arial"/>
              <a:buNone/>
            </a:pPr>
            <a:endParaRPr lang="en" b="1" dirty="0">
              <a:solidFill>
                <a:schemeClr val="dk1"/>
              </a:solidFill>
            </a:endParaRPr>
          </a:p>
          <a:p>
            <a:pPr marL="0" lvl="0" indent="0" algn="l" rtl="0">
              <a:spcBef>
                <a:spcPts val="0"/>
              </a:spcBef>
              <a:spcAft>
                <a:spcPts val="0"/>
              </a:spcAft>
              <a:buClr>
                <a:schemeClr val="dk1"/>
              </a:buClr>
              <a:buSzPts val="1100"/>
              <a:buFont typeface="Arial"/>
              <a:buNone/>
            </a:pPr>
            <a:endParaRPr lang="en" b="1"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Why this graph method works on short-reads is because it scales linearly instead of quadratically.</a:t>
            </a:r>
          </a:p>
          <a:p>
            <a:pPr marL="0" lvl="0" indent="0" algn="l" rtl="0">
              <a:spcBef>
                <a:spcPts val="0"/>
              </a:spcBef>
              <a:spcAft>
                <a:spcPts val="0"/>
              </a:spcAft>
              <a:buClr>
                <a:schemeClr val="dk1"/>
              </a:buClr>
              <a:buSzPts val="1100"/>
              <a:buFont typeface="Arial"/>
              <a:buNone/>
            </a:pPr>
            <a:r>
              <a:rPr lang="en-US" dirty="0">
                <a:solidFill>
                  <a:schemeClr val="dk1"/>
                </a:solidFill>
              </a:rPr>
              <a:t>If a k-</a:t>
            </a:r>
            <a:r>
              <a:rPr lang="en-US" dirty="0" err="1">
                <a:solidFill>
                  <a:schemeClr val="dk1"/>
                </a:solidFill>
              </a:rPr>
              <a:t>mer</a:t>
            </a:r>
            <a:r>
              <a:rPr lang="en-US" dirty="0">
                <a:solidFill>
                  <a:schemeClr val="dk1"/>
                </a:solidFill>
              </a:rPr>
              <a:t> appears </a:t>
            </a:r>
            <a:r>
              <a:rPr lang="en-US" b="1" dirty="0">
                <a:solidFill>
                  <a:schemeClr val="dk1"/>
                </a:solidFill>
              </a:rPr>
              <a:t>multiple times across different reads</a:t>
            </a:r>
            <a:r>
              <a:rPr lang="en-US" dirty="0">
                <a:solidFill>
                  <a:schemeClr val="dk1"/>
                </a:solidFill>
              </a:rPr>
              <a:t>, it is </a:t>
            </a:r>
            <a:r>
              <a:rPr lang="en-US" b="1" dirty="0">
                <a:solidFill>
                  <a:schemeClr val="dk1"/>
                </a:solidFill>
              </a:rPr>
              <a:t>stored in the graph as a single node</a:t>
            </a:r>
            <a:r>
              <a:rPr lang="en-US" dirty="0">
                <a:solidFill>
                  <a:schemeClr val="dk1"/>
                </a:solidFill>
              </a:rPr>
              <a:t>. </a:t>
            </a:r>
          </a:p>
          <a:p>
            <a:pPr marL="0" lvl="0" indent="0" algn="l" rtl="0">
              <a:spcBef>
                <a:spcPts val="0"/>
              </a:spcBef>
              <a:spcAft>
                <a:spcPts val="0"/>
              </a:spcAft>
              <a:buClr>
                <a:schemeClr val="dk1"/>
              </a:buClr>
              <a:buSzPts val="1100"/>
              <a:buFont typeface="Arial"/>
              <a:buNone/>
            </a:pPr>
            <a:r>
              <a:rPr lang="en-US" b="1" dirty="0">
                <a:solidFill>
                  <a:schemeClr val="dk1"/>
                </a:solidFill>
              </a:rPr>
              <a:t>You do not need to compare each instance of a k-</a:t>
            </a:r>
            <a:r>
              <a:rPr lang="en-US" b="1" dirty="0" err="1">
                <a:solidFill>
                  <a:schemeClr val="dk1"/>
                </a:solidFill>
              </a:rPr>
              <a:t>mer</a:t>
            </a:r>
            <a:r>
              <a:rPr lang="en-US" b="1" dirty="0">
                <a:solidFill>
                  <a:schemeClr val="dk1"/>
                </a:solidFill>
              </a:rPr>
              <a:t> with all others, as each k-</a:t>
            </a:r>
            <a:r>
              <a:rPr lang="en-US" b="1" dirty="0" err="1">
                <a:solidFill>
                  <a:schemeClr val="dk1"/>
                </a:solidFill>
              </a:rPr>
              <a:t>mer</a:t>
            </a:r>
            <a:r>
              <a:rPr lang="en-US" b="1" dirty="0">
                <a:solidFill>
                  <a:schemeClr val="dk1"/>
                </a:solidFill>
              </a:rPr>
              <a:t> is only added to the graph once.</a:t>
            </a:r>
          </a:p>
          <a:p>
            <a:pPr marL="0" lvl="0" indent="0" algn="l" rtl="0">
              <a:spcBef>
                <a:spcPts val="0"/>
              </a:spcBef>
              <a:spcAft>
                <a:spcPts val="0"/>
              </a:spcAft>
              <a:buClr>
                <a:schemeClr val="dk1"/>
              </a:buClr>
              <a:buSzPts val="1100"/>
              <a:buFont typeface="Arial"/>
              <a:buNone/>
            </a:pPr>
            <a:r>
              <a:rPr lang="en-US" dirty="0">
                <a:solidFill>
                  <a:schemeClr val="dk1"/>
                </a:solidFill>
              </a:rPr>
              <a:t>When an </a:t>
            </a:r>
            <a:r>
              <a:rPr lang="en-US" b="1" dirty="0">
                <a:solidFill>
                  <a:schemeClr val="dk1"/>
                </a:solidFill>
              </a:rPr>
              <a:t>identical k-</a:t>
            </a:r>
            <a:r>
              <a:rPr lang="en-US" b="1" dirty="0" err="1">
                <a:solidFill>
                  <a:schemeClr val="dk1"/>
                </a:solidFill>
              </a:rPr>
              <a:t>mer</a:t>
            </a:r>
            <a:r>
              <a:rPr lang="en-US" dirty="0">
                <a:solidFill>
                  <a:schemeClr val="dk1"/>
                </a:solidFill>
              </a:rPr>
              <a:t> is encountered again, the graph </a:t>
            </a:r>
            <a:r>
              <a:rPr lang="en-US" b="1" dirty="0">
                <a:solidFill>
                  <a:schemeClr val="dk1"/>
                </a:solidFill>
              </a:rPr>
              <a:t>simply reinforces the existing node</a:t>
            </a:r>
            <a:r>
              <a:rPr lang="en-US" dirty="0">
                <a:solidFill>
                  <a:schemeClr val="dk1"/>
                </a:solidFill>
              </a:rPr>
              <a:t> or </a:t>
            </a:r>
            <a:r>
              <a:rPr lang="en-US" b="1" dirty="0">
                <a:solidFill>
                  <a:schemeClr val="dk1"/>
                </a:solidFill>
              </a:rPr>
              <a:t>updates the edge information</a:t>
            </a:r>
            <a:r>
              <a:rPr lang="en-US" dirty="0">
                <a:solidFill>
                  <a:schemeClr val="dk1"/>
                </a:solidFill>
              </a:rPr>
              <a:t> (e.g. by increasing the edge weight), rather than creating new comparisons.</a:t>
            </a:r>
          </a:p>
          <a:p>
            <a:pPr marL="0" lvl="0" indent="0" algn="l" rtl="0">
              <a:spcBef>
                <a:spcPts val="0"/>
              </a:spcBef>
              <a:spcAft>
                <a:spcPts val="0"/>
              </a:spcAft>
              <a:buNone/>
            </a:pPr>
            <a:r>
              <a:rPr lang="en-US" dirty="0">
                <a:solidFill>
                  <a:schemeClr val="dk1"/>
                </a:solidFill>
              </a:rPr>
              <a:t>This means that the </a:t>
            </a:r>
            <a:r>
              <a:rPr lang="en-US" b="1" dirty="0">
                <a:solidFill>
                  <a:schemeClr val="dk1"/>
                </a:solidFill>
              </a:rPr>
              <a:t>number of operations</a:t>
            </a:r>
            <a:r>
              <a:rPr lang="en-US" dirty="0">
                <a:solidFill>
                  <a:schemeClr val="dk1"/>
                </a:solidFill>
              </a:rPr>
              <a:t> performed remains proportional to the </a:t>
            </a:r>
            <a:r>
              <a:rPr lang="en-US" b="1" dirty="0">
                <a:solidFill>
                  <a:schemeClr val="dk1"/>
                </a:solidFill>
              </a:rPr>
              <a:t>number of k-</a:t>
            </a:r>
            <a:r>
              <a:rPr lang="en-US" b="1" dirty="0" err="1">
                <a:solidFill>
                  <a:schemeClr val="dk1"/>
                </a:solidFill>
              </a:rPr>
              <a:t>mers</a:t>
            </a:r>
            <a:r>
              <a:rPr lang="en-US" b="1" dirty="0">
                <a:solidFill>
                  <a:schemeClr val="dk1"/>
                </a:solidFill>
              </a:rPr>
              <a:t> in the input</a:t>
            </a:r>
            <a:r>
              <a:rPr lang="en-US" dirty="0">
                <a:solidFill>
                  <a:schemeClr val="dk1"/>
                </a:solidFill>
              </a:rPr>
              <a:t>, not the number of </a:t>
            </a:r>
            <a:r>
              <a:rPr lang="en-US" b="1" dirty="0">
                <a:solidFill>
                  <a:schemeClr val="dk1"/>
                </a:solidFill>
              </a:rPr>
              <a:t>unique comparisons</a:t>
            </a:r>
            <a:r>
              <a:rPr lang="en-US" dirty="0">
                <a:solidFill>
                  <a:schemeClr val="dk1"/>
                </a:solidFill>
              </a:rPr>
              <a:t>. </a:t>
            </a:r>
          </a:p>
          <a:p>
            <a:pPr marL="0" lvl="0" indent="0" algn="l" rtl="0">
              <a:spcBef>
                <a:spcPts val="0"/>
              </a:spcBef>
              <a:spcAft>
                <a:spcPts val="0"/>
              </a:spcAft>
              <a:buClr>
                <a:schemeClr val="dk1"/>
              </a:buClr>
              <a:buSzPts val="1100"/>
              <a:buFont typeface="Arial"/>
              <a:buNone/>
            </a:pPr>
            <a:r>
              <a:rPr lang="en-US" dirty="0">
                <a:solidFill>
                  <a:schemeClr val="dk1"/>
                </a:solidFill>
              </a:rPr>
              <a:t>This means that the </a:t>
            </a:r>
            <a:r>
              <a:rPr lang="en-US" b="1" dirty="0">
                <a:solidFill>
                  <a:schemeClr val="dk1"/>
                </a:solidFill>
              </a:rPr>
              <a:t>de </a:t>
            </a:r>
            <a:r>
              <a:rPr lang="en-US" b="1" dirty="0" err="1">
                <a:solidFill>
                  <a:schemeClr val="dk1"/>
                </a:solidFill>
              </a:rPr>
              <a:t>Bruij</a:t>
            </a:r>
            <a:r>
              <a:rPr lang="en-US" b="1" dirty="0">
                <a:solidFill>
                  <a:schemeClr val="dk1"/>
                </a:solidFill>
              </a:rPr>
              <a:t> graph scales linearly instead of quadratically as the overlap graph does. </a:t>
            </a:r>
          </a:p>
          <a:p>
            <a:pPr marL="0" lvl="0" indent="0" algn="l" rtl="0">
              <a:spcBef>
                <a:spcPts val="0"/>
              </a:spcBef>
              <a:spcAft>
                <a:spcPts val="0"/>
              </a:spcAft>
              <a:buNone/>
            </a:pPr>
            <a:endParaRPr lang="en-US" dirty="0">
              <a:solidFill>
                <a:schemeClr val="dk1"/>
              </a:solidFill>
            </a:endParaRPr>
          </a:p>
          <a:p>
            <a:pPr marL="0" lvl="0" indent="0" algn="l" rtl="0">
              <a:spcBef>
                <a:spcPts val="0"/>
              </a:spcBef>
              <a:spcAft>
                <a:spcPts val="0"/>
              </a:spcAft>
              <a:buNone/>
            </a:pPr>
            <a:endParaRPr lang="en-US" dirty="0"/>
          </a:p>
          <a:p>
            <a:pPr marL="0" lvl="0" indent="0" algn="l" rtl="0">
              <a:spcBef>
                <a:spcPts val="0"/>
              </a:spcBef>
              <a:spcAft>
                <a:spcPts val="0"/>
              </a:spcAft>
              <a:buClr>
                <a:schemeClr val="dk1"/>
              </a:buClr>
              <a:buSzPts val="1100"/>
              <a:buFont typeface="Arial"/>
              <a:buNone/>
            </a:pPr>
            <a:endParaRPr b="1" dirty="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309528d3720_4_16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309528d3720_4_16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 as it turns out, the long read (</a:t>
            </a:r>
            <a:r>
              <a:rPr lang="en" b="1" dirty="0"/>
              <a:t>OR</a:t>
            </a:r>
            <a:r>
              <a:rPr lang="en" dirty="0"/>
              <a:t> combined with short-read sequencing - so hybrid sequencing) will introduce a paradigm shift in assembly, where it will actually be possible to go back to the overlap graph which was not feasible on short-reads</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309528d3720_4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309528d3720_4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a:t>We can look at the coverage for each base. The more reads we have covering a specific base tells us something about how certain we can be that this base in the sequence we are trying to assemble is indeed an “A”. This is called depth of coverage. </a:t>
            </a:r>
            <a:endParaRPr sz="1300"/>
          </a:p>
          <a:p>
            <a:pPr marL="0" lvl="0" indent="0" algn="l" rtl="0">
              <a:spcBef>
                <a:spcPts val="0"/>
              </a:spcBef>
              <a:spcAft>
                <a:spcPts val="0"/>
              </a:spcAft>
              <a:buNone/>
            </a:pPr>
            <a:endParaRPr sz="1300"/>
          </a:p>
          <a:p>
            <a:pPr marL="0" lvl="0" indent="0" algn="l" rtl="0">
              <a:spcBef>
                <a:spcPts val="0"/>
              </a:spcBef>
              <a:spcAft>
                <a:spcPts val="0"/>
              </a:spcAft>
              <a:buNone/>
            </a:pPr>
            <a:r>
              <a:rPr lang="en" sz="1300"/>
              <a:t>We can also compute the average depth of coverage which gives us the </a:t>
            </a:r>
            <a:r>
              <a:rPr lang="en" sz="1300" b="1">
                <a:solidFill>
                  <a:schemeClr val="dk1"/>
                </a:solidFill>
              </a:rPr>
              <a:t>average number of times each base in the genome is sequenced</a:t>
            </a:r>
            <a:r>
              <a:rPr lang="en" sz="1300"/>
              <a:t>, and is computed by taking the </a:t>
            </a:r>
            <a:r>
              <a:rPr lang="en" sz="1300" b="1">
                <a:solidFill>
                  <a:schemeClr val="dk1"/>
                </a:solidFill>
              </a:rPr>
              <a:t>total number of bases sequenced</a:t>
            </a:r>
            <a:r>
              <a:rPr lang="en" sz="1300">
                <a:solidFill>
                  <a:schemeClr val="dk1"/>
                </a:solidFill>
              </a:rPr>
              <a:t> divided by the </a:t>
            </a:r>
            <a:r>
              <a:rPr lang="en" sz="1300" b="1">
                <a:solidFill>
                  <a:schemeClr val="dk1"/>
                </a:solidFill>
              </a:rPr>
              <a:t>total genome length</a:t>
            </a:r>
            <a:r>
              <a:rPr lang="en" sz="1300">
                <a:solidFill>
                  <a:schemeClr val="dk1"/>
                </a:solidFill>
              </a:rPr>
              <a:t>.</a:t>
            </a:r>
            <a:endParaRPr sz="13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309528d3720_4_16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309528d3720_4_16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figure shows the problem with short-reads where the read length is often shorter than the repeat lengths, which we have learned makes the assembly process difficult by introducing forking and/or circular paths in the overlap graph. </a:t>
            </a:r>
            <a:endParaRPr/>
          </a:p>
          <a:p>
            <a:pPr marL="0" lvl="0" indent="0" algn="l" rtl="0">
              <a:spcBef>
                <a:spcPts val="0"/>
              </a:spcBef>
              <a:spcAft>
                <a:spcPts val="0"/>
              </a:spcAft>
              <a:buNone/>
            </a:pPr>
            <a:r>
              <a:rPr lang="en"/>
              <a:t>The best solution to overcome the difficulty of repeats, is to use long reads where the read length is longer than the typical length of repeats.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a:extLst>
            <a:ext uri="{FF2B5EF4-FFF2-40B4-BE49-F238E27FC236}">
              <a16:creationId xmlns:a16="http://schemas.microsoft.com/office/drawing/2014/main" id="{0E4E1D98-45EB-B8B2-BF10-490399A24C1A}"/>
            </a:ext>
          </a:extLst>
        </p:cNvPr>
        <p:cNvGrpSpPr/>
        <p:nvPr/>
      </p:nvGrpSpPr>
      <p:grpSpPr>
        <a:xfrm>
          <a:off x="0" y="0"/>
          <a:ext cx="0" cy="0"/>
          <a:chOff x="0" y="0"/>
          <a:chExt cx="0" cy="0"/>
        </a:xfrm>
      </p:grpSpPr>
      <p:sp>
        <p:nvSpPr>
          <p:cNvPr id="1138" name="Google Shape;1138;g309528d3720_4_1617:notes">
            <a:extLst>
              <a:ext uri="{FF2B5EF4-FFF2-40B4-BE49-F238E27FC236}">
                <a16:creationId xmlns:a16="http://schemas.microsoft.com/office/drawing/2014/main" id="{27CA741C-6A17-4D51-C3F2-4D5286703F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309528d3720_4_1617:notes">
            <a:extLst>
              <a:ext uri="{FF2B5EF4-FFF2-40B4-BE49-F238E27FC236}">
                <a16:creationId xmlns:a16="http://schemas.microsoft.com/office/drawing/2014/main" id="{06FB0FC3-5152-D02E-D404-0CBF320CD9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 in practice this means that in metagenomes the most abundant microbial taxa may have a near-complete genome, though with short reads, these do not form one long genome sequence stretch, but a bins of contigs. There are also many stretches of DNA/contigs that are small, which often derive from rare taxa with low coverage.</a:t>
            </a:r>
            <a:endParaRPr dirty="0"/>
          </a:p>
        </p:txBody>
      </p:sp>
    </p:spTree>
    <p:extLst>
      <p:ext uri="{BB962C8B-B14F-4D97-AF65-F5344CB8AC3E}">
        <p14:creationId xmlns:p14="http://schemas.microsoft.com/office/powerpoint/2010/main" val="3767174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5"/>
        <p:cNvGrpSpPr/>
        <p:nvPr/>
      </p:nvGrpSpPr>
      <p:grpSpPr>
        <a:xfrm>
          <a:off x="0" y="0"/>
          <a:ext cx="0" cy="0"/>
          <a:chOff x="0" y="0"/>
          <a:chExt cx="0" cy="0"/>
        </a:xfrm>
      </p:grpSpPr>
      <p:sp>
        <p:nvSpPr>
          <p:cNvPr id="1966" name="Google Shape;1966;g3094e50031b_0_17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7" name="Google Shape;1967;g3094e50031b_0_17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tools can be used for binning. Here you can see the same figure from earlier in which tools can use the abundance profiles of contigs – meaning the number of metagenomic reads that map contigs, and the tetranucleotide frequency of contigs to group/bin contigs together based on these similarities.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MANY binning tools, estimated more than 30 tools and counting. So sometimes tools require aggregating multiple binning tool results to get the best result. What each of these binning tools does differently should be checked in the tools’ vignette.</a:t>
            </a: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5">
          <a:extLst>
            <a:ext uri="{FF2B5EF4-FFF2-40B4-BE49-F238E27FC236}">
              <a16:creationId xmlns:a16="http://schemas.microsoft.com/office/drawing/2014/main" id="{9D721500-6AD8-F323-EC4E-7822A6E0EE51}"/>
            </a:ext>
          </a:extLst>
        </p:cNvPr>
        <p:cNvGrpSpPr/>
        <p:nvPr/>
      </p:nvGrpSpPr>
      <p:grpSpPr>
        <a:xfrm>
          <a:off x="0" y="0"/>
          <a:ext cx="0" cy="0"/>
          <a:chOff x="0" y="0"/>
          <a:chExt cx="0" cy="0"/>
        </a:xfrm>
      </p:grpSpPr>
      <p:sp>
        <p:nvSpPr>
          <p:cNvPr id="1966" name="Google Shape;1966;g3094e50031b_0_1707:notes">
            <a:extLst>
              <a:ext uri="{FF2B5EF4-FFF2-40B4-BE49-F238E27FC236}">
                <a16:creationId xmlns:a16="http://schemas.microsoft.com/office/drawing/2014/main" id="{F5E89766-B6C7-72B3-6CE9-F2E5043276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7" name="Google Shape;1967;g3094e50031b_0_1707:notes">
            <a:extLst>
              <a:ext uri="{FF2B5EF4-FFF2-40B4-BE49-F238E27FC236}">
                <a16:creationId xmlns:a16="http://schemas.microsoft.com/office/drawing/2014/main" id="{FE2F0F61-046F-88B3-F52E-42A71AA0FF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tools can be used for binning. Here you can see the same figure from earlier in which tools can use the abundance profiles of contigs – meaning the number of metagenomic reads that map contigs, and the tetranucleotide frequency of contigs to group/bin contigs together based on these similarities.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MANY binning tools, estimated more than 30 tools and counting. So sometimes tools require aggregating multiple binning tool results to get the best result. What each of these binning tools does differently should be checked in the tools’ vignette.</a:t>
            </a:r>
            <a:endParaRPr dirty="0"/>
          </a:p>
        </p:txBody>
      </p:sp>
    </p:spTree>
    <p:extLst>
      <p:ext uri="{BB962C8B-B14F-4D97-AF65-F5344CB8AC3E}">
        <p14:creationId xmlns:p14="http://schemas.microsoft.com/office/powerpoint/2010/main" val="25789664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6"/>
        <p:cNvGrpSpPr/>
        <p:nvPr/>
      </p:nvGrpSpPr>
      <p:grpSpPr>
        <a:xfrm>
          <a:off x="0" y="0"/>
          <a:ext cx="0" cy="0"/>
          <a:chOff x="0" y="0"/>
          <a:chExt cx="0" cy="0"/>
        </a:xfrm>
      </p:grpSpPr>
      <p:sp>
        <p:nvSpPr>
          <p:cNvPr id="1977" name="Google Shape;1977;g30a6f5b5cd1_3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8" name="Google Shape;1978;g30a6f5b5cd1_3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There are even automatic pipelines that use the metagenomic reads as input and use all the steps – checking read quality, assembling reads into contigs, binning contigs, and using genome assembly quality checks, all at one go. </a:t>
            </a: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3"/>
        <p:cNvGrpSpPr/>
        <p:nvPr/>
      </p:nvGrpSpPr>
      <p:grpSpPr>
        <a:xfrm>
          <a:off x="0" y="0"/>
          <a:ext cx="0" cy="0"/>
          <a:chOff x="0" y="0"/>
          <a:chExt cx="0" cy="0"/>
        </a:xfrm>
      </p:grpSpPr>
      <p:sp>
        <p:nvSpPr>
          <p:cNvPr id="1994" name="Google Shape;1994;g3094e50031b_0_9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5" name="Google Shape;1995;g3094e50031b_0_9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You can imagine that results from these automated pipelines are easy and fast, especially when doing all these steps yourself. Trying multiple binning algorithms yourself to find the best one leads to high sensitivity and will learn you a lot, but it also takes a lot of time. Instead, by using tools that aggregate individual binning tools, like DAS Tools, still a good sensitivity can be acquired. Especially when combining this with refining tools to create clean genome assemblies. </a:t>
            </a:r>
            <a:endParaRPr dirty="0"/>
          </a:p>
        </p:txBody>
      </p:sp>
      <p:sp>
        <p:nvSpPr>
          <p:cNvPr id="1996" name="Google Shape;1996;g3094e50031b_0_9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Of course, if you have to try multiple binning tools to find the best result, e.g. if you acquire low contiguity and completeness. It might be because of the data quality so be sure to check your data quality, and if you can’t acquire a better result, you’ll have to do with what is being given to you. </a:t>
            </a:r>
          </a:p>
          <a:p>
            <a:endParaRPr lang="en-US" dirty="0"/>
          </a:p>
          <a:p>
            <a:r>
              <a:rPr lang="en-US" dirty="0"/>
              <a:t>So how do you know whether your bins are of good quality? We often check multiple ‘C’s, contiguity-number of breaks in the assembly, completeness- number of present marker sequences, and correctness. Though I also like to add another C, namely ‘Contamination’.</a:t>
            </a:r>
          </a:p>
          <a:p>
            <a:endParaRPr lang="en-US" dirty="0"/>
          </a:p>
        </p:txBody>
      </p:sp>
      <p:sp>
        <p:nvSpPr>
          <p:cNvPr id="4" name="Slide Number Placeholder 3"/>
          <p:cNvSpPr>
            <a:spLocks noGrp="1"/>
          </p:cNvSpPr>
          <p:nvPr>
            <p:ph type="sldNum" sz="quarter" idx="5"/>
          </p:nvPr>
        </p:nvSpPr>
        <p:spPr/>
        <p:txBody>
          <a:bodyPr/>
          <a:lstStyle/>
          <a:p>
            <a:fld id="{F72FF1F9-563C-447A-B5FF-C6826F7DA5F7}" type="slidenum">
              <a:rPr lang="nl-NL" smtClean="0"/>
              <a:t>32</a:t>
            </a:fld>
            <a:endParaRPr lang="nl-NL"/>
          </a:p>
        </p:txBody>
      </p:sp>
    </p:spTree>
    <p:extLst>
      <p:ext uri="{BB962C8B-B14F-4D97-AF65-F5344CB8AC3E}">
        <p14:creationId xmlns:p14="http://schemas.microsoft.com/office/powerpoint/2010/main" val="6839557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There are more tools, but the most used one is </a:t>
            </a:r>
            <a:r>
              <a:rPr lang="en-US" dirty="0" err="1"/>
              <a:t>checkm</a:t>
            </a:r>
            <a:r>
              <a:rPr lang="en-US" dirty="0"/>
              <a:t>, which first infers taxonomy of your assembly and then checks whether all the single-copy marker sequences of that taxon in the database are present in your assembly. If some single copy marker sequences occur multiple times, there can be either heterogeneity or contamination. The difference between these two depends on the sequence similarity, in which two highly similar copies of a marker gene are heterogenous genes (meaning contamination of phylogenetically close strains) and if there is more dissimilarity, we will be talking about contamination.</a:t>
            </a:r>
            <a:endParaRPr lang="en-NL" dirty="0"/>
          </a:p>
        </p:txBody>
      </p:sp>
      <p:sp>
        <p:nvSpPr>
          <p:cNvPr id="4" name="Slide Number Placeholder 3"/>
          <p:cNvSpPr>
            <a:spLocks noGrp="1"/>
          </p:cNvSpPr>
          <p:nvPr>
            <p:ph type="sldNum" sz="quarter" idx="5"/>
          </p:nvPr>
        </p:nvSpPr>
        <p:spPr/>
        <p:txBody>
          <a:bodyPr/>
          <a:lstStyle/>
          <a:p>
            <a:fld id="{F72FF1F9-563C-447A-B5FF-C6826F7DA5F7}" type="slidenum">
              <a:rPr lang="nl-NL" smtClean="0"/>
              <a:t>33</a:t>
            </a:fld>
            <a:endParaRPr lang="nl-NL"/>
          </a:p>
        </p:txBody>
      </p:sp>
    </p:spTree>
    <p:extLst>
      <p:ext uri="{BB962C8B-B14F-4D97-AF65-F5344CB8AC3E}">
        <p14:creationId xmlns:p14="http://schemas.microsoft.com/office/powerpoint/2010/main" val="2715432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4538"/>
            <a:ext cx="6619875" cy="3724275"/>
          </a:xfrm>
        </p:spPr>
      </p:sp>
      <p:sp>
        <p:nvSpPr>
          <p:cNvPr id="3" name="Notes Placeholder 2"/>
          <p:cNvSpPr>
            <a:spLocks noGrp="1"/>
          </p:cNvSpPr>
          <p:nvPr>
            <p:ph type="body" idx="1"/>
          </p:nvPr>
        </p:nvSpPr>
        <p:spPr/>
        <p:txBody>
          <a:bodyPr/>
          <a:lstStyle/>
          <a:p>
            <a:r>
              <a:rPr lang="en-US" b="0" dirty="0"/>
              <a:t>You can see in MAGs, that there is varying quality, with rare taxa often having low completeness and abundant taxa high completeness due to high coverage. With high contamination, the quality also goes down.</a:t>
            </a:r>
          </a:p>
        </p:txBody>
      </p:sp>
      <p:sp>
        <p:nvSpPr>
          <p:cNvPr id="4" name="Slide Number Placeholder 3"/>
          <p:cNvSpPr>
            <a:spLocks noGrp="1"/>
          </p:cNvSpPr>
          <p:nvPr>
            <p:ph type="sldNum" sz="quarter" idx="10"/>
          </p:nvPr>
        </p:nvSpPr>
        <p:spPr/>
        <p:txBody>
          <a:bodyPr/>
          <a:lstStyle/>
          <a:p>
            <a:fld id="{63EE8320-6CF6-0F4A-A224-F7EBA3D9A05B}" type="slidenum">
              <a:rPr lang="en-US"/>
              <a:t>34</a:t>
            </a:fld>
            <a:endParaRPr lang="en-US"/>
          </a:p>
        </p:txBody>
      </p:sp>
    </p:spTree>
    <p:extLst>
      <p:ext uri="{BB962C8B-B14F-4D97-AF65-F5344CB8AC3E}">
        <p14:creationId xmlns:p14="http://schemas.microsoft.com/office/powerpoint/2010/main" val="1134808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Fow low continuity and completeness, you could try different binning tools or combining binning tools to get better results. When there is contamination, however, different tools should be used. </a:t>
            </a:r>
          </a:p>
          <a:p>
            <a:endParaRPr lang="en-US" dirty="0"/>
          </a:p>
          <a:p>
            <a:r>
              <a:rPr lang="en-US" dirty="0"/>
              <a:t>You’ll discover contamination due to </a:t>
            </a:r>
            <a:r>
              <a:rPr lang="en-US" dirty="0" err="1"/>
              <a:t>overcompletion</a:t>
            </a:r>
            <a:r>
              <a:rPr lang="en-US" dirty="0"/>
              <a:t> of the genome, e.g. from checkm2. </a:t>
            </a:r>
          </a:p>
          <a:p>
            <a:r>
              <a:rPr lang="en-US" dirty="0"/>
              <a:t>Also if you calculate the GC content of different contigs or you focus on reads and find that they are mainly of two different GC contents, these may originate from different bacterial genomes. </a:t>
            </a:r>
          </a:p>
          <a:p>
            <a:endParaRPr lang="en-US" dirty="0"/>
          </a:p>
          <a:p>
            <a:r>
              <a:rPr lang="en-US" dirty="0"/>
              <a:t>A similar thing can be found when cutting up the bacterial genome into oligo or tetranucleotide fragments. The abundance profile of these fragments may determine from what species the contig is from. Different profiles (bimodal distribution) may indicate contigs from different microbial species.</a:t>
            </a:r>
            <a:endParaRPr lang="nl-NL" dirty="0"/>
          </a:p>
        </p:txBody>
      </p:sp>
      <p:sp>
        <p:nvSpPr>
          <p:cNvPr id="4" name="Slide Number Placeholder 3"/>
          <p:cNvSpPr>
            <a:spLocks noGrp="1"/>
          </p:cNvSpPr>
          <p:nvPr>
            <p:ph type="sldNum" sz="quarter" idx="5"/>
          </p:nvPr>
        </p:nvSpPr>
        <p:spPr/>
        <p:txBody>
          <a:bodyPr/>
          <a:lstStyle/>
          <a:p>
            <a:fld id="{F72FF1F9-563C-447A-B5FF-C6826F7DA5F7}" type="slidenum">
              <a:rPr lang="nl-NL" smtClean="0"/>
              <a:t>35</a:t>
            </a:fld>
            <a:endParaRPr lang="nl-NL"/>
          </a:p>
        </p:txBody>
      </p:sp>
    </p:spTree>
    <p:extLst>
      <p:ext uri="{BB962C8B-B14F-4D97-AF65-F5344CB8AC3E}">
        <p14:creationId xmlns:p14="http://schemas.microsoft.com/office/powerpoint/2010/main" val="4532594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3CF60-4A0F-79B7-3B2B-61F504F62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41AC5-A5FA-B932-AF9B-C2D8612B6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E935A-DE58-6E08-1CC6-1444E3DC1077}"/>
              </a:ext>
            </a:extLst>
          </p:cNvPr>
          <p:cNvSpPr>
            <a:spLocks noGrp="1"/>
          </p:cNvSpPr>
          <p:nvPr>
            <p:ph type="body" idx="1"/>
          </p:nvPr>
        </p:nvSpPr>
        <p:spPr/>
        <p:txBody>
          <a:bodyPr/>
          <a:lstStyle/>
          <a:p>
            <a:r>
              <a:rPr lang="en-US" dirty="0"/>
              <a:t>Also if the taxonomic assignment of a contig is completely different from the rest of the contigs, like a human contig amidst bacterial contigs, it is also a contamination. </a:t>
            </a:r>
          </a:p>
          <a:p>
            <a:endParaRPr lang="en-US" dirty="0"/>
          </a:p>
          <a:p>
            <a:r>
              <a:rPr lang="en-US" dirty="0"/>
              <a:t>Fortunately there are tools that use homology-based algorithms and k-</a:t>
            </a:r>
            <a:r>
              <a:rPr lang="en-US" dirty="0" err="1"/>
              <a:t>mer</a:t>
            </a:r>
            <a:r>
              <a:rPr lang="en-US" dirty="0"/>
              <a:t> based algorithms to decontaminate genomes.</a:t>
            </a:r>
            <a:endParaRPr lang="nl-NL" dirty="0"/>
          </a:p>
        </p:txBody>
      </p:sp>
      <p:sp>
        <p:nvSpPr>
          <p:cNvPr id="4" name="Slide Number Placeholder 3">
            <a:extLst>
              <a:ext uri="{FF2B5EF4-FFF2-40B4-BE49-F238E27FC236}">
                <a16:creationId xmlns:a16="http://schemas.microsoft.com/office/drawing/2014/main" id="{9889F7A6-1FDB-B7A2-7DC4-D651DB7B05AD}"/>
              </a:ext>
            </a:extLst>
          </p:cNvPr>
          <p:cNvSpPr>
            <a:spLocks noGrp="1"/>
          </p:cNvSpPr>
          <p:nvPr>
            <p:ph type="sldNum" sz="quarter" idx="5"/>
          </p:nvPr>
        </p:nvSpPr>
        <p:spPr/>
        <p:txBody>
          <a:bodyPr/>
          <a:lstStyle/>
          <a:p>
            <a:fld id="{F72FF1F9-563C-447A-B5FF-C6826F7DA5F7}" type="slidenum">
              <a:rPr lang="nl-NL" smtClean="0"/>
              <a:t>36</a:t>
            </a:fld>
            <a:endParaRPr lang="nl-NL"/>
          </a:p>
        </p:txBody>
      </p:sp>
    </p:spTree>
    <p:extLst>
      <p:ext uri="{BB962C8B-B14F-4D97-AF65-F5344CB8AC3E}">
        <p14:creationId xmlns:p14="http://schemas.microsoft.com/office/powerpoint/2010/main" val="35865926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30ae077bc5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30ae077bc5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rgbClr val="002240"/>
                </a:solidFill>
              </a:rPr>
              <a:t>Evenness in depth along contig: figure shows one contig, which has very uneven coverage. This could indicate a chimeric contig consisting of reads from two organisms, for example. </a:t>
            </a:r>
            <a:endParaRPr sz="9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g3094e50031b_0_2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78" name="Google Shape;1278;g3094e50031b_0_2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g3094e50031b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7" name="Google Shape;1337;g3094e50031b_0_2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dirty="0"/>
              <a:t>Different colors</a:t>
            </a:r>
            <a:endParaRPr dirty="0"/>
          </a:p>
        </p:txBody>
      </p:sp>
      <p:sp>
        <p:nvSpPr>
          <p:cNvPr id="1338" name="Google Shape;1338;g3094e50031b_0_2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7"/>
        <p:cNvGrpSpPr/>
        <p:nvPr/>
      </p:nvGrpSpPr>
      <p:grpSpPr>
        <a:xfrm>
          <a:off x="0" y="0"/>
          <a:ext cx="0" cy="0"/>
          <a:chOff x="0" y="0"/>
          <a:chExt cx="0" cy="0"/>
        </a:xfrm>
      </p:grpSpPr>
      <p:sp>
        <p:nvSpPr>
          <p:cNvPr id="1388" name="Google Shape;1388;g3094e50031b_0_3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389" name="Google Shape;1389;g3094e50031b_0_3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6"/>
        <p:cNvGrpSpPr/>
        <p:nvPr/>
      </p:nvGrpSpPr>
      <p:grpSpPr>
        <a:xfrm>
          <a:off x="0" y="0"/>
          <a:ext cx="0" cy="0"/>
          <a:chOff x="0" y="0"/>
          <a:chExt cx="0" cy="0"/>
        </a:xfrm>
      </p:grpSpPr>
      <p:sp>
        <p:nvSpPr>
          <p:cNvPr id="1447" name="Google Shape;1447;g3094e50031b_0_4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8" name="Google Shape;1448;g3094e50031b_0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2"/>
        <p:cNvGrpSpPr/>
        <p:nvPr/>
      </p:nvGrpSpPr>
      <p:grpSpPr>
        <a:xfrm>
          <a:off x="0" y="0"/>
          <a:ext cx="0" cy="0"/>
          <a:chOff x="0" y="0"/>
          <a:chExt cx="0" cy="0"/>
        </a:xfrm>
      </p:grpSpPr>
      <p:sp>
        <p:nvSpPr>
          <p:cNvPr id="1513" name="Google Shape;1513;g3094e50031b_0_5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4" name="Google Shape;1514;g3094e50031b_0_5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1"/>
        <p:cNvGrpSpPr/>
        <p:nvPr/>
      </p:nvGrpSpPr>
      <p:grpSpPr>
        <a:xfrm>
          <a:off x="0" y="0"/>
          <a:ext cx="0" cy="0"/>
          <a:chOff x="0" y="0"/>
          <a:chExt cx="0" cy="0"/>
        </a:xfrm>
      </p:grpSpPr>
      <p:sp>
        <p:nvSpPr>
          <p:cNvPr id="1572" name="Google Shape;1572;g30a6f5b5cd1_3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3" name="Google Shape;1573;g30a6f5b5cd1_3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a:extLst>
            <a:ext uri="{FF2B5EF4-FFF2-40B4-BE49-F238E27FC236}">
              <a16:creationId xmlns:a16="http://schemas.microsoft.com/office/drawing/2014/main" id="{4AF9B81B-4C1A-92B7-EB17-1B2B3569095C}"/>
            </a:ext>
          </a:extLst>
        </p:cNvPr>
        <p:cNvGrpSpPr/>
        <p:nvPr/>
      </p:nvGrpSpPr>
      <p:grpSpPr>
        <a:xfrm>
          <a:off x="0" y="0"/>
          <a:ext cx="0" cy="0"/>
          <a:chOff x="0" y="0"/>
          <a:chExt cx="0" cy="0"/>
        </a:xfrm>
      </p:grpSpPr>
      <p:sp>
        <p:nvSpPr>
          <p:cNvPr id="489" name="Google Shape;489;g3094e50031b_0_1573:notes">
            <a:extLst>
              <a:ext uri="{FF2B5EF4-FFF2-40B4-BE49-F238E27FC236}">
                <a16:creationId xmlns:a16="http://schemas.microsoft.com/office/drawing/2014/main" id="{8804FE2B-F011-22E4-2F3C-96674108372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When deciding to use a read-based or assembly-based approach, it should be clear what the advantages and/or disadvantages of either method. </a:t>
            </a:r>
          </a:p>
          <a:p>
            <a:pPr marL="0" lvl="0" indent="0" algn="l" rtl="0">
              <a:lnSpc>
                <a:spcPct val="100000"/>
              </a:lnSpc>
              <a:spcBef>
                <a:spcPts val="0"/>
              </a:spcBef>
              <a:spcAft>
                <a:spcPts val="0"/>
              </a:spcAft>
              <a:buSzPts val="1400"/>
              <a:buNone/>
            </a:pPr>
            <a:r>
              <a:rPr lang="en-US" dirty="0"/>
              <a:t>In read-based approaches you will have fast results and you don’t require a high sequencing depth. On the other hand, however,</a:t>
            </a:r>
          </a:p>
          <a:p>
            <a:pPr marL="0" lvl="0" indent="0" algn="l" rtl="0">
              <a:lnSpc>
                <a:spcPct val="100000"/>
              </a:lnSpc>
              <a:spcBef>
                <a:spcPts val="0"/>
              </a:spcBef>
              <a:spcAft>
                <a:spcPts val="0"/>
              </a:spcAft>
              <a:buSzPts val="1400"/>
              <a:buNone/>
            </a:pPr>
            <a:r>
              <a:rPr lang="en-US" b="0" dirty="0">
                <a:solidFill>
                  <a:schemeClr val="dk1"/>
                </a:solidFill>
              </a:rPr>
              <a:t>- You will only be looking at the taxonomies and functions that your reads are mapping to, and so a lower sequencing depth will still not paint a complete picture of the metagenome. </a:t>
            </a:r>
          </a:p>
          <a:p>
            <a:pPr marL="171450" lvl="0" indent="-171450" algn="l" rtl="0">
              <a:lnSpc>
                <a:spcPct val="100000"/>
              </a:lnSpc>
              <a:spcBef>
                <a:spcPts val="0"/>
              </a:spcBef>
              <a:spcAft>
                <a:spcPts val="0"/>
              </a:spcAft>
              <a:buSzPts val="1400"/>
              <a:buFontTx/>
              <a:buChar char="-"/>
            </a:pPr>
            <a:r>
              <a:rPr lang="en-US" b="0" dirty="0">
                <a:solidFill>
                  <a:schemeClr val="dk1"/>
                </a:solidFill>
              </a:rPr>
              <a:t>You do not know which functions cooccur in the same microbial genome</a:t>
            </a:r>
          </a:p>
          <a:p>
            <a:pPr marL="171450" lvl="0" indent="-171450" algn="l" rtl="0">
              <a:lnSpc>
                <a:spcPct val="100000"/>
              </a:lnSpc>
              <a:spcBef>
                <a:spcPts val="0"/>
              </a:spcBef>
              <a:spcAft>
                <a:spcPts val="0"/>
              </a:spcAft>
              <a:buSzPts val="1400"/>
              <a:buFontTx/>
              <a:buChar char="-"/>
            </a:pPr>
            <a:r>
              <a:rPr lang="en-US" b="0" dirty="0">
                <a:solidFill>
                  <a:schemeClr val="dk1"/>
                </a:solidFill>
              </a:rPr>
              <a:t>You are largely dependent on reference databases.</a:t>
            </a:r>
          </a:p>
          <a:p>
            <a:pPr marL="0" lvl="0" indent="0" algn="l" rtl="0">
              <a:lnSpc>
                <a:spcPct val="100000"/>
              </a:lnSpc>
              <a:spcBef>
                <a:spcPts val="0"/>
              </a:spcBef>
              <a:spcAft>
                <a:spcPts val="0"/>
              </a:spcAft>
              <a:buSzPts val="1400"/>
              <a:buFontTx/>
              <a:buNone/>
            </a:pPr>
            <a:endParaRPr lang="en-US" b="0" dirty="0">
              <a:solidFill>
                <a:schemeClr val="dk1"/>
              </a:solidFill>
            </a:endParaRPr>
          </a:p>
          <a:p>
            <a:pPr marL="0" lvl="0" indent="0" algn="l" rtl="0">
              <a:lnSpc>
                <a:spcPct val="100000"/>
              </a:lnSpc>
              <a:spcBef>
                <a:spcPts val="0"/>
              </a:spcBef>
              <a:spcAft>
                <a:spcPts val="0"/>
              </a:spcAft>
              <a:buSzPts val="1400"/>
              <a:buFontTx/>
              <a:buNone/>
            </a:pPr>
            <a:r>
              <a:rPr lang="en-US" b="0" dirty="0">
                <a:solidFill>
                  <a:schemeClr val="dk1"/>
                </a:solidFill>
              </a:rPr>
              <a:t>Assembly-based approaches can help with these shortcomings.</a:t>
            </a:r>
          </a:p>
          <a:p>
            <a:pPr marL="171450" lvl="0" indent="-171450" algn="l" rtl="0">
              <a:lnSpc>
                <a:spcPct val="100000"/>
              </a:lnSpc>
              <a:spcBef>
                <a:spcPts val="0"/>
              </a:spcBef>
              <a:spcAft>
                <a:spcPts val="0"/>
              </a:spcAft>
              <a:buSzPts val="1400"/>
              <a:buFontTx/>
              <a:buChar char="-"/>
            </a:pPr>
            <a:endParaRPr lang="en-US" b="0" dirty="0">
              <a:solidFill>
                <a:schemeClr val="dk1"/>
              </a:solidFill>
            </a:endParaRPr>
          </a:p>
          <a:p>
            <a:pPr marL="0" lvl="0" indent="0" algn="l" rtl="0">
              <a:lnSpc>
                <a:spcPct val="100000"/>
              </a:lnSpc>
              <a:spcBef>
                <a:spcPts val="0"/>
              </a:spcBef>
              <a:spcAft>
                <a:spcPts val="0"/>
              </a:spcAft>
              <a:buSzPts val="1400"/>
              <a:buNone/>
            </a:pPr>
            <a:endParaRPr lang="en-US" dirty="0"/>
          </a:p>
        </p:txBody>
      </p:sp>
      <p:sp>
        <p:nvSpPr>
          <p:cNvPr id="490" name="Google Shape;490;g3094e50031b_0_1573:notes">
            <a:extLst>
              <a:ext uri="{FF2B5EF4-FFF2-40B4-BE49-F238E27FC236}">
                <a16:creationId xmlns:a16="http://schemas.microsoft.com/office/drawing/2014/main" id="{958D73C4-BA3F-43EA-2F2E-B945A8A9CE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544764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6"/>
        <p:cNvGrpSpPr/>
        <p:nvPr/>
      </p:nvGrpSpPr>
      <p:grpSpPr>
        <a:xfrm>
          <a:off x="0" y="0"/>
          <a:ext cx="0" cy="0"/>
          <a:chOff x="0" y="0"/>
          <a:chExt cx="0" cy="0"/>
        </a:xfrm>
      </p:grpSpPr>
      <p:sp>
        <p:nvSpPr>
          <p:cNvPr id="2107" name="Google Shape;2107;g3094e50031b_0_10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108" name="Google Shape;2108;g3094e50031b_0_10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5"/>
        <p:cNvGrpSpPr/>
        <p:nvPr/>
      </p:nvGrpSpPr>
      <p:grpSpPr>
        <a:xfrm>
          <a:off x="0" y="0"/>
          <a:ext cx="0" cy="0"/>
          <a:chOff x="0" y="0"/>
          <a:chExt cx="0" cy="0"/>
        </a:xfrm>
      </p:grpSpPr>
      <p:sp>
        <p:nvSpPr>
          <p:cNvPr id="2116" name="Google Shape;2116;g30a6f5b5cd1_3_1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7" name="Google Shape;2117;g30a6f5b5cd1_3_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4"/>
        <p:cNvGrpSpPr/>
        <p:nvPr/>
      </p:nvGrpSpPr>
      <p:grpSpPr>
        <a:xfrm>
          <a:off x="0" y="0"/>
          <a:ext cx="0" cy="0"/>
          <a:chOff x="0" y="0"/>
          <a:chExt cx="0" cy="0"/>
        </a:xfrm>
      </p:grpSpPr>
      <p:sp>
        <p:nvSpPr>
          <p:cNvPr id="2135" name="Google Shape;2135;g3094e50031b_0_10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6" name="Google Shape;2136;g3094e50031b_0_10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a:t>Carbon content add. Add to abundance solution to abundacne </a:t>
            </a:r>
            <a:endParaRPr/>
          </a:p>
        </p:txBody>
      </p:sp>
      <p:sp>
        <p:nvSpPr>
          <p:cNvPr id="2137" name="Google Shape;2137;g3094e50031b_0_10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6"/>
        <p:cNvGrpSpPr/>
        <p:nvPr/>
      </p:nvGrpSpPr>
      <p:grpSpPr>
        <a:xfrm>
          <a:off x="0" y="0"/>
          <a:ext cx="0" cy="0"/>
          <a:chOff x="0" y="0"/>
          <a:chExt cx="0" cy="0"/>
        </a:xfrm>
      </p:grpSpPr>
      <p:sp>
        <p:nvSpPr>
          <p:cNvPr id="2177" name="Google Shape;2177;g3094e50031b_0_1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8" name="Google Shape;2178;g3094e50031b_0_1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High quality recovery of MAGs against Avg. read depth, total read depth and diversity (richness, ? </a:t>
            </a:r>
            <a:endParaRPr sz="1800" dirty="0">
              <a:solidFill>
                <a:schemeClr val="dk2"/>
              </a:solidFill>
            </a:endParaRPr>
          </a:p>
          <a:p>
            <a:pPr marL="0" lvl="0" indent="0" algn="l" rtl="0">
              <a:spcBef>
                <a:spcPts val="0"/>
              </a:spcBef>
              <a:spcAft>
                <a:spcPts val="0"/>
              </a:spcAft>
              <a:buNone/>
            </a:pPr>
            <a:endParaRPr lang="en-US" dirty="0"/>
          </a:p>
          <a:p>
            <a:pPr marL="0" lvl="0" indent="0" algn="l" rtl="0">
              <a:spcBef>
                <a:spcPts val="0"/>
              </a:spcBef>
              <a:spcAft>
                <a:spcPts val="0"/>
              </a:spcAft>
              <a:buNone/>
            </a:pPr>
            <a:r>
              <a:rPr lang="en-US" sz="1100" b="0" i="0" u="none" strike="noStrike" cap="none" spc="0" dirty="0">
                <a:solidFill>
                  <a:srgbClr val="000000"/>
                </a:solidFill>
                <a:effectLst/>
                <a:latin typeface="Arial"/>
                <a:ea typeface="Arial"/>
                <a:cs typeface="Arial"/>
                <a:sym typeface="Arial"/>
              </a:rPr>
              <a:t>In parallel, the all reads mapped (arm) workflow was executed. This workflow consists of mapping the complete full size </a:t>
            </a:r>
            <a:r>
              <a:rPr lang="en-US" sz="1100" b="0" i="0" u="none" strike="noStrike" cap="none" spc="0" dirty="0" err="1">
                <a:solidFill>
                  <a:srgbClr val="000000"/>
                </a:solidFill>
                <a:effectLst/>
                <a:latin typeface="Arial"/>
                <a:ea typeface="Arial"/>
                <a:cs typeface="Arial"/>
                <a:sym typeface="Arial"/>
              </a:rPr>
              <a:t>fastq</a:t>
            </a:r>
            <a:r>
              <a:rPr lang="en-US" sz="1100" b="0" i="0" u="none" strike="noStrike" cap="none" spc="0" dirty="0">
                <a:solidFill>
                  <a:srgbClr val="000000"/>
                </a:solidFill>
                <a:effectLst/>
                <a:latin typeface="Arial"/>
                <a:ea typeface="Arial"/>
                <a:cs typeface="Arial"/>
                <a:sym typeface="Arial"/>
              </a:rPr>
              <a:t> libraries (i.e. in the context of this article, a sequencing library is considered analogous to a sample) to estimate read abundance, instead of using only a fraction of the reads like it is the case in the standard workflow (Figure 1).</a:t>
            </a:r>
            <a:endParaRPr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7"/>
        <p:cNvGrpSpPr/>
        <p:nvPr/>
      </p:nvGrpSpPr>
      <p:grpSpPr>
        <a:xfrm>
          <a:off x="0" y="0"/>
          <a:ext cx="0" cy="0"/>
          <a:chOff x="0" y="0"/>
          <a:chExt cx="0" cy="0"/>
        </a:xfrm>
      </p:grpSpPr>
      <p:sp>
        <p:nvSpPr>
          <p:cNvPr id="2208" name="Google Shape;2208;g3094e50031b_0_10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9" name="Google Shape;2209;g3094e50031b_0_10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3094e50031b_0_17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3094e50031b_0_1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1"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6"/>
        <p:cNvGrpSpPr/>
        <p:nvPr/>
      </p:nvGrpSpPr>
      <p:grpSpPr>
        <a:xfrm>
          <a:off x="0" y="0"/>
          <a:ext cx="0" cy="0"/>
          <a:chOff x="0" y="0"/>
          <a:chExt cx="0" cy="0"/>
        </a:xfrm>
      </p:grpSpPr>
      <p:sp>
        <p:nvSpPr>
          <p:cNvPr id="57" name="Google Shape;57;p14"/>
          <p:cNvSpPr txBox="1">
            <a:spLocks noGrp="1"/>
          </p:cNvSpPr>
          <p:nvPr>
            <p:ph type="body" idx="1"/>
          </p:nvPr>
        </p:nvSpPr>
        <p:spPr>
          <a:xfrm>
            <a:off x="506017" y="870347"/>
            <a:ext cx="8143800" cy="3542100"/>
          </a:xfrm>
          <a:prstGeom prst="rect">
            <a:avLst/>
          </a:prstGeom>
          <a:noFill/>
          <a:ln>
            <a:noFill/>
          </a:ln>
        </p:spPr>
        <p:txBody>
          <a:bodyPr spcFirstLastPara="1" wrap="square" lIns="0" tIns="0" rIns="0" bIns="0" anchor="t" anchorCtr="0">
            <a:noAutofit/>
          </a:bodyPr>
          <a:lstStyle>
            <a:lvl1pPr marL="457200" lvl="0" indent="-298450" algn="l">
              <a:lnSpc>
                <a:spcPct val="100000"/>
              </a:lnSpc>
              <a:spcBef>
                <a:spcPts val="500"/>
              </a:spcBef>
              <a:spcAft>
                <a:spcPts val="0"/>
              </a:spcAft>
              <a:buClr>
                <a:schemeClr val="dk1"/>
              </a:buClr>
              <a:buSzPts val="1100"/>
              <a:buChar char="●"/>
              <a:defRPr/>
            </a:lvl1pPr>
            <a:lvl2pPr marL="914400" lvl="1" indent="-298450" algn="l">
              <a:lnSpc>
                <a:spcPct val="100000"/>
              </a:lnSpc>
              <a:spcBef>
                <a:spcPts val="500"/>
              </a:spcBef>
              <a:spcAft>
                <a:spcPts val="0"/>
              </a:spcAft>
              <a:buClr>
                <a:schemeClr val="dk1"/>
              </a:buClr>
              <a:buSzPts val="1100"/>
              <a:buChar char="○"/>
              <a:defRPr/>
            </a:lvl2pPr>
            <a:lvl3pPr marL="1371600" lvl="2" indent="-298450" algn="l">
              <a:lnSpc>
                <a:spcPct val="100000"/>
              </a:lnSpc>
              <a:spcBef>
                <a:spcPts val="500"/>
              </a:spcBef>
              <a:spcAft>
                <a:spcPts val="0"/>
              </a:spcAft>
              <a:buClr>
                <a:schemeClr val="dk1"/>
              </a:buClr>
              <a:buSzPts val="1100"/>
              <a:buChar char="■"/>
              <a:defRPr/>
            </a:lvl3pPr>
            <a:lvl4pPr marL="1828800" lvl="3" indent="-298450" algn="l">
              <a:lnSpc>
                <a:spcPct val="100000"/>
              </a:lnSpc>
              <a:spcBef>
                <a:spcPts val="500"/>
              </a:spcBef>
              <a:spcAft>
                <a:spcPts val="0"/>
              </a:spcAft>
              <a:buSzPts val="1100"/>
              <a:buChar char="●"/>
              <a:defRPr/>
            </a:lvl4pPr>
            <a:lvl5pPr marL="2286000" lvl="4" indent="-298450" algn="l">
              <a:lnSpc>
                <a:spcPct val="100000"/>
              </a:lnSpc>
              <a:spcBef>
                <a:spcPts val="500"/>
              </a:spcBef>
              <a:spcAft>
                <a:spcPts val="0"/>
              </a:spcAft>
              <a:buSzPts val="1100"/>
              <a:buChar char="○"/>
              <a:defRPr/>
            </a:lvl5pPr>
            <a:lvl6pPr marL="2743200" lvl="5" indent="-298450" algn="l">
              <a:lnSpc>
                <a:spcPct val="100000"/>
              </a:lnSpc>
              <a:spcBef>
                <a:spcPts val="500"/>
              </a:spcBef>
              <a:spcAft>
                <a:spcPts val="0"/>
              </a:spcAft>
              <a:buClr>
                <a:schemeClr val="dk1"/>
              </a:buClr>
              <a:buSzPts val="1100"/>
              <a:buChar char="■"/>
              <a:defRPr/>
            </a:lvl6pPr>
            <a:lvl7pPr marL="3200400" lvl="6" indent="-298450" algn="l">
              <a:lnSpc>
                <a:spcPct val="100000"/>
              </a:lnSpc>
              <a:spcBef>
                <a:spcPts val="500"/>
              </a:spcBef>
              <a:spcAft>
                <a:spcPts val="0"/>
              </a:spcAft>
              <a:buClr>
                <a:schemeClr val="dk1"/>
              </a:buClr>
              <a:buSzPts val="1100"/>
              <a:buChar char="●"/>
              <a:defRPr/>
            </a:lvl7pPr>
            <a:lvl8pPr marL="3657600" lvl="7" indent="-298450" algn="l">
              <a:lnSpc>
                <a:spcPct val="100000"/>
              </a:lnSpc>
              <a:spcBef>
                <a:spcPts val="500"/>
              </a:spcBef>
              <a:spcAft>
                <a:spcPts val="0"/>
              </a:spcAft>
              <a:buClr>
                <a:schemeClr val="dk1"/>
              </a:buClr>
              <a:buSzPts val="1100"/>
              <a:buChar char="○"/>
              <a:defRPr/>
            </a:lvl8pPr>
            <a:lvl9pPr marL="4114800" lvl="8" indent="-298450" algn="l">
              <a:lnSpc>
                <a:spcPct val="100000"/>
              </a:lnSpc>
              <a:spcBef>
                <a:spcPts val="500"/>
              </a:spcBef>
              <a:spcAft>
                <a:spcPts val="0"/>
              </a:spcAft>
              <a:buClr>
                <a:schemeClr val="dk1"/>
              </a:buClr>
              <a:buSzPts val="1100"/>
              <a:buChar char="■"/>
              <a:defRPr/>
            </a:lvl9pPr>
          </a:lstStyle>
          <a:p>
            <a:endParaRPr/>
          </a:p>
        </p:txBody>
      </p:sp>
      <p:sp>
        <p:nvSpPr>
          <p:cNvPr id="58" name="Google Shape;58;p14"/>
          <p:cNvSpPr txBox="1">
            <a:spLocks noGrp="1"/>
          </p:cNvSpPr>
          <p:nvPr>
            <p:ph type="dt" idx="10"/>
          </p:nvPr>
        </p:nvSpPr>
        <p:spPr>
          <a:xfrm>
            <a:off x="580292" y="4903683"/>
            <a:ext cx="1001100" cy="151200"/>
          </a:xfrm>
          <a:prstGeom prst="rect">
            <a:avLst/>
          </a:prstGeom>
          <a:noFill/>
          <a:ln>
            <a:noFill/>
          </a:ln>
        </p:spPr>
        <p:txBody>
          <a:bodyPr spcFirstLastPara="1" wrap="square" lIns="0" tIns="0" rIns="0" bIns="0" anchor="b" anchorCtr="0">
            <a:noAutofit/>
          </a:bodyPr>
          <a:lstStyle>
            <a:lvl1pPr marR="0" lvl="0" algn="r">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9pPr>
          </a:lstStyle>
          <a:p>
            <a:endParaRPr/>
          </a:p>
        </p:txBody>
      </p:sp>
      <p:sp>
        <p:nvSpPr>
          <p:cNvPr id="59" name="Google Shape;59;p14"/>
          <p:cNvSpPr txBox="1">
            <a:spLocks noGrp="1"/>
          </p:cNvSpPr>
          <p:nvPr>
            <p:ph type="ftr" idx="11"/>
          </p:nvPr>
        </p:nvSpPr>
        <p:spPr>
          <a:xfrm>
            <a:off x="580292" y="4904826"/>
            <a:ext cx="5288100" cy="1512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256500" y="4904826"/>
            <a:ext cx="311400" cy="151200"/>
          </a:xfrm>
          <a:prstGeom prst="rect">
            <a:avLst/>
          </a:prstGeom>
          <a:noFill/>
          <a:ln>
            <a:noFill/>
          </a:ln>
        </p:spPr>
        <p:txBody>
          <a:bodyPr spcFirstLastPara="1" wrap="square" lIns="0" tIns="0" rIns="0" bIns="0" anchor="b" anchorCtr="0">
            <a:noAutofit/>
          </a:bodyPr>
          <a:lstStyle>
            <a:lvl1pPr marL="0" marR="0" lvl="0" indent="0" algn="l">
              <a:lnSpc>
                <a:spcPct val="100000"/>
              </a:lnSpc>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1pPr>
            <a:lvl2pPr marL="0" marR="0" lvl="1" indent="0" algn="l">
              <a:lnSpc>
                <a:spcPct val="100000"/>
              </a:lnSpc>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2pPr>
            <a:lvl3pPr marL="0" marR="0" lvl="2" indent="0" algn="l">
              <a:lnSpc>
                <a:spcPct val="100000"/>
              </a:lnSpc>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3pPr>
            <a:lvl4pPr marL="0" marR="0" lvl="3" indent="0" algn="l">
              <a:lnSpc>
                <a:spcPct val="100000"/>
              </a:lnSpc>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4pPr>
            <a:lvl5pPr marL="0" marR="0" lvl="4" indent="0" algn="l">
              <a:lnSpc>
                <a:spcPct val="100000"/>
              </a:lnSpc>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5pPr>
            <a:lvl6pPr marL="0" marR="0" lvl="5" indent="0" algn="l">
              <a:lnSpc>
                <a:spcPct val="100000"/>
              </a:lnSpc>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6pPr>
            <a:lvl7pPr marL="0" marR="0" lvl="6" indent="0" algn="l">
              <a:lnSpc>
                <a:spcPct val="100000"/>
              </a:lnSpc>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7pPr>
            <a:lvl8pPr marL="0" marR="0" lvl="7" indent="0" algn="l">
              <a:lnSpc>
                <a:spcPct val="100000"/>
              </a:lnSpc>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8pPr>
            <a:lvl9pPr marL="0" marR="0" lvl="8" indent="0" algn="l">
              <a:lnSpc>
                <a:spcPct val="100000"/>
              </a:lnSpc>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sp>
        <p:nvSpPr>
          <p:cNvPr id="61" name="Google Shape;61;p14"/>
          <p:cNvSpPr txBox="1">
            <a:spLocks noGrp="1"/>
          </p:cNvSpPr>
          <p:nvPr>
            <p:ph type="title"/>
          </p:nvPr>
        </p:nvSpPr>
        <p:spPr>
          <a:xfrm>
            <a:off x="490641" y="138112"/>
            <a:ext cx="3109200" cy="499500"/>
          </a:xfrm>
          <a:prstGeom prst="rect">
            <a:avLst/>
          </a:prstGeom>
          <a:solidFill>
            <a:srgbClr val="FCFCFC">
              <a:alpha val="83920"/>
            </a:srgbClr>
          </a:solidFill>
          <a:ln>
            <a:noFill/>
          </a:ln>
        </p:spPr>
        <p:txBody>
          <a:bodyPr spcFirstLastPara="1" wrap="square" lIns="60750" tIns="117450" rIns="60750" bIns="182250" anchor="t" anchorCtr="0">
            <a:normAutofit/>
          </a:bodyPr>
          <a:lstStyle>
            <a:lvl1pPr lvl="0" algn="l">
              <a:lnSpc>
                <a:spcPct val="91000"/>
              </a:lnSpc>
              <a:spcBef>
                <a:spcPts val="0"/>
              </a:spcBef>
              <a:spcAft>
                <a:spcPts val="0"/>
              </a:spcAft>
              <a:buSzPts val="2100"/>
              <a:buNone/>
              <a:defRPr sz="1600" b="0">
                <a:latin typeface="Calibri"/>
                <a:ea typeface="Calibri"/>
                <a:cs typeface="Calibri"/>
                <a:sym typeface="Calibri"/>
              </a:defRPr>
            </a:lvl1pPr>
            <a:lvl2pPr lvl="1" algn="l">
              <a:lnSpc>
                <a:spcPct val="95000"/>
              </a:lnSpc>
              <a:spcBef>
                <a:spcPts val="0"/>
              </a:spcBef>
              <a:spcAft>
                <a:spcPts val="0"/>
              </a:spcAft>
              <a:buSzPts val="2100"/>
              <a:buNone/>
              <a:defRPr/>
            </a:lvl2pPr>
            <a:lvl3pPr lvl="2" algn="l">
              <a:lnSpc>
                <a:spcPct val="95000"/>
              </a:lnSpc>
              <a:spcBef>
                <a:spcPts val="0"/>
              </a:spcBef>
              <a:spcAft>
                <a:spcPts val="0"/>
              </a:spcAft>
              <a:buSzPts val="2100"/>
              <a:buNone/>
              <a:defRPr/>
            </a:lvl3pPr>
            <a:lvl4pPr lvl="3" algn="l">
              <a:lnSpc>
                <a:spcPct val="95000"/>
              </a:lnSpc>
              <a:spcBef>
                <a:spcPts val="0"/>
              </a:spcBef>
              <a:spcAft>
                <a:spcPts val="0"/>
              </a:spcAft>
              <a:buSzPts val="2100"/>
              <a:buNone/>
              <a:defRPr/>
            </a:lvl4pPr>
            <a:lvl5pPr lvl="4" algn="l">
              <a:lnSpc>
                <a:spcPct val="95000"/>
              </a:lnSpc>
              <a:spcBef>
                <a:spcPts val="0"/>
              </a:spcBef>
              <a:spcAft>
                <a:spcPts val="0"/>
              </a:spcAft>
              <a:buSzPts val="2100"/>
              <a:buNone/>
              <a:defRPr/>
            </a:lvl5pPr>
            <a:lvl6pPr lvl="5" algn="l">
              <a:lnSpc>
                <a:spcPct val="95000"/>
              </a:lnSpc>
              <a:spcBef>
                <a:spcPts val="0"/>
              </a:spcBef>
              <a:spcAft>
                <a:spcPts val="0"/>
              </a:spcAft>
              <a:buSzPts val="2100"/>
              <a:buNone/>
              <a:defRPr/>
            </a:lvl6pPr>
            <a:lvl7pPr lvl="6" algn="l">
              <a:lnSpc>
                <a:spcPct val="95000"/>
              </a:lnSpc>
              <a:spcBef>
                <a:spcPts val="0"/>
              </a:spcBef>
              <a:spcAft>
                <a:spcPts val="0"/>
              </a:spcAft>
              <a:buSzPts val="2100"/>
              <a:buNone/>
              <a:defRPr/>
            </a:lvl7pPr>
            <a:lvl8pPr lvl="7" algn="l">
              <a:lnSpc>
                <a:spcPct val="95000"/>
              </a:lnSpc>
              <a:spcBef>
                <a:spcPts val="0"/>
              </a:spcBef>
              <a:spcAft>
                <a:spcPts val="0"/>
              </a:spcAft>
              <a:buSzPts val="2100"/>
              <a:buNone/>
              <a:defRPr/>
            </a:lvl8pPr>
            <a:lvl9pPr lvl="8" algn="l">
              <a:lnSpc>
                <a:spcPct val="95000"/>
              </a:lnSpc>
              <a:spcBef>
                <a:spcPts val="0"/>
              </a:spcBef>
              <a:spcAft>
                <a:spcPts val="0"/>
              </a:spcAft>
              <a:buSzPts val="21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xt slide with bullets">
    <p:spTree>
      <p:nvGrpSpPr>
        <p:cNvPr id="1" name=""/>
        <p:cNvGrpSpPr/>
        <p:nvPr/>
      </p:nvGrpSpPr>
      <p:grpSpPr>
        <a:xfrm>
          <a:off x="0" y="0"/>
          <a:ext cx="0" cy="0"/>
          <a:chOff x="0" y="0"/>
          <a:chExt cx="0" cy="0"/>
        </a:xfrm>
      </p:grpSpPr>
      <p:sp>
        <p:nvSpPr>
          <p:cNvPr id="2" name="Titel 1"/>
          <p:cNvSpPr>
            <a:spLocks noGrp="1"/>
          </p:cNvSpPr>
          <p:nvPr>
            <p:ph type="title"/>
          </p:nvPr>
        </p:nvSpPr>
        <p:spPr>
          <a:xfrm>
            <a:off x="491642" y="172642"/>
            <a:ext cx="8442796" cy="791650"/>
          </a:xfrm>
        </p:spPr>
        <p:txBody>
          <a:bodyPr/>
          <a:lstStyle/>
          <a:p>
            <a:r>
              <a:rPr lang="nl-NL" dirty="0"/>
              <a:t>Klik om de stijl te bewerken</a:t>
            </a:r>
          </a:p>
        </p:txBody>
      </p:sp>
      <p:sp>
        <p:nvSpPr>
          <p:cNvPr id="3" name="Tijdelijke aanduiding voor tekst 6"/>
          <p:cNvSpPr>
            <a:spLocks noGrp="1"/>
          </p:cNvSpPr>
          <p:nvPr>
            <p:ph type="body" sz="quarter" idx="10"/>
          </p:nvPr>
        </p:nvSpPr>
        <p:spPr>
          <a:xfrm>
            <a:off x="421200" y="1376437"/>
            <a:ext cx="8521188" cy="3067200"/>
          </a:xfrm>
        </p:spPr>
        <p:txBody>
          <a:bodyPr/>
          <a:lstStyle>
            <a:lvl2pPr>
              <a:buClr>
                <a:schemeClr val="bg2"/>
              </a:buClr>
              <a:defRPr/>
            </a:lvl2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Tree>
    <p:extLst>
      <p:ext uri="{BB962C8B-B14F-4D97-AF65-F5344CB8AC3E}">
        <p14:creationId xmlns:p14="http://schemas.microsoft.com/office/powerpoint/2010/main" val="94691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2"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jp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image" Target="../media/image4.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5.png"/><Relationship Id="rId4" Type="http://schemas.openxmlformats.org/officeDocument/2006/relationships/image" Target="../media/image3.jp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26.jp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9.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9.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11.xml"/><Relationship Id="rId6" Type="http://schemas.openxmlformats.org/officeDocument/2006/relationships/image" Target="../media/image45.png"/><Relationship Id="rId5" Type="http://schemas.openxmlformats.org/officeDocument/2006/relationships/image" Target="../media/image44.jp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3.jpg"/></Relationships>
</file>

<file path=ppt/slides/_rels/slide39.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notesSlide" Target="../notesSlides/notesSlide39.xml"/><Relationship Id="rId1" Type="http://schemas.openxmlformats.org/officeDocument/2006/relationships/slideLayout" Target="../slideLayouts/slideLayout9.xml"/><Relationship Id="rId4" Type="http://schemas.openxmlformats.org/officeDocument/2006/relationships/image" Target="../media/image570.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26.jpg"/></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1.xml"/><Relationship Id="rId1" Type="http://schemas.openxmlformats.org/officeDocument/2006/relationships/slideLayout" Target="../slideLayouts/slideLayout9.xml"/><Relationship Id="rId4" Type="http://schemas.openxmlformats.org/officeDocument/2006/relationships/hyperlink" Target="https://doi.org/10.1016/j.cell.2019.07.010"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26.jp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jp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hyperlink" Target="https://doi.org/10.1093/bib/bbac443" TargetMode="External"/></Relationships>
</file>

<file path=ppt/slides/_rels/slide49.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9.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18.png"/><Relationship Id="rId9" Type="http://schemas.openxmlformats.org/officeDocument/2006/relationships/image" Target="../media/image65.png"/></Relationships>
</file>

<file path=ppt/slides/_rels/slide50.xml.rels><?xml version="1.0" encoding="UTF-8" standalone="yes"?>
<Relationships xmlns="http://schemas.openxmlformats.org/package/2006/relationships"><Relationship Id="rId3" Type="http://schemas.openxmlformats.org/officeDocument/2006/relationships/hyperlink" Target="https://bioinformatics.nl/biosb_metagenomics" TargetMode="External"/><Relationship Id="rId2" Type="http://schemas.openxmlformats.org/officeDocument/2006/relationships/notesSlide" Target="../notesSlides/notesSlide50.xml"/><Relationship Id="rId1" Type="http://schemas.openxmlformats.org/officeDocument/2006/relationships/slideLayout" Target="../slideLayouts/slideLayout9.xml"/><Relationship Id="rId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5"/>
        <p:cNvGrpSpPr/>
        <p:nvPr/>
      </p:nvGrpSpPr>
      <p:grpSpPr>
        <a:xfrm>
          <a:off x="0" y="0"/>
          <a:ext cx="0" cy="0"/>
          <a:chOff x="0" y="0"/>
          <a:chExt cx="0" cy="0"/>
        </a:xfrm>
      </p:grpSpPr>
      <p:sp>
        <p:nvSpPr>
          <p:cNvPr id="67" name="Google Shape;67;p15"/>
          <p:cNvSpPr txBox="1">
            <a:spLocks noGrp="1"/>
          </p:cNvSpPr>
          <p:nvPr>
            <p:ph type="subTitle" idx="1"/>
          </p:nvPr>
        </p:nvSpPr>
        <p:spPr>
          <a:xfrm>
            <a:off x="5787500" y="3235125"/>
            <a:ext cx="35229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sz="1800">
              <a:solidFill>
                <a:schemeClr val="lt1"/>
              </a:solidFill>
            </a:endParaRPr>
          </a:p>
          <a:p>
            <a:pPr marL="0" lvl="0" indent="0" algn="ctr" rtl="0">
              <a:spcBef>
                <a:spcPts val="0"/>
              </a:spcBef>
              <a:spcAft>
                <a:spcPts val="0"/>
              </a:spcAft>
              <a:buNone/>
            </a:pPr>
            <a:endParaRPr sz="1800">
              <a:solidFill>
                <a:schemeClr val="lt1"/>
              </a:solidFill>
            </a:endParaRPr>
          </a:p>
        </p:txBody>
      </p:sp>
      <p:sp>
        <p:nvSpPr>
          <p:cNvPr id="68" name="Google Shape;68;p15"/>
          <p:cNvSpPr txBox="1"/>
          <p:nvPr/>
        </p:nvSpPr>
        <p:spPr>
          <a:xfrm>
            <a:off x="0" y="61675"/>
            <a:ext cx="9144000" cy="892800"/>
          </a:xfrm>
          <a:prstGeom prst="rect">
            <a:avLst/>
          </a:prstGeom>
          <a:noFill/>
          <a:ln>
            <a:noFill/>
          </a:ln>
        </p:spPr>
        <p:txBody>
          <a:bodyPr spcFirstLastPara="1" wrap="square" lIns="91425" tIns="91425" rIns="91425" bIns="91425" anchor="t" anchorCtr="0">
            <a:spAutoFit/>
          </a:bodyPr>
          <a:lstStyle/>
          <a:p>
            <a:pPr marL="0" lvl="0" indent="0" algn="ctr" rtl="0">
              <a:lnSpc>
                <a:spcPct val="50000"/>
              </a:lnSpc>
              <a:spcBef>
                <a:spcPts val="1200"/>
              </a:spcBef>
              <a:spcAft>
                <a:spcPts val="0"/>
              </a:spcAft>
              <a:buNone/>
            </a:pPr>
            <a:r>
              <a:rPr lang="en" sz="3600">
                <a:solidFill>
                  <a:schemeClr val="lt1"/>
                </a:solidFill>
              </a:rPr>
              <a:t>Bringing Order to Chaos: </a:t>
            </a:r>
            <a:endParaRPr sz="3600">
              <a:solidFill>
                <a:schemeClr val="lt1"/>
              </a:solidFill>
            </a:endParaRPr>
          </a:p>
          <a:p>
            <a:pPr marL="0" lvl="0" indent="0" algn="ctr" rtl="0">
              <a:lnSpc>
                <a:spcPct val="50000"/>
              </a:lnSpc>
              <a:spcBef>
                <a:spcPts val="1200"/>
              </a:spcBef>
              <a:spcAft>
                <a:spcPts val="1200"/>
              </a:spcAft>
              <a:buClr>
                <a:schemeClr val="dk1"/>
              </a:buClr>
              <a:buSzPts val="1100"/>
              <a:buFont typeface="Arial"/>
              <a:buNone/>
            </a:pPr>
            <a:r>
              <a:rPr lang="en" sz="3600">
                <a:solidFill>
                  <a:schemeClr val="lt1"/>
                </a:solidFill>
              </a:rPr>
              <a:t>Metagenomics Starting from Raw Reads</a:t>
            </a:r>
            <a:endParaRPr sz="3600">
              <a:solidFill>
                <a:schemeClr val="lt1"/>
              </a:solidFill>
            </a:endParaRPr>
          </a:p>
        </p:txBody>
      </p:sp>
      <p:sp>
        <p:nvSpPr>
          <p:cNvPr id="72" name="Google Shape;72;p15"/>
          <p:cNvSpPr txBox="1"/>
          <p:nvPr/>
        </p:nvSpPr>
        <p:spPr>
          <a:xfrm>
            <a:off x="-1" y="3978496"/>
            <a:ext cx="9144000" cy="1015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endParaRPr sz="1800" dirty="0">
              <a:solidFill>
                <a:schemeClr val="lt1"/>
              </a:solidFill>
            </a:endParaRPr>
          </a:p>
          <a:p>
            <a:pPr marL="0" lvl="0" indent="0" algn="ctr" rtl="0">
              <a:spcBef>
                <a:spcPts val="0"/>
              </a:spcBef>
              <a:spcAft>
                <a:spcPts val="0"/>
              </a:spcAft>
              <a:buClr>
                <a:schemeClr val="dk1"/>
              </a:buClr>
              <a:buSzPts val="1100"/>
              <a:buFont typeface="Arial"/>
              <a:buNone/>
            </a:pPr>
            <a:r>
              <a:rPr lang="en" sz="1800" dirty="0">
                <a:solidFill>
                  <a:schemeClr val="lt1"/>
                </a:solidFill>
              </a:rPr>
              <a:t>Computational Metagenomics - BioSB research school (26-10-2026) </a:t>
            </a:r>
            <a:endParaRPr sz="1800" dirty="0">
              <a:solidFill>
                <a:schemeClr val="lt1"/>
              </a:solidFill>
            </a:endParaRPr>
          </a:p>
          <a:p>
            <a:pPr marL="0" lvl="0" indent="0" algn="l" rtl="0">
              <a:spcBef>
                <a:spcPts val="0"/>
              </a:spcBef>
              <a:spcAft>
                <a:spcPts val="0"/>
              </a:spcAft>
              <a:buNone/>
            </a:pPr>
            <a:r>
              <a:rPr lang="en-US" sz="1800" dirty="0">
                <a:solidFill>
                  <a:schemeClr val="dk2"/>
                </a:solidFill>
              </a:rPr>
              <a:t>							</a:t>
            </a:r>
            <a:r>
              <a:rPr lang="en-US" sz="1800" dirty="0">
                <a:solidFill>
                  <a:schemeClr val="bg1"/>
                </a:solidFill>
              </a:rPr>
              <a:t>Gijs Selten</a:t>
            </a:r>
            <a:endParaRPr sz="1800" dirty="0">
              <a:solidFill>
                <a:schemeClr val="bg1"/>
              </a:solidFill>
            </a:endParaRPr>
          </a:p>
        </p:txBody>
      </p:sp>
      <p:sp>
        <p:nvSpPr>
          <p:cNvPr id="73" name="Google Shape;7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a:t>
            </a:fld>
            <a:endParaRPr/>
          </a:p>
        </p:txBody>
      </p:sp>
      <p:pic>
        <p:nvPicPr>
          <p:cNvPr id="2" name="Picture 2" descr="What major scientific breakthroughs have been made in gut microbiome  science in 2020? - Gut Microbiota for Health">
            <a:extLst>
              <a:ext uri="{FF2B5EF4-FFF2-40B4-BE49-F238E27FC236}">
                <a16:creationId xmlns:a16="http://schemas.microsoft.com/office/drawing/2014/main" id="{D95CF0C5-6029-24CF-BB9D-BEA6D53B8E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211" y="1308724"/>
            <a:ext cx="5249577" cy="28599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04"/>
        <p:cNvGrpSpPr/>
        <p:nvPr/>
      </p:nvGrpSpPr>
      <p:grpSpPr>
        <a:xfrm>
          <a:off x="0" y="0"/>
          <a:ext cx="0" cy="0"/>
          <a:chOff x="0" y="0"/>
          <a:chExt cx="0" cy="0"/>
        </a:xfrm>
      </p:grpSpPr>
      <p:sp>
        <p:nvSpPr>
          <p:cNvPr id="1705" name="Google Shape;1705;p80"/>
          <p:cNvSpPr txBox="1">
            <a:spLocks noGrp="1"/>
          </p:cNvSpPr>
          <p:nvPr>
            <p:ph type="title"/>
          </p:nvPr>
        </p:nvSpPr>
        <p:spPr>
          <a:xfrm>
            <a:off x="380822" y="-110909"/>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b="1" dirty="0">
                <a:latin typeface="Arial"/>
                <a:ea typeface="Arial"/>
                <a:cs typeface="Arial"/>
                <a:sym typeface="Arial"/>
              </a:rPr>
              <a:t>Bringing order to chaos</a:t>
            </a:r>
            <a:endParaRPr b="1" dirty="0">
              <a:latin typeface="Arial"/>
              <a:ea typeface="Arial"/>
              <a:cs typeface="Arial"/>
              <a:sym typeface="Arial"/>
            </a:endParaRPr>
          </a:p>
        </p:txBody>
      </p:sp>
      <p:pic>
        <p:nvPicPr>
          <p:cNvPr id="3" name="Picture 2">
            <a:extLst>
              <a:ext uri="{FF2B5EF4-FFF2-40B4-BE49-F238E27FC236}">
                <a16:creationId xmlns:a16="http://schemas.microsoft.com/office/drawing/2014/main" id="{3E6E5EB6-8718-4129-5273-27741652F070}"/>
              </a:ext>
            </a:extLst>
          </p:cNvPr>
          <p:cNvPicPr>
            <a:picLocks noChangeAspect="1"/>
          </p:cNvPicPr>
          <p:nvPr/>
        </p:nvPicPr>
        <p:blipFill>
          <a:blip r:embed="rId3"/>
          <a:stretch>
            <a:fillRect/>
          </a:stretch>
        </p:blipFill>
        <p:spPr>
          <a:xfrm>
            <a:off x="1511145" y="902926"/>
            <a:ext cx="6407479" cy="3886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6" descr="A picture containing electronics, indoor, computer&#10;&#10;Description automatically generated"/>
          <p:cNvPicPr preferRelativeResize="0"/>
          <p:nvPr/>
        </p:nvPicPr>
        <p:blipFill rotWithShape="1">
          <a:blip r:embed="rId3">
            <a:alphaModFix/>
          </a:blip>
          <a:srcRect/>
          <a:stretch/>
        </p:blipFill>
        <p:spPr>
          <a:xfrm>
            <a:off x="5518337" y="1607583"/>
            <a:ext cx="2057400" cy="1407262"/>
          </a:xfrm>
          <a:prstGeom prst="rect">
            <a:avLst/>
          </a:prstGeom>
          <a:noFill/>
          <a:ln>
            <a:noFill/>
          </a:ln>
        </p:spPr>
      </p:pic>
      <p:sp>
        <p:nvSpPr>
          <p:cNvPr id="79" name="Google Shape;79;p16"/>
          <p:cNvSpPr/>
          <p:nvPr/>
        </p:nvSpPr>
        <p:spPr>
          <a:xfrm>
            <a:off x="-218155" y="965963"/>
            <a:ext cx="7602900" cy="1984200"/>
          </a:xfrm>
          <a:prstGeom prst="roundRect">
            <a:avLst>
              <a:gd name="adj" fmla="val 16667"/>
            </a:avLst>
          </a:prstGeom>
          <a:solidFill>
            <a:srgbClr val="EEEEEE">
              <a:alpha val="658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 name="Google Shape;80;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a:latin typeface="Arial"/>
                <a:ea typeface="Arial"/>
                <a:cs typeface="Arial"/>
                <a:sym typeface="Arial"/>
              </a:rPr>
              <a:t>Metagenomics: </a:t>
            </a:r>
            <a:r>
              <a:rPr lang="en"/>
              <a:t>Overview</a:t>
            </a:r>
            <a:endParaRPr>
              <a:latin typeface="Arial"/>
              <a:ea typeface="Arial"/>
              <a:cs typeface="Arial"/>
              <a:sym typeface="Arial"/>
            </a:endParaRPr>
          </a:p>
        </p:txBody>
      </p:sp>
      <p:sp>
        <p:nvSpPr>
          <p:cNvPr id="81" name="Google Shape;81;p16"/>
          <p:cNvSpPr/>
          <p:nvPr/>
        </p:nvSpPr>
        <p:spPr>
          <a:xfrm>
            <a:off x="2378028" y="1226624"/>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82" name="Google Shape;82;p16"/>
          <p:cNvSpPr/>
          <p:nvPr/>
        </p:nvSpPr>
        <p:spPr>
          <a:xfrm>
            <a:off x="2235152" y="1663653"/>
            <a:ext cx="344400" cy="344400"/>
          </a:xfrm>
          <a:prstGeom prst="ellipse">
            <a:avLst/>
          </a:prstGeom>
          <a:solidFill>
            <a:schemeClr val="lt1"/>
          </a:solidFill>
          <a:ln w="571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83" name="Google Shape;83;p16"/>
          <p:cNvSpPr/>
          <p:nvPr/>
        </p:nvSpPr>
        <p:spPr>
          <a:xfrm>
            <a:off x="2697395" y="1571204"/>
            <a:ext cx="344400" cy="344400"/>
          </a:xfrm>
          <a:prstGeom prst="ellipse">
            <a:avLst/>
          </a:prstGeom>
          <a:solidFill>
            <a:schemeClr val="lt1"/>
          </a:solidFill>
          <a:ln w="5715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84" name="Google Shape;84;p16"/>
          <p:cNvSpPr/>
          <p:nvPr/>
        </p:nvSpPr>
        <p:spPr>
          <a:xfrm>
            <a:off x="2470476" y="2058661"/>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85" name="Google Shape;85;p16"/>
          <p:cNvSpPr/>
          <p:nvPr/>
        </p:nvSpPr>
        <p:spPr>
          <a:xfrm>
            <a:off x="3494924" y="17050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86" name="Google Shape;86;p16" descr="DNA with solid fill"/>
          <p:cNvPicPr preferRelativeResize="0"/>
          <p:nvPr/>
        </p:nvPicPr>
        <p:blipFill rotWithShape="1">
          <a:blip r:embed="rId4">
            <a:alphaModFix/>
          </a:blip>
          <a:srcRect/>
          <a:stretch/>
        </p:blipFill>
        <p:spPr>
          <a:xfrm>
            <a:off x="4729163" y="1330342"/>
            <a:ext cx="1005167" cy="1013572"/>
          </a:xfrm>
          <a:prstGeom prst="rect">
            <a:avLst/>
          </a:prstGeom>
          <a:noFill/>
          <a:ln>
            <a:noFill/>
          </a:ln>
        </p:spPr>
      </p:pic>
      <p:sp>
        <p:nvSpPr>
          <p:cNvPr id="87" name="Google Shape;87;p16"/>
          <p:cNvSpPr txBox="1"/>
          <p:nvPr/>
        </p:nvSpPr>
        <p:spPr>
          <a:xfrm>
            <a:off x="3408830" y="1408580"/>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DNA extraction</a:t>
            </a:r>
            <a:endParaRPr sz="1100" b="0" i="0" u="none" strike="noStrike" cap="none">
              <a:solidFill>
                <a:srgbClr val="000000"/>
              </a:solidFill>
              <a:latin typeface="Arial"/>
              <a:ea typeface="Arial"/>
              <a:cs typeface="Arial"/>
              <a:sym typeface="Arial"/>
            </a:endParaRPr>
          </a:p>
        </p:txBody>
      </p:sp>
      <p:sp>
        <p:nvSpPr>
          <p:cNvPr id="88" name="Google Shape;88;p16"/>
          <p:cNvSpPr txBox="1"/>
          <p:nvPr/>
        </p:nvSpPr>
        <p:spPr>
          <a:xfrm>
            <a:off x="6022600" y="1383375"/>
            <a:ext cx="1260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Calibri"/>
                <a:ea typeface="Calibri"/>
                <a:cs typeface="Calibri"/>
                <a:sym typeface="Calibri"/>
              </a:rPr>
              <a:t>Sequencing</a:t>
            </a:r>
            <a:endParaRPr sz="1100" b="0" i="0" u="none" strike="noStrike" cap="none" dirty="0">
              <a:solidFill>
                <a:srgbClr val="000000"/>
              </a:solidFill>
              <a:latin typeface="Arial"/>
              <a:ea typeface="Arial"/>
              <a:cs typeface="Arial"/>
              <a:sym typeface="Arial"/>
            </a:endParaRPr>
          </a:p>
        </p:txBody>
      </p:sp>
      <p:sp>
        <p:nvSpPr>
          <p:cNvPr id="89" name="Google Shape;89;p16"/>
          <p:cNvSpPr/>
          <p:nvPr/>
        </p:nvSpPr>
        <p:spPr>
          <a:xfrm>
            <a:off x="6024651" y="1688245"/>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nvGrpSpPr>
          <p:cNvPr id="2" name="Group 1">
            <a:extLst>
              <a:ext uri="{FF2B5EF4-FFF2-40B4-BE49-F238E27FC236}">
                <a16:creationId xmlns:a16="http://schemas.microsoft.com/office/drawing/2014/main" id="{0FE684A3-7E24-319E-595D-5BE7FFA6A87A}"/>
              </a:ext>
            </a:extLst>
          </p:cNvPr>
          <p:cNvGrpSpPr/>
          <p:nvPr/>
        </p:nvGrpSpPr>
        <p:grpSpPr>
          <a:xfrm>
            <a:off x="7529931" y="1080806"/>
            <a:ext cx="1272831" cy="1499181"/>
            <a:chOff x="7529931" y="1080806"/>
            <a:chExt cx="1272831" cy="1499181"/>
          </a:xfrm>
        </p:grpSpPr>
        <p:sp>
          <p:nvSpPr>
            <p:cNvPr id="90" name="Google Shape;90;p16"/>
            <p:cNvSpPr/>
            <p:nvPr/>
          </p:nvSpPr>
          <p:spPr>
            <a:xfrm>
              <a:off x="7597168" y="151237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1" name="Google Shape;91;p16"/>
            <p:cNvSpPr/>
            <p:nvPr/>
          </p:nvSpPr>
          <p:spPr>
            <a:xfrm>
              <a:off x="7849300" y="176450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2" name="Google Shape;92;p16"/>
            <p:cNvSpPr/>
            <p:nvPr/>
          </p:nvSpPr>
          <p:spPr>
            <a:xfrm>
              <a:off x="7958557" y="187376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3" name="Google Shape;93;p16"/>
            <p:cNvSpPr/>
            <p:nvPr/>
          </p:nvSpPr>
          <p:spPr>
            <a:xfrm>
              <a:off x="8345160" y="145354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4" name="Google Shape;94;p16"/>
            <p:cNvSpPr/>
            <p:nvPr/>
          </p:nvSpPr>
          <p:spPr>
            <a:xfrm>
              <a:off x="7597167" y="2344409"/>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5" name="Google Shape;95;p16"/>
            <p:cNvSpPr/>
            <p:nvPr/>
          </p:nvSpPr>
          <p:spPr>
            <a:xfrm>
              <a:off x="7983770" y="224355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6" name="Google Shape;96;p16"/>
            <p:cNvSpPr/>
            <p:nvPr/>
          </p:nvSpPr>
          <p:spPr>
            <a:xfrm>
              <a:off x="8252711" y="215951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7" name="Google Shape;97;p16"/>
            <p:cNvSpPr/>
            <p:nvPr/>
          </p:nvSpPr>
          <p:spPr>
            <a:xfrm>
              <a:off x="8076219" y="236962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8" name="Google Shape;98;p16"/>
            <p:cNvSpPr/>
            <p:nvPr/>
          </p:nvSpPr>
          <p:spPr>
            <a:xfrm>
              <a:off x="8143454" y="161322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9" name="Google Shape;99;p16"/>
            <p:cNvSpPr/>
            <p:nvPr/>
          </p:nvSpPr>
          <p:spPr>
            <a:xfrm>
              <a:off x="8252711" y="172248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00" name="Google Shape;100;p16"/>
            <p:cNvSpPr/>
            <p:nvPr/>
          </p:nvSpPr>
          <p:spPr>
            <a:xfrm>
              <a:off x="7714828" y="1655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01" name="Google Shape;101;p16"/>
            <p:cNvSpPr/>
            <p:nvPr/>
          </p:nvSpPr>
          <p:spPr>
            <a:xfrm>
              <a:off x="7529931" y="19409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02" name="Google Shape;102;p16"/>
            <p:cNvSpPr/>
            <p:nvPr/>
          </p:nvSpPr>
          <p:spPr>
            <a:xfrm>
              <a:off x="8437607" y="202504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03" name="Google Shape;103;p16"/>
            <p:cNvSpPr/>
            <p:nvPr/>
          </p:nvSpPr>
          <p:spPr>
            <a:xfrm>
              <a:off x="8437607"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04" name="Google Shape;104;p16"/>
            <p:cNvSpPr/>
            <p:nvPr/>
          </p:nvSpPr>
          <p:spPr>
            <a:xfrm>
              <a:off x="7630783" y="2159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05" name="Google Shape;105;p16"/>
            <p:cNvSpPr/>
            <p:nvPr/>
          </p:nvSpPr>
          <p:spPr>
            <a:xfrm>
              <a:off x="8034194" y="205025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06" name="Google Shape;106;p16"/>
            <p:cNvSpPr/>
            <p:nvPr/>
          </p:nvSpPr>
          <p:spPr>
            <a:xfrm>
              <a:off x="7849297" y="24956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07" name="Google Shape;107;p16"/>
            <p:cNvSpPr txBox="1"/>
            <p:nvPr/>
          </p:nvSpPr>
          <p:spPr>
            <a:xfrm>
              <a:off x="7854762" y="1080806"/>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Reads</a:t>
              </a:r>
              <a:endParaRPr sz="1500" b="1" i="0" u="none" strike="noStrike" cap="none">
                <a:solidFill>
                  <a:schemeClr val="dk1"/>
                </a:solidFill>
                <a:latin typeface="Calibri"/>
                <a:ea typeface="Calibri"/>
                <a:cs typeface="Calibri"/>
                <a:sym typeface="Calibri"/>
              </a:endParaRPr>
            </a:p>
          </p:txBody>
        </p:sp>
        <p:sp>
          <p:nvSpPr>
            <p:cNvPr id="108" name="Google Shape;108;p16"/>
            <p:cNvSpPr/>
            <p:nvPr/>
          </p:nvSpPr>
          <p:spPr>
            <a:xfrm>
              <a:off x="7588761"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110" name="Google Shape;110;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3</a:t>
            </a:fld>
            <a:endParaRPr/>
          </a:p>
        </p:txBody>
      </p:sp>
      <p:pic>
        <p:nvPicPr>
          <p:cNvPr id="111" name="Google Shape;111;p16"/>
          <p:cNvPicPr preferRelativeResize="0"/>
          <p:nvPr/>
        </p:nvPicPr>
        <p:blipFill rotWithShape="1">
          <a:blip r:embed="rId5">
            <a:alphaModFix/>
          </a:blip>
          <a:srcRect t="44399" r="41038" b="28367"/>
          <a:stretch/>
        </p:blipFill>
        <p:spPr>
          <a:xfrm>
            <a:off x="55129" y="1132205"/>
            <a:ext cx="1866899" cy="1407274"/>
          </a:xfrm>
          <a:prstGeom prst="rect">
            <a:avLst/>
          </a:prstGeom>
          <a:noFill/>
          <a:ln>
            <a:noFill/>
          </a:ln>
        </p:spPr>
      </p:pic>
      <p:sp>
        <p:nvSpPr>
          <p:cNvPr id="112" name="Google Shape;112;p16"/>
          <p:cNvSpPr txBox="1"/>
          <p:nvPr/>
        </p:nvSpPr>
        <p:spPr>
          <a:xfrm>
            <a:off x="2309800" y="2546100"/>
            <a:ext cx="205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Experimental part</a:t>
            </a:r>
            <a:endParaRPr sz="18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1"/>
                                        </p:tgtEl>
                                        <p:attrNameLst>
                                          <p:attrName>style.visibility</p:attrName>
                                        </p:attrNameLst>
                                      </p:cBhvr>
                                      <p:to>
                                        <p:strVal val="visible"/>
                                      </p:to>
                                    </p:set>
                                    <p:animEffect transition="in" filter="fade">
                                      <p:cBhvr>
                                        <p:cTn id="10" dur="500"/>
                                        <p:tgtEl>
                                          <p:spTgt spid="8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3"/>
                                        </p:tgtEl>
                                        <p:attrNameLst>
                                          <p:attrName>style.visibility</p:attrName>
                                        </p:attrNameLst>
                                      </p:cBhvr>
                                      <p:to>
                                        <p:strVal val="visible"/>
                                      </p:to>
                                    </p:set>
                                    <p:animEffect transition="in" filter="fade">
                                      <p:cBhvr>
                                        <p:cTn id="13" dur="500"/>
                                        <p:tgtEl>
                                          <p:spTgt spid="8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4"/>
                                        </p:tgtEl>
                                        <p:attrNameLst>
                                          <p:attrName>style.visibility</p:attrName>
                                        </p:attrNameLst>
                                      </p:cBhvr>
                                      <p:to>
                                        <p:strVal val="visible"/>
                                      </p:to>
                                    </p:set>
                                    <p:animEffect transition="in" filter="fade">
                                      <p:cBhvr>
                                        <p:cTn id="16" dur="500"/>
                                        <p:tgtEl>
                                          <p:spTgt spid="8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5"/>
                                        </p:tgtEl>
                                        <p:attrNameLst>
                                          <p:attrName>style.visibility</p:attrName>
                                        </p:attrNameLst>
                                      </p:cBhvr>
                                      <p:to>
                                        <p:strVal val="visible"/>
                                      </p:to>
                                    </p:set>
                                    <p:animEffect transition="in" filter="fade">
                                      <p:cBhvr>
                                        <p:cTn id="21" dur="500"/>
                                        <p:tgtEl>
                                          <p:spTgt spid="8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fade">
                                      <p:cBhvr>
                                        <p:cTn id="24" dur="500"/>
                                        <p:tgtEl>
                                          <p:spTgt spid="87"/>
                                        </p:tgtEl>
                                      </p:cBhvr>
                                    </p:animEffect>
                                  </p:childTnLst>
                                </p:cTn>
                              </p:par>
                              <p:par>
                                <p:cTn id="25" presetID="10" presetClass="entr" presetSubtype="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animEffect transition="in" filter="fade">
                                      <p:cBhvr>
                                        <p:cTn id="27" dur="500"/>
                                        <p:tgtEl>
                                          <p:spTgt spid="8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8"/>
                                        </p:tgtEl>
                                        <p:attrNameLst>
                                          <p:attrName>style.visibility</p:attrName>
                                        </p:attrNameLst>
                                      </p:cBhvr>
                                      <p:to>
                                        <p:strVal val="visible"/>
                                      </p:to>
                                    </p:set>
                                    <p:animEffect transition="in" filter="fade">
                                      <p:cBhvr>
                                        <p:cTn id="32" dur="500"/>
                                        <p:tgtEl>
                                          <p:spTgt spid="8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fade">
                                      <p:cBhvr>
                                        <p:cTn id="35" dur="500"/>
                                        <p:tgtEl>
                                          <p:spTgt spid="89"/>
                                        </p:tgtEl>
                                      </p:cBhvr>
                                    </p:animEffect>
                                  </p:childTnLst>
                                </p:cTn>
                              </p:par>
                              <p:par>
                                <p:cTn id="36" presetID="10" presetClass="entr" presetSubtype="0" fill="hold" nodeType="withEffect">
                                  <p:stCondLst>
                                    <p:cond delay="0"/>
                                  </p:stCondLst>
                                  <p:childTnLst>
                                    <p:set>
                                      <p:cBhvr>
                                        <p:cTn id="37" dur="1" fill="hold">
                                          <p:stCondLst>
                                            <p:cond delay="0"/>
                                          </p:stCondLst>
                                        </p:cTn>
                                        <p:tgtEl>
                                          <p:spTgt spid="78"/>
                                        </p:tgtEl>
                                        <p:attrNameLst>
                                          <p:attrName>style.visibility</p:attrName>
                                        </p:attrNameLst>
                                      </p:cBhvr>
                                      <p:to>
                                        <p:strVal val="visible"/>
                                      </p:to>
                                    </p:set>
                                    <p:animEffect transition="in" filter="fade">
                                      <p:cBhvr>
                                        <p:cTn id="38" dur="500"/>
                                        <p:tgtEl>
                                          <p:spTgt spid="7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2" grpId="0" animBg="1"/>
      <p:bldP spid="83" grpId="0" animBg="1"/>
      <p:bldP spid="84" grpId="0" animBg="1"/>
      <p:bldP spid="85" grpId="0" animBg="1"/>
      <p:bldP spid="87" grpId="0"/>
      <p:bldP spid="88" grpId="0"/>
      <p:bldP spid="8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p:nvPr/>
        </p:nvSpPr>
        <p:spPr>
          <a:xfrm>
            <a:off x="694425" y="2432275"/>
            <a:ext cx="8077825" cy="2486025"/>
          </a:xfrm>
          <a:custGeom>
            <a:avLst/>
            <a:gdLst/>
            <a:ahLst/>
            <a:cxnLst/>
            <a:rect l="l" t="t" r="r" b="b"/>
            <a:pathLst>
              <a:path w="323113" h="99441" extrusionOk="0">
                <a:moveTo>
                  <a:pt x="276949" y="7997"/>
                </a:moveTo>
                <a:lnTo>
                  <a:pt x="277312" y="33805"/>
                </a:lnTo>
                <a:lnTo>
                  <a:pt x="184984" y="44710"/>
                </a:lnTo>
                <a:lnTo>
                  <a:pt x="30171" y="44916"/>
                </a:lnTo>
                <a:lnTo>
                  <a:pt x="30898" y="34738"/>
                </a:lnTo>
                <a:lnTo>
                  <a:pt x="0" y="64545"/>
                </a:lnTo>
                <a:lnTo>
                  <a:pt x="27990" y="99441"/>
                </a:lnTo>
                <a:lnTo>
                  <a:pt x="27990" y="87809"/>
                </a:lnTo>
                <a:lnTo>
                  <a:pt x="191527" y="88330"/>
                </a:lnTo>
                <a:lnTo>
                  <a:pt x="317297" y="67974"/>
                </a:lnTo>
                <a:lnTo>
                  <a:pt x="323113" y="0"/>
                </a:lnTo>
                <a:lnTo>
                  <a:pt x="298759" y="23264"/>
                </a:lnTo>
                <a:close/>
              </a:path>
            </a:pathLst>
          </a:custGeom>
          <a:solidFill>
            <a:schemeClr val="lt2"/>
          </a:solidFill>
          <a:ln>
            <a:noFill/>
          </a:ln>
        </p:spPr>
        <p:txBody>
          <a:bodyPr/>
          <a:lstStyle/>
          <a:p>
            <a:endParaRPr lang="nl-NL"/>
          </a:p>
        </p:txBody>
      </p:sp>
      <p:pic>
        <p:nvPicPr>
          <p:cNvPr id="118" name="Google Shape;118;p17" descr="A picture containing electronics, indoor, computer&#10;&#10;Description automatically generated"/>
          <p:cNvPicPr preferRelativeResize="0"/>
          <p:nvPr/>
        </p:nvPicPr>
        <p:blipFill rotWithShape="1">
          <a:blip r:embed="rId3">
            <a:alphaModFix/>
          </a:blip>
          <a:srcRect/>
          <a:stretch/>
        </p:blipFill>
        <p:spPr>
          <a:xfrm>
            <a:off x="5518337" y="1607583"/>
            <a:ext cx="2057400" cy="1407262"/>
          </a:xfrm>
          <a:prstGeom prst="rect">
            <a:avLst/>
          </a:prstGeom>
          <a:noFill/>
          <a:ln>
            <a:noFill/>
          </a:ln>
        </p:spPr>
      </p:pic>
      <p:sp>
        <p:nvSpPr>
          <p:cNvPr id="119" name="Google Shape;119;p17"/>
          <p:cNvSpPr/>
          <p:nvPr/>
        </p:nvSpPr>
        <p:spPr>
          <a:xfrm>
            <a:off x="-232475" y="1030675"/>
            <a:ext cx="7602900" cy="1984200"/>
          </a:xfrm>
          <a:prstGeom prst="roundRect">
            <a:avLst>
              <a:gd name="adj" fmla="val 16667"/>
            </a:avLst>
          </a:prstGeom>
          <a:solidFill>
            <a:srgbClr val="EEEEEE">
              <a:alpha val="658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 name="Google Shape;120;p1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a:latin typeface="Arial"/>
                <a:ea typeface="Arial"/>
                <a:cs typeface="Arial"/>
                <a:sym typeface="Arial"/>
              </a:rPr>
              <a:t>Metagenomics: </a:t>
            </a:r>
            <a:r>
              <a:rPr lang="en"/>
              <a:t>Overview (today’s focus)</a:t>
            </a:r>
            <a:endParaRPr>
              <a:latin typeface="Arial"/>
              <a:ea typeface="Arial"/>
              <a:cs typeface="Arial"/>
              <a:sym typeface="Arial"/>
            </a:endParaRPr>
          </a:p>
        </p:txBody>
      </p:sp>
      <p:sp>
        <p:nvSpPr>
          <p:cNvPr id="121" name="Google Shape;121;p17"/>
          <p:cNvSpPr/>
          <p:nvPr/>
        </p:nvSpPr>
        <p:spPr>
          <a:xfrm>
            <a:off x="2378028" y="1226624"/>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2" name="Google Shape;122;p17"/>
          <p:cNvSpPr/>
          <p:nvPr/>
        </p:nvSpPr>
        <p:spPr>
          <a:xfrm>
            <a:off x="2235152" y="1663653"/>
            <a:ext cx="344400" cy="344400"/>
          </a:xfrm>
          <a:prstGeom prst="ellipse">
            <a:avLst/>
          </a:prstGeom>
          <a:solidFill>
            <a:schemeClr val="lt1"/>
          </a:solidFill>
          <a:ln w="571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3" name="Google Shape;123;p17"/>
          <p:cNvSpPr/>
          <p:nvPr/>
        </p:nvSpPr>
        <p:spPr>
          <a:xfrm>
            <a:off x="2697395" y="1571204"/>
            <a:ext cx="344400" cy="344400"/>
          </a:xfrm>
          <a:prstGeom prst="ellipse">
            <a:avLst/>
          </a:prstGeom>
          <a:solidFill>
            <a:schemeClr val="lt1"/>
          </a:solidFill>
          <a:ln w="5715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4" name="Google Shape;124;p17"/>
          <p:cNvSpPr/>
          <p:nvPr/>
        </p:nvSpPr>
        <p:spPr>
          <a:xfrm>
            <a:off x="2470476" y="2058661"/>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5" name="Google Shape;125;p17"/>
          <p:cNvSpPr/>
          <p:nvPr/>
        </p:nvSpPr>
        <p:spPr>
          <a:xfrm>
            <a:off x="3494924" y="17050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126" name="Google Shape;126;p17" descr="DNA with solid fill"/>
          <p:cNvPicPr preferRelativeResize="0"/>
          <p:nvPr/>
        </p:nvPicPr>
        <p:blipFill rotWithShape="1">
          <a:blip r:embed="rId4">
            <a:alphaModFix/>
          </a:blip>
          <a:srcRect/>
          <a:stretch/>
        </p:blipFill>
        <p:spPr>
          <a:xfrm>
            <a:off x="4729163" y="1330342"/>
            <a:ext cx="1005167" cy="1013572"/>
          </a:xfrm>
          <a:prstGeom prst="rect">
            <a:avLst/>
          </a:prstGeom>
          <a:noFill/>
          <a:ln>
            <a:noFill/>
          </a:ln>
        </p:spPr>
      </p:pic>
      <p:sp>
        <p:nvSpPr>
          <p:cNvPr id="127" name="Google Shape;127;p17"/>
          <p:cNvSpPr txBox="1"/>
          <p:nvPr/>
        </p:nvSpPr>
        <p:spPr>
          <a:xfrm>
            <a:off x="3408830" y="1408580"/>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DNA extraction</a:t>
            </a:r>
            <a:endParaRPr sz="1100" b="0" i="0" u="none" strike="noStrike" cap="none">
              <a:solidFill>
                <a:srgbClr val="000000"/>
              </a:solidFill>
              <a:latin typeface="Arial"/>
              <a:ea typeface="Arial"/>
              <a:cs typeface="Arial"/>
              <a:sym typeface="Arial"/>
            </a:endParaRPr>
          </a:p>
        </p:txBody>
      </p:sp>
      <p:sp>
        <p:nvSpPr>
          <p:cNvPr id="128" name="Google Shape;128;p17"/>
          <p:cNvSpPr txBox="1"/>
          <p:nvPr/>
        </p:nvSpPr>
        <p:spPr>
          <a:xfrm>
            <a:off x="6022600" y="1383375"/>
            <a:ext cx="1260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Sequencing</a:t>
            </a:r>
            <a:endParaRPr sz="1100" b="0" i="0" u="none" strike="noStrike" cap="none">
              <a:solidFill>
                <a:srgbClr val="000000"/>
              </a:solidFill>
              <a:latin typeface="Arial"/>
              <a:ea typeface="Arial"/>
              <a:cs typeface="Arial"/>
              <a:sym typeface="Arial"/>
            </a:endParaRPr>
          </a:p>
        </p:txBody>
      </p:sp>
      <p:sp>
        <p:nvSpPr>
          <p:cNvPr id="129" name="Google Shape;129;p17"/>
          <p:cNvSpPr/>
          <p:nvPr/>
        </p:nvSpPr>
        <p:spPr>
          <a:xfrm>
            <a:off x="6024651" y="1688245"/>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 name="Google Shape;130;p17"/>
          <p:cNvSpPr/>
          <p:nvPr/>
        </p:nvSpPr>
        <p:spPr>
          <a:xfrm>
            <a:off x="7597168" y="151237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1" name="Google Shape;131;p17"/>
          <p:cNvSpPr/>
          <p:nvPr/>
        </p:nvSpPr>
        <p:spPr>
          <a:xfrm>
            <a:off x="7849300" y="176450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2" name="Google Shape;132;p17"/>
          <p:cNvSpPr/>
          <p:nvPr/>
        </p:nvSpPr>
        <p:spPr>
          <a:xfrm>
            <a:off x="7958557" y="187376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3" name="Google Shape;133;p17"/>
          <p:cNvSpPr/>
          <p:nvPr/>
        </p:nvSpPr>
        <p:spPr>
          <a:xfrm>
            <a:off x="8345160" y="145354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4" name="Google Shape;134;p17"/>
          <p:cNvSpPr/>
          <p:nvPr/>
        </p:nvSpPr>
        <p:spPr>
          <a:xfrm>
            <a:off x="7597167" y="2344409"/>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 name="Google Shape;135;p17"/>
          <p:cNvSpPr/>
          <p:nvPr/>
        </p:nvSpPr>
        <p:spPr>
          <a:xfrm>
            <a:off x="7983770" y="224355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 name="Google Shape;136;p17"/>
          <p:cNvSpPr/>
          <p:nvPr/>
        </p:nvSpPr>
        <p:spPr>
          <a:xfrm>
            <a:off x="8252711" y="215951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7" name="Google Shape;137;p17"/>
          <p:cNvSpPr/>
          <p:nvPr/>
        </p:nvSpPr>
        <p:spPr>
          <a:xfrm>
            <a:off x="8076219" y="236962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8" name="Google Shape;138;p17"/>
          <p:cNvSpPr/>
          <p:nvPr/>
        </p:nvSpPr>
        <p:spPr>
          <a:xfrm>
            <a:off x="8143454" y="161322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9" name="Google Shape;139;p17"/>
          <p:cNvSpPr/>
          <p:nvPr/>
        </p:nvSpPr>
        <p:spPr>
          <a:xfrm>
            <a:off x="8252711" y="172248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0" name="Google Shape;140;p17"/>
          <p:cNvSpPr/>
          <p:nvPr/>
        </p:nvSpPr>
        <p:spPr>
          <a:xfrm>
            <a:off x="7714828" y="1655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 name="Google Shape;141;p17"/>
          <p:cNvSpPr/>
          <p:nvPr/>
        </p:nvSpPr>
        <p:spPr>
          <a:xfrm>
            <a:off x="7529931" y="19409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2" name="Google Shape;142;p17"/>
          <p:cNvSpPr/>
          <p:nvPr/>
        </p:nvSpPr>
        <p:spPr>
          <a:xfrm>
            <a:off x="8437607" y="202504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3" name="Google Shape;143;p17"/>
          <p:cNvSpPr/>
          <p:nvPr/>
        </p:nvSpPr>
        <p:spPr>
          <a:xfrm>
            <a:off x="8437607"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4" name="Google Shape;144;p17"/>
          <p:cNvSpPr/>
          <p:nvPr/>
        </p:nvSpPr>
        <p:spPr>
          <a:xfrm>
            <a:off x="7630783" y="2159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5" name="Google Shape;145;p17"/>
          <p:cNvSpPr/>
          <p:nvPr/>
        </p:nvSpPr>
        <p:spPr>
          <a:xfrm>
            <a:off x="8034194" y="205025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6" name="Google Shape;146;p17"/>
          <p:cNvSpPr/>
          <p:nvPr/>
        </p:nvSpPr>
        <p:spPr>
          <a:xfrm>
            <a:off x="7849297" y="24956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7" name="Google Shape;147;p17"/>
          <p:cNvSpPr txBox="1"/>
          <p:nvPr/>
        </p:nvSpPr>
        <p:spPr>
          <a:xfrm>
            <a:off x="7854762" y="1080806"/>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Reads</a:t>
            </a:r>
            <a:endParaRPr sz="1500" b="1" i="0" u="none" strike="noStrike" cap="none">
              <a:solidFill>
                <a:schemeClr val="dk1"/>
              </a:solidFill>
              <a:latin typeface="Calibri"/>
              <a:ea typeface="Calibri"/>
              <a:cs typeface="Calibri"/>
              <a:sym typeface="Calibri"/>
            </a:endParaRPr>
          </a:p>
        </p:txBody>
      </p:sp>
      <p:sp>
        <p:nvSpPr>
          <p:cNvPr id="148" name="Google Shape;148;p17"/>
          <p:cNvSpPr/>
          <p:nvPr/>
        </p:nvSpPr>
        <p:spPr>
          <a:xfrm>
            <a:off x="7588761"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0" name="Google Shape;150;p1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a:t>
            </a:fld>
            <a:endParaRPr/>
          </a:p>
        </p:txBody>
      </p:sp>
      <p:pic>
        <p:nvPicPr>
          <p:cNvPr id="151" name="Google Shape;151;p17"/>
          <p:cNvPicPr preferRelativeResize="0"/>
          <p:nvPr/>
        </p:nvPicPr>
        <p:blipFill rotWithShape="1">
          <a:blip r:embed="rId5">
            <a:alphaModFix/>
          </a:blip>
          <a:srcRect t="44399" r="41038" b="28367"/>
          <a:stretch/>
        </p:blipFill>
        <p:spPr>
          <a:xfrm>
            <a:off x="55129" y="1132205"/>
            <a:ext cx="1866899" cy="1407274"/>
          </a:xfrm>
          <a:prstGeom prst="rect">
            <a:avLst/>
          </a:prstGeom>
          <a:noFill/>
          <a:ln>
            <a:noFill/>
          </a:ln>
        </p:spPr>
      </p:pic>
      <p:sp>
        <p:nvSpPr>
          <p:cNvPr id="152" name="Google Shape;152;p17"/>
          <p:cNvSpPr txBox="1"/>
          <p:nvPr/>
        </p:nvSpPr>
        <p:spPr>
          <a:xfrm>
            <a:off x="2309800" y="2546100"/>
            <a:ext cx="205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Experimental part</a:t>
            </a:r>
            <a:endParaRPr sz="1800">
              <a:solidFill>
                <a:schemeClr val="dk1"/>
              </a:solidFill>
            </a:endParaRPr>
          </a:p>
        </p:txBody>
      </p:sp>
      <p:sp>
        <p:nvSpPr>
          <p:cNvPr id="153" name="Google Shape;153;p17"/>
          <p:cNvSpPr txBox="1"/>
          <p:nvPr/>
        </p:nvSpPr>
        <p:spPr>
          <a:xfrm>
            <a:off x="6546900" y="4491525"/>
            <a:ext cx="2682600" cy="4617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2"/>
              </a:buClr>
              <a:buSzPts val="1800"/>
              <a:buAutoNum type="arabicParenR"/>
            </a:pPr>
            <a:r>
              <a:rPr lang="en" sz="1800">
                <a:solidFill>
                  <a:schemeClr val="dk2"/>
                </a:solidFill>
              </a:rPr>
              <a:t>Data preprocessing</a:t>
            </a:r>
            <a:endParaRPr sz="1800">
              <a:solidFill>
                <a:schemeClr val="dk2"/>
              </a:solidFill>
            </a:endParaRPr>
          </a:p>
        </p:txBody>
      </p:sp>
      <p:sp>
        <p:nvSpPr>
          <p:cNvPr id="154" name="Google Shape;154;p17"/>
          <p:cNvSpPr txBox="1"/>
          <p:nvPr/>
        </p:nvSpPr>
        <p:spPr>
          <a:xfrm>
            <a:off x="2697395" y="4491970"/>
            <a:ext cx="1705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3) Assembly</a:t>
            </a:r>
            <a:endParaRPr sz="1800" dirty="0">
              <a:solidFill>
                <a:schemeClr val="dk2"/>
              </a:solidFill>
            </a:endParaRPr>
          </a:p>
        </p:txBody>
      </p:sp>
      <p:sp>
        <p:nvSpPr>
          <p:cNvPr id="155" name="Google Shape;155;p17"/>
          <p:cNvSpPr txBox="1"/>
          <p:nvPr/>
        </p:nvSpPr>
        <p:spPr>
          <a:xfrm>
            <a:off x="4490400" y="4491525"/>
            <a:ext cx="1967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2) Read-based</a:t>
            </a:r>
            <a:endParaRPr sz="1800" dirty="0">
              <a:solidFill>
                <a:schemeClr val="dk2"/>
              </a:solidFill>
            </a:endParaRPr>
          </a:p>
        </p:txBody>
      </p:sp>
      <p:sp>
        <p:nvSpPr>
          <p:cNvPr id="156" name="Google Shape;156;p17"/>
          <p:cNvSpPr txBox="1"/>
          <p:nvPr/>
        </p:nvSpPr>
        <p:spPr>
          <a:xfrm>
            <a:off x="1352550" y="4491525"/>
            <a:ext cx="1333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4) Binning</a:t>
            </a:r>
            <a:endParaRPr sz="1800" dirty="0">
              <a:solidFill>
                <a:schemeClr val="dk2"/>
              </a:solidFill>
            </a:endParaRPr>
          </a:p>
        </p:txBody>
      </p:sp>
      <p:sp>
        <p:nvSpPr>
          <p:cNvPr id="157" name="Google Shape;157;p17"/>
          <p:cNvSpPr txBox="1"/>
          <p:nvPr/>
        </p:nvSpPr>
        <p:spPr>
          <a:xfrm>
            <a:off x="-21075" y="3784175"/>
            <a:ext cx="836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Day 2</a:t>
            </a:r>
            <a:endParaRPr sz="1800" dirty="0">
              <a:solidFill>
                <a:schemeClr val="dk2"/>
              </a:solidFill>
            </a:endParaRPr>
          </a:p>
        </p:txBody>
      </p:sp>
      <p:pic>
        <p:nvPicPr>
          <p:cNvPr id="158" name="Google Shape;158;p17" descr="Chart&#10;&#10;Description automatically generated"/>
          <p:cNvPicPr preferRelativeResize="0"/>
          <p:nvPr/>
        </p:nvPicPr>
        <p:blipFill rotWithShape="1">
          <a:blip r:embed="rId6">
            <a:alphaModFix/>
          </a:blip>
          <a:srcRect/>
          <a:stretch/>
        </p:blipFill>
        <p:spPr>
          <a:xfrm>
            <a:off x="7214497" y="3392548"/>
            <a:ext cx="1005150" cy="693218"/>
          </a:xfrm>
          <a:prstGeom prst="rect">
            <a:avLst/>
          </a:prstGeom>
          <a:noFill/>
          <a:ln>
            <a:noFill/>
          </a:ln>
        </p:spPr>
      </p:pic>
      <p:pic>
        <p:nvPicPr>
          <p:cNvPr id="159" name="Google Shape;159;p17" descr="Diagram&#10;&#10;Description automatically generated"/>
          <p:cNvPicPr preferRelativeResize="0">
            <a:picLocks noGrp="1"/>
          </p:cNvPicPr>
          <p:nvPr>
            <p:ph type="body" idx="1"/>
          </p:nvPr>
        </p:nvPicPr>
        <p:blipFill rotWithShape="1">
          <a:blip r:embed="rId7">
            <a:alphaModFix/>
          </a:blip>
          <a:srcRect r="50005" b="-241"/>
          <a:stretch/>
        </p:blipFill>
        <p:spPr>
          <a:xfrm>
            <a:off x="2702648" y="3622046"/>
            <a:ext cx="791100" cy="943800"/>
          </a:xfrm>
          <a:prstGeom prst="rect">
            <a:avLst/>
          </a:prstGeom>
          <a:noFill/>
          <a:ln>
            <a:noFill/>
          </a:ln>
        </p:spPr>
      </p:pic>
      <p:grpSp>
        <p:nvGrpSpPr>
          <p:cNvPr id="160" name="Google Shape;160;p17"/>
          <p:cNvGrpSpPr/>
          <p:nvPr/>
        </p:nvGrpSpPr>
        <p:grpSpPr>
          <a:xfrm>
            <a:off x="5542413" y="3847072"/>
            <a:ext cx="947979" cy="523112"/>
            <a:chOff x="10298723" y="5136906"/>
            <a:chExt cx="1594582" cy="918063"/>
          </a:xfrm>
        </p:grpSpPr>
        <p:pic>
          <p:nvPicPr>
            <p:cNvPr id="161" name="Google Shape;161;p17" descr="Database with solid fill"/>
            <p:cNvPicPr preferRelativeResize="0"/>
            <p:nvPr/>
          </p:nvPicPr>
          <p:blipFill rotWithShape="1">
            <a:blip r:embed="rId8">
              <a:alphaModFix/>
            </a:blip>
            <a:srcRect/>
            <a:stretch/>
          </p:blipFill>
          <p:spPr>
            <a:xfrm>
              <a:off x="10298723" y="5140569"/>
              <a:ext cx="914400" cy="914400"/>
            </a:xfrm>
            <a:prstGeom prst="rect">
              <a:avLst/>
            </a:prstGeom>
            <a:noFill/>
            <a:ln>
              <a:noFill/>
            </a:ln>
          </p:spPr>
        </p:pic>
        <p:pic>
          <p:nvPicPr>
            <p:cNvPr id="162" name="Google Shape;162;p17" descr="Database outline"/>
            <p:cNvPicPr preferRelativeResize="0"/>
            <p:nvPr/>
          </p:nvPicPr>
          <p:blipFill rotWithShape="1">
            <a:blip r:embed="rId9">
              <a:alphaModFix/>
            </a:blip>
            <a:srcRect/>
            <a:stretch/>
          </p:blipFill>
          <p:spPr>
            <a:xfrm>
              <a:off x="10978905" y="5136906"/>
              <a:ext cx="914400" cy="914400"/>
            </a:xfrm>
            <a:prstGeom prst="rect">
              <a:avLst/>
            </a:prstGeom>
            <a:noFill/>
            <a:ln>
              <a:noFill/>
            </a:ln>
          </p:spPr>
        </p:pic>
      </p:grpSp>
      <p:pic>
        <p:nvPicPr>
          <p:cNvPr id="163" name="Google Shape;163;p17"/>
          <p:cNvPicPr preferRelativeResize="0"/>
          <p:nvPr/>
        </p:nvPicPr>
        <p:blipFill rotWithShape="1">
          <a:blip r:embed="rId10">
            <a:alphaModFix/>
          </a:blip>
          <a:srcRect/>
          <a:stretch/>
        </p:blipFill>
        <p:spPr>
          <a:xfrm>
            <a:off x="3546900" y="3731851"/>
            <a:ext cx="791100" cy="632880"/>
          </a:xfrm>
          <a:prstGeom prst="rect">
            <a:avLst/>
          </a:prstGeom>
          <a:noFill/>
          <a:ln>
            <a:noFill/>
          </a:ln>
        </p:spPr>
      </p:pic>
      <p:pic>
        <p:nvPicPr>
          <p:cNvPr id="164" name="Google Shape;164;p17" descr="Diagram&#10;&#10;Description automatically generated"/>
          <p:cNvPicPr preferRelativeResize="0">
            <a:picLocks noGrp="1"/>
          </p:cNvPicPr>
          <p:nvPr>
            <p:ph type="body" idx="1"/>
          </p:nvPr>
        </p:nvPicPr>
        <p:blipFill rotWithShape="1">
          <a:blip r:embed="rId7">
            <a:alphaModFix/>
          </a:blip>
          <a:srcRect l="50042" r="80"/>
          <a:stretch/>
        </p:blipFill>
        <p:spPr>
          <a:xfrm>
            <a:off x="4777176" y="3631731"/>
            <a:ext cx="791100" cy="943500"/>
          </a:xfrm>
          <a:prstGeom prst="rect">
            <a:avLst/>
          </a:prstGeom>
          <a:noFill/>
          <a:ln>
            <a:noFill/>
          </a:ln>
        </p:spPr>
      </p:pic>
      <p:pic>
        <p:nvPicPr>
          <p:cNvPr id="165" name="Google Shape;165;p17" descr="Chart, scatter chart&#10;&#10;Description automatically generated"/>
          <p:cNvPicPr preferRelativeResize="0"/>
          <p:nvPr/>
        </p:nvPicPr>
        <p:blipFill rotWithShape="1">
          <a:blip r:embed="rId11">
            <a:alphaModFix/>
          </a:blip>
          <a:srcRect/>
          <a:stretch/>
        </p:blipFill>
        <p:spPr>
          <a:xfrm>
            <a:off x="1188149" y="3711499"/>
            <a:ext cx="836100" cy="825979"/>
          </a:xfrm>
          <a:prstGeom prst="rect">
            <a:avLst/>
          </a:prstGeom>
          <a:noFill/>
          <a:ln>
            <a:noFill/>
          </a:ln>
        </p:spPr>
      </p:pic>
      <p:sp>
        <p:nvSpPr>
          <p:cNvPr id="166" name="Google Shape;166;p17"/>
          <p:cNvSpPr txBox="1"/>
          <p:nvPr/>
        </p:nvSpPr>
        <p:spPr>
          <a:xfrm>
            <a:off x="2309800" y="2890675"/>
            <a:ext cx="2467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Computational part</a:t>
            </a:r>
            <a:endParaRPr sz="18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8"/>
                                        </p:tgtEl>
                                        <p:attrNameLst>
                                          <p:attrName>style.visibility</p:attrName>
                                        </p:attrNameLst>
                                      </p:cBhvr>
                                      <p:to>
                                        <p:strVal val="visible"/>
                                      </p:to>
                                    </p:set>
                                    <p:animEffect transition="in" filter="fade">
                                      <p:cBhvr>
                                        <p:cTn id="7" dur="500"/>
                                        <p:tgtEl>
                                          <p:spTgt spid="15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3"/>
                                        </p:tgtEl>
                                        <p:attrNameLst>
                                          <p:attrName>style.visibility</p:attrName>
                                        </p:attrNameLst>
                                      </p:cBhvr>
                                      <p:to>
                                        <p:strVal val="visible"/>
                                      </p:to>
                                    </p:set>
                                    <p:animEffect transition="in" filter="fade">
                                      <p:cBhvr>
                                        <p:cTn id="10" dur="500"/>
                                        <p:tgtEl>
                                          <p:spTgt spid="15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5"/>
                                        </p:tgtEl>
                                        <p:attrNameLst>
                                          <p:attrName>style.visibility</p:attrName>
                                        </p:attrNameLst>
                                      </p:cBhvr>
                                      <p:to>
                                        <p:strVal val="visible"/>
                                      </p:to>
                                    </p:set>
                                    <p:animEffect transition="in" filter="fade">
                                      <p:cBhvr>
                                        <p:cTn id="15" dur="500"/>
                                        <p:tgtEl>
                                          <p:spTgt spid="155"/>
                                        </p:tgtEl>
                                      </p:cBhvr>
                                    </p:animEffect>
                                  </p:childTnLst>
                                </p:cTn>
                              </p:par>
                              <p:par>
                                <p:cTn id="16" presetID="10" presetClass="entr" presetSubtype="0" fill="hold" nodeType="withEffect">
                                  <p:stCondLst>
                                    <p:cond delay="0"/>
                                  </p:stCondLst>
                                  <p:childTnLst>
                                    <p:set>
                                      <p:cBhvr>
                                        <p:cTn id="17" dur="1" fill="hold">
                                          <p:stCondLst>
                                            <p:cond delay="0"/>
                                          </p:stCondLst>
                                        </p:cTn>
                                        <p:tgtEl>
                                          <p:spTgt spid="160"/>
                                        </p:tgtEl>
                                        <p:attrNameLst>
                                          <p:attrName>style.visibility</p:attrName>
                                        </p:attrNameLst>
                                      </p:cBhvr>
                                      <p:to>
                                        <p:strVal val="visible"/>
                                      </p:to>
                                    </p:set>
                                    <p:animEffect transition="in" filter="fade">
                                      <p:cBhvr>
                                        <p:cTn id="18" dur="500"/>
                                        <p:tgtEl>
                                          <p:spTgt spid="160"/>
                                        </p:tgtEl>
                                      </p:cBhvr>
                                    </p:animEffect>
                                  </p:childTnLst>
                                </p:cTn>
                              </p:par>
                              <p:par>
                                <p:cTn id="19" presetID="10" presetClass="entr" presetSubtype="0" fill="hold" nodeType="withEffect">
                                  <p:stCondLst>
                                    <p:cond delay="0"/>
                                  </p:stCondLst>
                                  <p:childTnLst>
                                    <p:set>
                                      <p:cBhvr>
                                        <p:cTn id="20" dur="1" fill="hold">
                                          <p:stCondLst>
                                            <p:cond delay="0"/>
                                          </p:stCondLst>
                                        </p:cTn>
                                        <p:tgtEl>
                                          <p:spTgt spid="164"/>
                                        </p:tgtEl>
                                        <p:attrNameLst>
                                          <p:attrName>style.visibility</p:attrName>
                                        </p:attrNameLst>
                                      </p:cBhvr>
                                      <p:to>
                                        <p:strVal val="visible"/>
                                      </p:to>
                                    </p:set>
                                    <p:animEffect transition="in" filter="fade">
                                      <p:cBhvr>
                                        <p:cTn id="21" dur="500"/>
                                        <p:tgtEl>
                                          <p:spTgt spid="16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3"/>
                                        </p:tgtEl>
                                        <p:attrNameLst>
                                          <p:attrName>style.visibility</p:attrName>
                                        </p:attrNameLst>
                                      </p:cBhvr>
                                      <p:to>
                                        <p:strVal val="visible"/>
                                      </p:to>
                                    </p:set>
                                    <p:animEffect transition="in" filter="fade">
                                      <p:cBhvr>
                                        <p:cTn id="26" dur="500"/>
                                        <p:tgtEl>
                                          <p:spTgt spid="16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4"/>
                                        </p:tgtEl>
                                        <p:attrNameLst>
                                          <p:attrName>style.visibility</p:attrName>
                                        </p:attrNameLst>
                                      </p:cBhvr>
                                      <p:to>
                                        <p:strVal val="visible"/>
                                      </p:to>
                                    </p:set>
                                    <p:animEffect transition="in" filter="fade">
                                      <p:cBhvr>
                                        <p:cTn id="29" dur="500"/>
                                        <p:tgtEl>
                                          <p:spTgt spid="154"/>
                                        </p:tgtEl>
                                      </p:cBhvr>
                                    </p:animEffect>
                                  </p:childTnLst>
                                </p:cTn>
                              </p:par>
                              <p:par>
                                <p:cTn id="30" presetID="10" presetClass="entr" presetSubtype="0" fill="hold" nodeType="withEffect">
                                  <p:stCondLst>
                                    <p:cond delay="0"/>
                                  </p:stCondLst>
                                  <p:childTnLst>
                                    <p:set>
                                      <p:cBhvr>
                                        <p:cTn id="31" dur="1" fill="hold">
                                          <p:stCondLst>
                                            <p:cond delay="0"/>
                                          </p:stCondLst>
                                        </p:cTn>
                                        <p:tgtEl>
                                          <p:spTgt spid="159"/>
                                        </p:tgtEl>
                                        <p:attrNameLst>
                                          <p:attrName>style.visibility</p:attrName>
                                        </p:attrNameLst>
                                      </p:cBhvr>
                                      <p:to>
                                        <p:strVal val="visible"/>
                                      </p:to>
                                    </p:set>
                                    <p:animEffect transition="in" filter="fade">
                                      <p:cBhvr>
                                        <p:cTn id="32" dur="500"/>
                                        <p:tgtEl>
                                          <p:spTgt spid="15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6"/>
                                        </p:tgtEl>
                                        <p:attrNameLst>
                                          <p:attrName>style.visibility</p:attrName>
                                        </p:attrNameLst>
                                      </p:cBhvr>
                                      <p:to>
                                        <p:strVal val="visible"/>
                                      </p:to>
                                    </p:set>
                                    <p:animEffect transition="in" filter="fade">
                                      <p:cBhvr>
                                        <p:cTn id="37" dur="500"/>
                                        <p:tgtEl>
                                          <p:spTgt spid="156"/>
                                        </p:tgtEl>
                                      </p:cBhvr>
                                    </p:animEffect>
                                  </p:childTnLst>
                                </p:cTn>
                              </p:par>
                              <p:par>
                                <p:cTn id="38" presetID="10" presetClass="entr" presetSubtype="0" fill="hold" nodeType="withEffect">
                                  <p:stCondLst>
                                    <p:cond delay="0"/>
                                  </p:stCondLst>
                                  <p:childTnLst>
                                    <p:set>
                                      <p:cBhvr>
                                        <p:cTn id="39" dur="1" fill="hold">
                                          <p:stCondLst>
                                            <p:cond delay="0"/>
                                          </p:stCondLst>
                                        </p:cTn>
                                        <p:tgtEl>
                                          <p:spTgt spid="165"/>
                                        </p:tgtEl>
                                        <p:attrNameLst>
                                          <p:attrName>style.visibility</p:attrName>
                                        </p:attrNameLst>
                                      </p:cBhvr>
                                      <p:to>
                                        <p:strVal val="visible"/>
                                      </p:to>
                                    </p:set>
                                    <p:animEffect transition="in" filter="fade">
                                      <p:cBhvr>
                                        <p:cTn id="40"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p:bldP spid="154" grpId="0"/>
      <p:bldP spid="155" grpId="0"/>
      <p:bldP spid="15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A3664FFE-569A-BAC2-3170-77B689845BA6}"/>
            </a:ext>
          </a:extLst>
        </p:cNvPr>
        <p:cNvGrpSpPr/>
        <p:nvPr/>
      </p:nvGrpSpPr>
      <p:grpSpPr>
        <a:xfrm>
          <a:off x="0" y="0"/>
          <a:ext cx="0" cy="0"/>
          <a:chOff x="0" y="0"/>
          <a:chExt cx="0" cy="0"/>
        </a:xfrm>
      </p:grpSpPr>
      <p:sp>
        <p:nvSpPr>
          <p:cNvPr id="117" name="Google Shape;117;p17">
            <a:extLst>
              <a:ext uri="{FF2B5EF4-FFF2-40B4-BE49-F238E27FC236}">
                <a16:creationId xmlns:a16="http://schemas.microsoft.com/office/drawing/2014/main" id="{FC714F4F-0B5D-5E9D-43EB-E87827A1BC7C}"/>
              </a:ext>
            </a:extLst>
          </p:cNvPr>
          <p:cNvSpPr/>
          <p:nvPr/>
        </p:nvSpPr>
        <p:spPr>
          <a:xfrm>
            <a:off x="694425" y="2432275"/>
            <a:ext cx="8077825" cy="2486025"/>
          </a:xfrm>
          <a:custGeom>
            <a:avLst/>
            <a:gdLst/>
            <a:ahLst/>
            <a:cxnLst/>
            <a:rect l="l" t="t" r="r" b="b"/>
            <a:pathLst>
              <a:path w="323113" h="99441" extrusionOk="0">
                <a:moveTo>
                  <a:pt x="276949" y="7997"/>
                </a:moveTo>
                <a:lnTo>
                  <a:pt x="277312" y="33805"/>
                </a:lnTo>
                <a:lnTo>
                  <a:pt x="184984" y="44710"/>
                </a:lnTo>
                <a:lnTo>
                  <a:pt x="30171" y="44916"/>
                </a:lnTo>
                <a:lnTo>
                  <a:pt x="30898" y="34738"/>
                </a:lnTo>
                <a:lnTo>
                  <a:pt x="0" y="64545"/>
                </a:lnTo>
                <a:lnTo>
                  <a:pt x="27990" y="99441"/>
                </a:lnTo>
                <a:lnTo>
                  <a:pt x="27990" y="87809"/>
                </a:lnTo>
                <a:lnTo>
                  <a:pt x="191527" y="88330"/>
                </a:lnTo>
                <a:lnTo>
                  <a:pt x="317297" y="67974"/>
                </a:lnTo>
                <a:lnTo>
                  <a:pt x="323113" y="0"/>
                </a:lnTo>
                <a:lnTo>
                  <a:pt x="298759" y="23264"/>
                </a:lnTo>
                <a:close/>
              </a:path>
            </a:pathLst>
          </a:custGeom>
          <a:solidFill>
            <a:schemeClr val="lt2"/>
          </a:solidFill>
          <a:ln>
            <a:noFill/>
          </a:ln>
        </p:spPr>
        <p:txBody>
          <a:bodyPr/>
          <a:lstStyle/>
          <a:p>
            <a:endParaRPr lang="nl-NL"/>
          </a:p>
        </p:txBody>
      </p:sp>
      <p:pic>
        <p:nvPicPr>
          <p:cNvPr id="118" name="Google Shape;118;p17" descr="A picture containing electronics, indoor, computer&#10;&#10;Description automatically generated">
            <a:extLst>
              <a:ext uri="{FF2B5EF4-FFF2-40B4-BE49-F238E27FC236}">
                <a16:creationId xmlns:a16="http://schemas.microsoft.com/office/drawing/2014/main" id="{1CD42FE9-45CD-0177-F13A-45990BB3CC76}"/>
              </a:ext>
            </a:extLst>
          </p:cNvPr>
          <p:cNvPicPr preferRelativeResize="0"/>
          <p:nvPr/>
        </p:nvPicPr>
        <p:blipFill rotWithShape="1">
          <a:blip r:embed="rId3">
            <a:alphaModFix/>
          </a:blip>
          <a:srcRect/>
          <a:stretch/>
        </p:blipFill>
        <p:spPr>
          <a:xfrm>
            <a:off x="5518337" y="1607583"/>
            <a:ext cx="2057400" cy="1407262"/>
          </a:xfrm>
          <a:prstGeom prst="rect">
            <a:avLst/>
          </a:prstGeom>
          <a:noFill/>
          <a:ln>
            <a:noFill/>
          </a:ln>
        </p:spPr>
      </p:pic>
      <p:sp>
        <p:nvSpPr>
          <p:cNvPr id="119" name="Google Shape;119;p17">
            <a:extLst>
              <a:ext uri="{FF2B5EF4-FFF2-40B4-BE49-F238E27FC236}">
                <a16:creationId xmlns:a16="http://schemas.microsoft.com/office/drawing/2014/main" id="{DD8DF2F8-CBEC-1F07-8BCA-8143C2C81349}"/>
              </a:ext>
            </a:extLst>
          </p:cNvPr>
          <p:cNvSpPr/>
          <p:nvPr/>
        </p:nvSpPr>
        <p:spPr>
          <a:xfrm>
            <a:off x="-232475" y="1030675"/>
            <a:ext cx="7602900" cy="1984200"/>
          </a:xfrm>
          <a:prstGeom prst="roundRect">
            <a:avLst>
              <a:gd name="adj" fmla="val 16667"/>
            </a:avLst>
          </a:prstGeom>
          <a:solidFill>
            <a:srgbClr val="EEEEEE">
              <a:alpha val="658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 name="Google Shape;120;p17">
            <a:extLst>
              <a:ext uri="{FF2B5EF4-FFF2-40B4-BE49-F238E27FC236}">
                <a16:creationId xmlns:a16="http://schemas.microsoft.com/office/drawing/2014/main" id="{975D6AA8-DC94-A2D1-290C-43D90D264E9C}"/>
              </a:ext>
            </a:extLst>
          </p:cNvPr>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dirty="0">
                <a:latin typeface="Arial"/>
                <a:ea typeface="Arial"/>
                <a:cs typeface="Arial"/>
                <a:sym typeface="Arial"/>
              </a:rPr>
              <a:t>Step 1: Data preprocessing</a:t>
            </a:r>
            <a:endParaRPr dirty="0">
              <a:latin typeface="Arial"/>
              <a:ea typeface="Arial"/>
              <a:cs typeface="Arial"/>
              <a:sym typeface="Arial"/>
            </a:endParaRPr>
          </a:p>
        </p:txBody>
      </p:sp>
      <p:sp>
        <p:nvSpPr>
          <p:cNvPr id="121" name="Google Shape;121;p17">
            <a:extLst>
              <a:ext uri="{FF2B5EF4-FFF2-40B4-BE49-F238E27FC236}">
                <a16:creationId xmlns:a16="http://schemas.microsoft.com/office/drawing/2014/main" id="{9FCBC21C-42A9-7A08-9D69-F86FA72E6581}"/>
              </a:ext>
            </a:extLst>
          </p:cNvPr>
          <p:cNvSpPr/>
          <p:nvPr/>
        </p:nvSpPr>
        <p:spPr>
          <a:xfrm>
            <a:off x="2378028" y="1226624"/>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2" name="Google Shape;122;p17">
            <a:extLst>
              <a:ext uri="{FF2B5EF4-FFF2-40B4-BE49-F238E27FC236}">
                <a16:creationId xmlns:a16="http://schemas.microsoft.com/office/drawing/2014/main" id="{92272C0C-8D79-C880-B3CD-E71E4FDD21CE}"/>
              </a:ext>
            </a:extLst>
          </p:cNvPr>
          <p:cNvSpPr/>
          <p:nvPr/>
        </p:nvSpPr>
        <p:spPr>
          <a:xfrm>
            <a:off x="2235152" y="1663653"/>
            <a:ext cx="344400" cy="344400"/>
          </a:xfrm>
          <a:prstGeom prst="ellipse">
            <a:avLst/>
          </a:prstGeom>
          <a:solidFill>
            <a:schemeClr val="lt1"/>
          </a:solidFill>
          <a:ln w="571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3" name="Google Shape;123;p17">
            <a:extLst>
              <a:ext uri="{FF2B5EF4-FFF2-40B4-BE49-F238E27FC236}">
                <a16:creationId xmlns:a16="http://schemas.microsoft.com/office/drawing/2014/main" id="{3C95CBA0-49C3-5920-22C8-4FBDB93166E4}"/>
              </a:ext>
            </a:extLst>
          </p:cNvPr>
          <p:cNvSpPr/>
          <p:nvPr/>
        </p:nvSpPr>
        <p:spPr>
          <a:xfrm>
            <a:off x="2697395" y="1571204"/>
            <a:ext cx="344400" cy="344400"/>
          </a:xfrm>
          <a:prstGeom prst="ellipse">
            <a:avLst/>
          </a:prstGeom>
          <a:solidFill>
            <a:schemeClr val="lt1"/>
          </a:solidFill>
          <a:ln w="5715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4" name="Google Shape;124;p17">
            <a:extLst>
              <a:ext uri="{FF2B5EF4-FFF2-40B4-BE49-F238E27FC236}">
                <a16:creationId xmlns:a16="http://schemas.microsoft.com/office/drawing/2014/main" id="{60DEEECE-8514-6FA4-CF8D-825DD8E60610}"/>
              </a:ext>
            </a:extLst>
          </p:cNvPr>
          <p:cNvSpPr/>
          <p:nvPr/>
        </p:nvSpPr>
        <p:spPr>
          <a:xfrm>
            <a:off x="2470476" y="2058661"/>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5" name="Google Shape;125;p17">
            <a:extLst>
              <a:ext uri="{FF2B5EF4-FFF2-40B4-BE49-F238E27FC236}">
                <a16:creationId xmlns:a16="http://schemas.microsoft.com/office/drawing/2014/main" id="{B410F636-28E8-C62D-EA5B-3ADFB95716C4}"/>
              </a:ext>
            </a:extLst>
          </p:cNvPr>
          <p:cNvSpPr/>
          <p:nvPr/>
        </p:nvSpPr>
        <p:spPr>
          <a:xfrm>
            <a:off x="3494924" y="17050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126" name="Google Shape;126;p17" descr="DNA with solid fill">
            <a:extLst>
              <a:ext uri="{FF2B5EF4-FFF2-40B4-BE49-F238E27FC236}">
                <a16:creationId xmlns:a16="http://schemas.microsoft.com/office/drawing/2014/main" id="{2BA57030-A5FA-BD41-B13E-760AF86118DE}"/>
              </a:ext>
            </a:extLst>
          </p:cNvPr>
          <p:cNvPicPr preferRelativeResize="0"/>
          <p:nvPr/>
        </p:nvPicPr>
        <p:blipFill rotWithShape="1">
          <a:blip r:embed="rId4">
            <a:alphaModFix/>
          </a:blip>
          <a:srcRect/>
          <a:stretch/>
        </p:blipFill>
        <p:spPr>
          <a:xfrm>
            <a:off x="4729163" y="1330342"/>
            <a:ext cx="1005167" cy="1013572"/>
          </a:xfrm>
          <a:prstGeom prst="rect">
            <a:avLst/>
          </a:prstGeom>
          <a:noFill/>
          <a:ln>
            <a:noFill/>
          </a:ln>
        </p:spPr>
      </p:pic>
      <p:sp>
        <p:nvSpPr>
          <p:cNvPr id="127" name="Google Shape;127;p17">
            <a:extLst>
              <a:ext uri="{FF2B5EF4-FFF2-40B4-BE49-F238E27FC236}">
                <a16:creationId xmlns:a16="http://schemas.microsoft.com/office/drawing/2014/main" id="{9E43D9C5-454D-9410-B5F7-0A49724C5894}"/>
              </a:ext>
            </a:extLst>
          </p:cNvPr>
          <p:cNvSpPr txBox="1"/>
          <p:nvPr/>
        </p:nvSpPr>
        <p:spPr>
          <a:xfrm>
            <a:off x="3408830" y="1408580"/>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DNA extraction</a:t>
            </a:r>
            <a:endParaRPr sz="1100" b="0" i="0" u="none" strike="noStrike" cap="none">
              <a:solidFill>
                <a:srgbClr val="000000"/>
              </a:solidFill>
              <a:latin typeface="Arial"/>
              <a:ea typeface="Arial"/>
              <a:cs typeface="Arial"/>
              <a:sym typeface="Arial"/>
            </a:endParaRPr>
          </a:p>
        </p:txBody>
      </p:sp>
      <p:sp>
        <p:nvSpPr>
          <p:cNvPr id="128" name="Google Shape;128;p17">
            <a:extLst>
              <a:ext uri="{FF2B5EF4-FFF2-40B4-BE49-F238E27FC236}">
                <a16:creationId xmlns:a16="http://schemas.microsoft.com/office/drawing/2014/main" id="{874F4913-9478-F0C7-3E34-C83B9B6CE921}"/>
              </a:ext>
            </a:extLst>
          </p:cNvPr>
          <p:cNvSpPr txBox="1"/>
          <p:nvPr/>
        </p:nvSpPr>
        <p:spPr>
          <a:xfrm>
            <a:off x="6022600" y="1383375"/>
            <a:ext cx="1260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Sequencing</a:t>
            </a:r>
            <a:endParaRPr sz="1100" b="0" i="0" u="none" strike="noStrike" cap="none">
              <a:solidFill>
                <a:srgbClr val="000000"/>
              </a:solidFill>
              <a:latin typeface="Arial"/>
              <a:ea typeface="Arial"/>
              <a:cs typeface="Arial"/>
              <a:sym typeface="Arial"/>
            </a:endParaRPr>
          </a:p>
        </p:txBody>
      </p:sp>
      <p:sp>
        <p:nvSpPr>
          <p:cNvPr id="129" name="Google Shape;129;p17">
            <a:extLst>
              <a:ext uri="{FF2B5EF4-FFF2-40B4-BE49-F238E27FC236}">
                <a16:creationId xmlns:a16="http://schemas.microsoft.com/office/drawing/2014/main" id="{0480E4D2-648D-1BAD-0859-BC4B97D16DA5}"/>
              </a:ext>
            </a:extLst>
          </p:cNvPr>
          <p:cNvSpPr/>
          <p:nvPr/>
        </p:nvSpPr>
        <p:spPr>
          <a:xfrm>
            <a:off x="6024651" y="1688245"/>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 name="Google Shape;130;p17">
            <a:extLst>
              <a:ext uri="{FF2B5EF4-FFF2-40B4-BE49-F238E27FC236}">
                <a16:creationId xmlns:a16="http://schemas.microsoft.com/office/drawing/2014/main" id="{A3EAE443-2ECF-1D6B-2F20-0A8F58B3CBAC}"/>
              </a:ext>
            </a:extLst>
          </p:cNvPr>
          <p:cNvSpPr/>
          <p:nvPr/>
        </p:nvSpPr>
        <p:spPr>
          <a:xfrm>
            <a:off x="7597168" y="151237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1" name="Google Shape;131;p17">
            <a:extLst>
              <a:ext uri="{FF2B5EF4-FFF2-40B4-BE49-F238E27FC236}">
                <a16:creationId xmlns:a16="http://schemas.microsoft.com/office/drawing/2014/main" id="{70BB0049-C0FD-4CF3-D8CB-1C61E50C5009}"/>
              </a:ext>
            </a:extLst>
          </p:cNvPr>
          <p:cNvSpPr/>
          <p:nvPr/>
        </p:nvSpPr>
        <p:spPr>
          <a:xfrm>
            <a:off x="7849300" y="176450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2" name="Google Shape;132;p17">
            <a:extLst>
              <a:ext uri="{FF2B5EF4-FFF2-40B4-BE49-F238E27FC236}">
                <a16:creationId xmlns:a16="http://schemas.microsoft.com/office/drawing/2014/main" id="{11D87130-D063-25B7-AF12-52D73EF6C32B}"/>
              </a:ext>
            </a:extLst>
          </p:cNvPr>
          <p:cNvSpPr/>
          <p:nvPr/>
        </p:nvSpPr>
        <p:spPr>
          <a:xfrm>
            <a:off x="7958557" y="187376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3" name="Google Shape;133;p17">
            <a:extLst>
              <a:ext uri="{FF2B5EF4-FFF2-40B4-BE49-F238E27FC236}">
                <a16:creationId xmlns:a16="http://schemas.microsoft.com/office/drawing/2014/main" id="{F843429B-CA4E-DEEE-3B85-0D1C945682DD}"/>
              </a:ext>
            </a:extLst>
          </p:cNvPr>
          <p:cNvSpPr/>
          <p:nvPr/>
        </p:nvSpPr>
        <p:spPr>
          <a:xfrm>
            <a:off x="8345160" y="145354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4" name="Google Shape;134;p17">
            <a:extLst>
              <a:ext uri="{FF2B5EF4-FFF2-40B4-BE49-F238E27FC236}">
                <a16:creationId xmlns:a16="http://schemas.microsoft.com/office/drawing/2014/main" id="{5CD18113-34EA-7581-444F-3598A8813546}"/>
              </a:ext>
            </a:extLst>
          </p:cNvPr>
          <p:cNvSpPr/>
          <p:nvPr/>
        </p:nvSpPr>
        <p:spPr>
          <a:xfrm>
            <a:off x="7597167" y="2344409"/>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 name="Google Shape;135;p17">
            <a:extLst>
              <a:ext uri="{FF2B5EF4-FFF2-40B4-BE49-F238E27FC236}">
                <a16:creationId xmlns:a16="http://schemas.microsoft.com/office/drawing/2014/main" id="{0E587B00-2105-B707-C5B3-6A4E9EFB03D0}"/>
              </a:ext>
            </a:extLst>
          </p:cNvPr>
          <p:cNvSpPr/>
          <p:nvPr/>
        </p:nvSpPr>
        <p:spPr>
          <a:xfrm>
            <a:off x="7983770" y="224355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 name="Google Shape;136;p17">
            <a:extLst>
              <a:ext uri="{FF2B5EF4-FFF2-40B4-BE49-F238E27FC236}">
                <a16:creationId xmlns:a16="http://schemas.microsoft.com/office/drawing/2014/main" id="{E486871B-C72F-3F12-05B2-23CEE0FA1124}"/>
              </a:ext>
            </a:extLst>
          </p:cNvPr>
          <p:cNvSpPr/>
          <p:nvPr/>
        </p:nvSpPr>
        <p:spPr>
          <a:xfrm>
            <a:off x="8252711" y="215951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7" name="Google Shape;137;p17">
            <a:extLst>
              <a:ext uri="{FF2B5EF4-FFF2-40B4-BE49-F238E27FC236}">
                <a16:creationId xmlns:a16="http://schemas.microsoft.com/office/drawing/2014/main" id="{8EDFA70F-5AF2-0BD9-255F-FBDAFCCB4C1E}"/>
              </a:ext>
            </a:extLst>
          </p:cNvPr>
          <p:cNvSpPr/>
          <p:nvPr/>
        </p:nvSpPr>
        <p:spPr>
          <a:xfrm>
            <a:off x="8076219" y="236962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8" name="Google Shape;138;p17">
            <a:extLst>
              <a:ext uri="{FF2B5EF4-FFF2-40B4-BE49-F238E27FC236}">
                <a16:creationId xmlns:a16="http://schemas.microsoft.com/office/drawing/2014/main" id="{ABBB014F-8AAC-A5E4-14C4-451A3DD526FC}"/>
              </a:ext>
            </a:extLst>
          </p:cNvPr>
          <p:cNvSpPr/>
          <p:nvPr/>
        </p:nvSpPr>
        <p:spPr>
          <a:xfrm>
            <a:off x="8143454" y="161322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9" name="Google Shape;139;p17">
            <a:extLst>
              <a:ext uri="{FF2B5EF4-FFF2-40B4-BE49-F238E27FC236}">
                <a16:creationId xmlns:a16="http://schemas.microsoft.com/office/drawing/2014/main" id="{E9F8F350-FE5E-EB5D-EAD0-F394A3DA88B7}"/>
              </a:ext>
            </a:extLst>
          </p:cNvPr>
          <p:cNvSpPr/>
          <p:nvPr/>
        </p:nvSpPr>
        <p:spPr>
          <a:xfrm>
            <a:off x="8252711" y="172248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0" name="Google Shape;140;p17">
            <a:extLst>
              <a:ext uri="{FF2B5EF4-FFF2-40B4-BE49-F238E27FC236}">
                <a16:creationId xmlns:a16="http://schemas.microsoft.com/office/drawing/2014/main" id="{A6612382-D830-2428-B08E-F1F28E8F06BA}"/>
              </a:ext>
            </a:extLst>
          </p:cNvPr>
          <p:cNvSpPr/>
          <p:nvPr/>
        </p:nvSpPr>
        <p:spPr>
          <a:xfrm>
            <a:off x="7714828" y="1655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 name="Google Shape;141;p17">
            <a:extLst>
              <a:ext uri="{FF2B5EF4-FFF2-40B4-BE49-F238E27FC236}">
                <a16:creationId xmlns:a16="http://schemas.microsoft.com/office/drawing/2014/main" id="{8F3E74A9-04E5-B8CF-D412-1525EDE18A7D}"/>
              </a:ext>
            </a:extLst>
          </p:cNvPr>
          <p:cNvSpPr/>
          <p:nvPr/>
        </p:nvSpPr>
        <p:spPr>
          <a:xfrm>
            <a:off x="7529931" y="19409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2" name="Google Shape;142;p17">
            <a:extLst>
              <a:ext uri="{FF2B5EF4-FFF2-40B4-BE49-F238E27FC236}">
                <a16:creationId xmlns:a16="http://schemas.microsoft.com/office/drawing/2014/main" id="{6FC1E2FE-FEE7-371E-3BDB-01EE2DD842E4}"/>
              </a:ext>
            </a:extLst>
          </p:cNvPr>
          <p:cNvSpPr/>
          <p:nvPr/>
        </p:nvSpPr>
        <p:spPr>
          <a:xfrm>
            <a:off x="8437607" y="202504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3" name="Google Shape;143;p17">
            <a:extLst>
              <a:ext uri="{FF2B5EF4-FFF2-40B4-BE49-F238E27FC236}">
                <a16:creationId xmlns:a16="http://schemas.microsoft.com/office/drawing/2014/main" id="{FD2CF066-9F54-5787-2BAF-56E7E32D58C2}"/>
              </a:ext>
            </a:extLst>
          </p:cNvPr>
          <p:cNvSpPr/>
          <p:nvPr/>
        </p:nvSpPr>
        <p:spPr>
          <a:xfrm>
            <a:off x="8437607"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4" name="Google Shape;144;p17">
            <a:extLst>
              <a:ext uri="{FF2B5EF4-FFF2-40B4-BE49-F238E27FC236}">
                <a16:creationId xmlns:a16="http://schemas.microsoft.com/office/drawing/2014/main" id="{FFE7C306-91A3-004C-F9BC-C32D51E2A1C0}"/>
              </a:ext>
            </a:extLst>
          </p:cNvPr>
          <p:cNvSpPr/>
          <p:nvPr/>
        </p:nvSpPr>
        <p:spPr>
          <a:xfrm>
            <a:off x="7630783" y="2159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5" name="Google Shape;145;p17">
            <a:extLst>
              <a:ext uri="{FF2B5EF4-FFF2-40B4-BE49-F238E27FC236}">
                <a16:creationId xmlns:a16="http://schemas.microsoft.com/office/drawing/2014/main" id="{7C69AA57-6F36-05B4-442C-985E896BF429}"/>
              </a:ext>
            </a:extLst>
          </p:cNvPr>
          <p:cNvSpPr/>
          <p:nvPr/>
        </p:nvSpPr>
        <p:spPr>
          <a:xfrm>
            <a:off x="8034194" y="205025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6" name="Google Shape;146;p17">
            <a:extLst>
              <a:ext uri="{FF2B5EF4-FFF2-40B4-BE49-F238E27FC236}">
                <a16:creationId xmlns:a16="http://schemas.microsoft.com/office/drawing/2014/main" id="{6476705A-0583-1180-F345-E99777A4CCCB}"/>
              </a:ext>
            </a:extLst>
          </p:cNvPr>
          <p:cNvSpPr/>
          <p:nvPr/>
        </p:nvSpPr>
        <p:spPr>
          <a:xfrm>
            <a:off x="7849297" y="24956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7" name="Google Shape;147;p17">
            <a:extLst>
              <a:ext uri="{FF2B5EF4-FFF2-40B4-BE49-F238E27FC236}">
                <a16:creationId xmlns:a16="http://schemas.microsoft.com/office/drawing/2014/main" id="{3738E1B0-33C1-0FD4-DB6B-A0D1AFF7D906}"/>
              </a:ext>
            </a:extLst>
          </p:cNvPr>
          <p:cNvSpPr txBox="1"/>
          <p:nvPr/>
        </p:nvSpPr>
        <p:spPr>
          <a:xfrm>
            <a:off x="7854762" y="1080806"/>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Reads</a:t>
            </a:r>
            <a:endParaRPr sz="1500" b="1" i="0" u="none" strike="noStrike" cap="none">
              <a:solidFill>
                <a:schemeClr val="dk1"/>
              </a:solidFill>
              <a:latin typeface="Calibri"/>
              <a:ea typeface="Calibri"/>
              <a:cs typeface="Calibri"/>
              <a:sym typeface="Calibri"/>
            </a:endParaRPr>
          </a:p>
        </p:txBody>
      </p:sp>
      <p:sp>
        <p:nvSpPr>
          <p:cNvPr id="148" name="Google Shape;148;p17">
            <a:extLst>
              <a:ext uri="{FF2B5EF4-FFF2-40B4-BE49-F238E27FC236}">
                <a16:creationId xmlns:a16="http://schemas.microsoft.com/office/drawing/2014/main" id="{4AB25E6C-A9A2-DFA6-ED93-EB6DF3094CC2}"/>
              </a:ext>
            </a:extLst>
          </p:cNvPr>
          <p:cNvSpPr/>
          <p:nvPr/>
        </p:nvSpPr>
        <p:spPr>
          <a:xfrm>
            <a:off x="7588761"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0" name="Google Shape;150;p17">
            <a:extLst>
              <a:ext uri="{FF2B5EF4-FFF2-40B4-BE49-F238E27FC236}">
                <a16:creationId xmlns:a16="http://schemas.microsoft.com/office/drawing/2014/main" id="{151E5088-DA86-C6D6-C41F-BF91E996919F}"/>
              </a:ext>
            </a:extLst>
          </p:cNvPr>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5</a:t>
            </a:fld>
            <a:endParaRPr/>
          </a:p>
        </p:txBody>
      </p:sp>
      <p:pic>
        <p:nvPicPr>
          <p:cNvPr id="151" name="Google Shape;151;p17">
            <a:extLst>
              <a:ext uri="{FF2B5EF4-FFF2-40B4-BE49-F238E27FC236}">
                <a16:creationId xmlns:a16="http://schemas.microsoft.com/office/drawing/2014/main" id="{3875B2BF-2A49-E4A4-2A83-3753C15D3891}"/>
              </a:ext>
            </a:extLst>
          </p:cNvPr>
          <p:cNvPicPr preferRelativeResize="0"/>
          <p:nvPr/>
        </p:nvPicPr>
        <p:blipFill rotWithShape="1">
          <a:blip r:embed="rId5">
            <a:alphaModFix/>
          </a:blip>
          <a:srcRect t="44399" r="41038" b="28367"/>
          <a:stretch/>
        </p:blipFill>
        <p:spPr>
          <a:xfrm>
            <a:off x="55129" y="1132205"/>
            <a:ext cx="1866899" cy="1407274"/>
          </a:xfrm>
          <a:prstGeom prst="rect">
            <a:avLst/>
          </a:prstGeom>
          <a:noFill/>
          <a:ln>
            <a:noFill/>
          </a:ln>
        </p:spPr>
      </p:pic>
      <p:sp>
        <p:nvSpPr>
          <p:cNvPr id="152" name="Google Shape;152;p17">
            <a:extLst>
              <a:ext uri="{FF2B5EF4-FFF2-40B4-BE49-F238E27FC236}">
                <a16:creationId xmlns:a16="http://schemas.microsoft.com/office/drawing/2014/main" id="{24A7F5E9-D616-F7D2-798B-B5803F6930D9}"/>
              </a:ext>
            </a:extLst>
          </p:cNvPr>
          <p:cNvSpPr txBox="1"/>
          <p:nvPr/>
        </p:nvSpPr>
        <p:spPr>
          <a:xfrm>
            <a:off x="2309800" y="2546100"/>
            <a:ext cx="205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Experimental part</a:t>
            </a:r>
            <a:endParaRPr sz="1800">
              <a:solidFill>
                <a:schemeClr val="dk1"/>
              </a:solidFill>
            </a:endParaRPr>
          </a:p>
        </p:txBody>
      </p:sp>
      <p:sp>
        <p:nvSpPr>
          <p:cNvPr id="153" name="Google Shape;153;p17">
            <a:extLst>
              <a:ext uri="{FF2B5EF4-FFF2-40B4-BE49-F238E27FC236}">
                <a16:creationId xmlns:a16="http://schemas.microsoft.com/office/drawing/2014/main" id="{3BAE3FD5-C472-B14F-0239-11A913F62CC3}"/>
              </a:ext>
            </a:extLst>
          </p:cNvPr>
          <p:cNvSpPr txBox="1"/>
          <p:nvPr/>
        </p:nvSpPr>
        <p:spPr>
          <a:xfrm>
            <a:off x="2881617" y="3840243"/>
            <a:ext cx="2682600" cy="4617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2"/>
              </a:buClr>
              <a:buSzPts val="1800"/>
              <a:buAutoNum type="arabicParenR"/>
            </a:pPr>
            <a:r>
              <a:rPr lang="en" sz="1800" dirty="0">
                <a:solidFill>
                  <a:schemeClr val="dk2"/>
                </a:solidFill>
              </a:rPr>
              <a:t>Data preprocessing</a:t>
            </a:r>
            <a:endParaRPr sz="1800" dirty="0">
              <a:solidFill>
                <a:schemeClr val="dk2"/>
              </a:solidFill>
            </a:endParaRPr>
          </a:p>
        </p:txBody>
      </p:sp>
      <p:sp>
        <p:nvSpPr>
          <p:cNvPr id="157" name="Google Shape;157;p17">
            <a:extLst>
              <a:ext uri="{FF2B5EF4-FFF2-40B4-BE49-F238E27FC236}">
                <a16:creationId xmlns:a16="http://schemas.microsoft.com/office/drawing/2014/main" id="{0E1E2969-4A03-B062-A991-CAC2BAC75768}"/>
              </a:ext>
            </a:extLst>
          </p:cNvPr>
          <p:cNvSpPr txBox="1"/>
          <p:nvPr/>
        </p:nvSpPr>
        <p:spPr>
          <a:xfrm>
            <a:off x="-21075" y="3784175"/>
            <a:ext cx="836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Day 2</a:t>
            </a:r>
            <a:endParaRPr sz="1800" dirty="0">
              <a:solidFill>
                <a:schemeClr val="dk2"/>
              </a:solidFill>
            </a:endParaRPr>
          </a:p>
        </p:txBody>
      </p:sp>
      <p:sp>
        <p:nvSpPr>
          <p:cNvPr id="166" name="Google Shape;166;p17">
            <a:extLst>
              <a:ext uri="{FF2B5EF4-FFF2-40B4-BE49-F238E27FC236}">
                <a16:creationId xmlns:a16="http://schemas.microsoft.com/office/drawing/2014/main" id="{0C01AD6B-39E6-6500-4167-69775216750C}"/>
              </a:ext>
            </a:extLst>
          </p:cNvPr>
          <p:cNvSpPr txBox="1"/>
          <p:nvPr/>
        </p:nvSpPr>
        <p:spPr>
          <a:xfrm>
            <a:off x="2309800" y="2890675"/>
            <a:ext cx="2467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Computational part</a:t>
            </a:r>
            <a:endParaRPr sz="1800">
              <a:solidFill>
                <a:schemeClr val="dk1"/>
              </a:solidFill>
            </a:endParaRPr>
          </a:p>
        </p:txBody>
      </p:sp>
      <p:pic>
        <p:nvPicPr>
          <p:cNvPr id="7" name="Google Shape;186;p18" descr="Chart&#10;&#10;Description automatically generated">
            <a:extLst>
              <a:ext uri="{FF2B5EF4-FFF2-40B4-BE49-F238E27FC236}">
                <a16:creationId xmlns:a16="http://schemas.microsoft.com/office/drawing/2014/main" id="{95C4F2C1-B3A2-894D-6BAB-E6DD73EAEB18}"/>
              </a:ext>
            </a:extLst>
          </p:cNvPr>
          <p:cNvPicPr preferRelativeResize="0"/>
          <p:nvPr/>
        </p:nvPicPr>
        <p:blipFill rotWithShape="1">
          <a:blip r:embed="rId6">
            <a:alphaModFix/>
          </a:blip>
          <a:srcRect/>
          <a:stretch/>
        </p:blipFill>
        <p:spPr>
          <a:xfrm>
            <a:off x="5696454" y="3122905"/>
            <a:ext cx="2702169" cy="1863601"/>
          </a:xfrm>
          <a:prstGeom prst="rect">
            <a:avLst/>
          </a:prstGeom>
          <a:noFill/>
          <a:ln>
            <a:noFill/>
          </a:ln>
        </p:spPr>
      </p:pic>
      <p:grpSp>
        <p:nvGrpSpPr>
          <p:cNvPr id="9" name="Google Shape;190;p18">
            <a:extLst>
              <a:ext uri="{FF2B5EF4-FFF2-40B4-BE49-F238E27FC236}">
                <a16:creationId xmlns:a16="http://schemas.microsoft.com/office/drawing/2014/main" id="{D8CDE77D-C400-E4EE-8DD0-15E87A0244B1}"/>
              </a:ext>
            </a:extLst>
          </p:cNvPr>
          <p:cNvGrpSpPr/>
          <p:nvPr/>
        </p:nvGrpSpPr>
        <p:grpSpPr>
          <a:xfrm>
            <a:off x="849321" y="2847867"/>
            <a:ext cx="1454400" cy="1283850"/>
            <a:chOff x="9938400" y="2378400"/>
            <a:chExt cx="1939200" cy="1711800"/>
          </a:xfrm>
        </p:grpSpPr>
        <p:sp>
          <p:nvSpPr>
            <p:cNvPr id="10" name="Google Shape;191;p18">
              <a:extLst>
                <a:ext uri="{FF2B5EF4-FFF2-40B4-BE49-F238E27FC236}">
                  <a16:creationId xmlns:a16="http://schemas.microsoft.com/office/drawing/2014/main" id="{51A4D21F-1074-D0D9-4157-5B7B5DE831D3}"/>
                </a:ext>
              </a:extLst>
            </p:cNvPr>
            <p:cNvSpPr txBox="1"/>
            <p:nvPr/>
          </p:nvSpPr>
          <p:spPr>
            <a:xfrm>
              <a:off x="9938400" y="2378400"/>
              <a:ext cx="1939200" cy="1241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dk1"/>
                </a:solidFill>
                <a:latin typeface="Arial"/>
                <a:ea typeface="Arial"/>
                <a:cs typeface="Arial"/>
                <a:sym typeface="Arial"/>
              </a:endParaRPr>
            </a:p>
            <a:p>
              <a:pPr marR="0" lvl="0" algn="ctr" rtl="0">
                <a:lnSpc>
                  <a:spcPct val="100000"/>
                </a:lnSpc>
                <a:spcBef>
                  <a:spcPts val="0"/>
                </a:spcBef>
                <a:spcAft>
                  <a:spcPts val="0"/>
                </a:spcAft>
                <a:buClr>
                  <a:schemeClr val="dk1"/>
                </a:buClr>
                <a:buSzPts val="1400"/>
              </a:pPr>
              <a:r>
                <a:rPr lang="en" sz="1400" b="1" i="0" u="none" strike="noStrike" cap="none" dirty="0">
                  <a:solidFill>
                    <a:schemeClr val="dk1"/>
                  </a:solidFill>
                  <a:latin typeface="Calibri"/>
                  <a:ea typeface="Calibri"/>
                  <a:cs typeface="Calibri"/>
                  <a:sym typeface="Calibri"/>
                </a:rPr>
                <a:t>Exploration</a:t>
              </a:r>
              <a:endParaRPr lang="en" sz="1100" dirty="0">
                <a:ea typeface="Calibri"/>
              </a:endParaRPr>
            </a:p>
            <a:p>
              <a:pPr marR="0" lvl="0" algn="ctr" rtl="0">
                <a:lnSpc>
                  <a:spcPct val="100000"/>
                </a:lnSpc>
                <a:spcBef>
                  <a:spcPts val="0"/>
                </a:spcBef>
                <a:spcAft>
                  <a:spcPts val="0"/>
                </a:spcAft>
                <a:buClr>
                  <a:schemeClr val="dk1"/>
                </a:buClr>
                <a:buSzPts val="1400"/>
              </a:pPr>
              <a:r>
                <a:rPr lang="en" sz="1400" b="0" i="0" u="none" strike="noStrike" cap="none" dirty="0">
                  <a:solidFill>
                    <a:schemeClr val="dk1"/>
                  </a:solidFill>
                  <a:latin typeface="Calibri"/>
                  <a:ea typeface="Calibri"/>
                  <a:cs typeface="Calibri"/>
                  <a:sym typeface="Calibri"/>
                </a:rPr>
                <a:t>e.g., FASTQC</a:t>
              </a:r>
              <a:endParaRPr sz="1100" b="0" i="0" u="none" strike="noStrike" cap="none" dirty="0">
                <a:solidFill>
                  <a:srgbClr val="000000"/>
                </a:solidFill>
                <a:latin typeface="Arial"/>
                <a:ea typeface="Arial"/>
                <a:cs typeface="Arial"/>
                <a:sym typeface="Arial"/>
              </a:endParaRPr>
            </a:p>
            <a:p>
              <a:pPr marL="342900" marR="0" lvl="1"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pic>
          <p:nvPicPr>
            <p:cNvPr id="11" name="Google Shape;192;p18" descr="Magnifying glass with solid fill">
              <a:extLst>
                <a:ext uri="{FF2B5EF4-FFF2-40B4-BE49-F238E27FC236}">
                  <a16:creationId xmlns:a16="http://schemas.microsoft.com/office/drawing/2014/main" id="{4BB5DCBA-D551-8C6D-B609-4D8C6A4BC9CF}"/>
                </a:ext>
              </a:extLst>
            </p:cNvPr>
            <p:cNvPicPr preferRelativeResize="0"/>
            <p:nvPr/>
          </p:nvPicPr>
          <p:blipFill rotWithShape="1">
            <a:blip r:embed="rId7">
              <a:alphaModFix/>
            </a:blip>
            <a:srcRect/>
            <a:stretch/>
          </p:blipFill>
          <p:spPr>
            <a:xfrm>
              <a:off x="10732800" y="3175800"/>
              <a:ext cx="914400" cy="914400"/>
            </a:xfrm>
            <a:prstGeom prst="rect">
              <a:avLst/>
            </a:prstGeom>
            <a:noFill/>
            <a:ln>
              <a:noFill/>
            </a:ln>
          </p:spPr>
        </p:pic>
      </p:grpSp>
      <p:grpSp>
        <p:nvGrpSpPr>
          <p:cNvPr id="12" name="Google Shape;193;p18">
            <a:extLst>
              <a:ext uri="{FF2B5EF4-FFF2-40B4-BE49-F238E27FC236}">
                <a16:creationId xmlns:a16="http://schemas.microsoft.com/office/drawing/2014/main" id="{96329511-62BF-A23A-3B1B-944280BFF189}"/>
              </a:ext>
            </a:extLst>
          </p:cNvPr>
          <p:cNvGrpSpPr/>
          <p:nvPr/>
        </p:nvGrpSpPr>
        <p:grpSpPr>
          <a:xfrm>
            <a:off x="1100477" y="4116023"/>
            <a:ext cx="1296900" cy="906694"/>
            <a:chOff x="10273275" y="4069275"/>
            <a:chExt cx="1729200" cy="1208925"/>
          </a:xfrm>
        </p:grpSpPr>
        <p:pic>
          <p:nvPicPr>
            <p:cNvPr id="13" name="Google Shape;194;p18" descr="Mop and bucket with solid fill">
              <a:extLst>
                <a:ext uri="{FF2B5EF4-FFF2-40B4-BE49-F238E27FC236}">
                  <a16:creationId xmlns:a16="http://schemas.microsoft.com/office/drawing/2014/main" id="{CBFE2242-6792-33F2-750E-85B3904307EB}"/>
                </a:ext>
              </a:extLst>
            </p:cNvPr>
            <p:cNvPicPr preferRelativeResize="0"/>
            <p:nvPr/>
          </p:nvPicPr>
          <p:blipFill rotWithShape="1">
            <a:blip r:embed="rId8">
              <a:alphaModFix/>
            </a:blip>
            <a:srcRect/>
            <a:stretch/>
          </p:blipFill>
          <p:spPr>
            <a:xfrm>
              <a:off x="10678800" y="4363800"/>
              <a:ext cx="914400" cy="914400"/>
            </a:xfrm>
            <a:prstGeom prst="rect">
              <a:avLst/>
            </a:prstGeom>
            <a:noFill/>
            <a:ln>
              <a:noFill/>
            </a:ln>
          </p:spPr>
        </p:pic>
        <p:sp>
          <p:nvSpPr>
            <p:cNvPr id="14" name="Google Shape;195;p18">
              <a:extLst>
                <a:ext uri="{FF2B5EF4-FFF2-40B4-BE49-F238E27FC236}">
                  <a16:creationId xmlns:a16="http://schemas.microsoft.com/office/drawing/2014/main" id="{67658599-F296-B90F-638A-EF203DB33F9B}"/>
                </a:ext>
              </a:extLst>
            </p:cNvPr>
            <p:cNvSpPr txBox="1"/>
            <p:nvPr/>
          </p:nvSpPr>
          <p:spPr>
            <a:xfrm>
              <a:off x="10273275" y="4069275"/>
              <a:ext cx="1729200" cy="379500"/>
            </a:xfrm>
            <a:prstGeom prst="rect">
              <a:avLst/>
            </a:prstGeom>
            <a:noFill/>
            <a:ln>
              <a:noFill/>
            </a:ln>
          </p:spPr>
          <p:txBody>
            <a:bodyPr spcFirstLastPara="1" wrap="square" lIns="68575" tIns="34275" rIns="68575" bIns="34275" anchor="t" anchorCtr="0">
              <a:spAutoFit/>
            </a:bodyPr>
            <a:lstStyle/>
            <a:p>
              <a:pPr marR="0" lvl="0" algn="l" rtl="0">
                <a:lnSpc>
                  <a:spcPct val="100000"/>
                </a:lnSpc>
                <a:spcBef>
                  <a:spcPts val="0"/>
                </a:spcBef>
                <a:spcAft>
                  <a:spcPts val="0"/>
                </a:spcAft>
                <a:buClr>
                  <a:schemeClr val="dk1"/>
                </a:buClr>
                <a:buSzPts val="1400"/>
              </a:pPr>
              <a:r>
                <a:rPr lang="en" sz="1400" b="1" i="0" u="none" strike="noStrike" cap="none" dirty="0">
                  <a:solidFill>
                    <a:schemeClr val="dk1"/>
                  </a:solidFill>
                  <a:latin typeface="Calibri"/>
                  <a:ea typeface="Calibri"/>
                  <a:cs typeface="Calibri"/>
                  <a:sym typeface="Calibri"/>
                </a:rPr>
                <a:t>Processing</a:t>
              </a:r>
              <a:endParaRPr sz="1400" b="0" i="0" u="none" strike="noStrike" cap="none" dirty="0">
                <a:solidFill>
                  <a:schemeClr val="dk1"/>
                </a:solidFill>
                <a:latin typeface="Calibri"/>
                <a:ea typeface="Calibri"/>
                <a:cs typeface="Calibri"/>
                <a:sym typeface="Calibri"/>
              </a:endParaRPr>
            </a:p>
          </p:txBody>
        </p:sp>
      </p:grpSp>
      <p:cxnSp>
        <p:nvCxnSpPr>
          <p:cNvPr id="16" name="Straight Arrow Connector 15">
            <a:extLst>
              <a:ext uri="{FF2B5EF4-FFF2-40B4-BE49-F238E27FC236}">
                <a16:creationId xmlns:a16="http://schemas.microsoft.com/office/drawing/2014/main" id="{625A106E-5307-0CB0-8574-10A0D79AAF24}"/>
              </a:ext>
            </a:extLst>
          </p:cNvPr>
          <p:cNvCxnSpPr>
            <a:endCxn id="11" idx="3"/>
          </p:cNvCxnSpPr>
          <p:nvPr/>
        </p:nvCxnSpPr>
        <p:spPr>
          <a:xfrm flipH="1" flipV="1">
            <a:off x="2130921" y="3788817"/>
            <a:ext cx="910874" cy="28227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F139719A-73A8-38DF-BDAD-472044B5C93F}"/>
              </a:ext>
            </a:extLst>
          </p:cNvPr>
          <p:cNvCxnSpPr>
            <a:cxnSpLocks/>
          </p:cNvCxnSpPr>
          <p:nvPr/>
        </p:nvCxnSpPr>
        <p:spPr>
          <a:xfrm flipH="1">
            <a:off x="2202014" y="4080768"/>
            <a:ext cx="815307" cy="50699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64629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preprocessing - Adapters</a:t>
            </a:r>
            <a:endParaRPr/>
          </a:p>
        </p:txBody>
      </p:sp>
      <p:grpSp>
        <p:nvGrpSpPr>
          <p:cNvPr id="202" name="Google Shape;202;p19"/>
          <p:cNvGrpSpPr/>
          <p:nvPr/>
        </p:nvGrpSpPr>
        <p:grpSpPr>
          <a:xfrm>
            <a:off x="6084430" y="1724574"/>
            <a:ext cx="1874400" cy="84300"/>
            <a:chOff x="5802430" y="2334174"/>
            <a:chExt cx="1874400" cy="84300"/>
          </a:xfrm>
        </p:grpSpPr>
        <p:sp>
          <p:nvSpPr>
            <p:cNvPr id="203" name="Google Shape;203;p19"/>
            <p:cNvSpPr/>
            <p:nvPr/>
          </p:nvSpPr>
          <p:spPr>
            <a:xfrm>
              <a:off x="6031030" y="2334174"/>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04" name="Google Shape;204;p19"/>
            <p:cNvSpPr/>
            <p:nvPr/>
          </p:nvSpPr>
          <p:spPr>
            <a:xfrm>
              <a:off x="58024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05" name="Google Shape;205;p19"/>
            <p:cNvSpPr/>
            <p:nvPr/>
          </p:nvSpPr>
          <p:spPr>
            <a:xfrm>
              <a:off x="74026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206" name="Google Shape;206;p19"/>
          <p:cNvSpPr txBox="1">
            <a:spLocks noGrp="1"/>
          </p:cNvSpPr>
          <p:nvPr>
            <p:ph type="body" idx="1"/>
          </p:nvPr>
        </p:nvSpPr>
        <p:spPr>
          <a:xfrm>
            <a:off x="628650" y="1369225"/>
            <a:ext cx="5303400" cy="3263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Clr>
                <a:schemeClr val="dk1"/>
              </a:buClr>
              <a:buSzPts val="1100"/>
              <a:buFont typeface="Arial"/>
              <a:buNone/>
            </a:pPr>
            <a:r>
              <a:rPr lang="en" dirty="0"/>
              <a:t>Adapters are nucleotide sequences placed at either one or both ends of the DNA fragments that are being sequenced</a:t>
            </a:r>
            <a:endParaRPr dirty="0"/>
          </a:p>
          <a:p>
            <a:pPr marL="0" lvl="0" indent="0" algn="l" rtl="0">
              <a:spcBef>
                <a:spcPts val="800"/>
              </a:spcBef>
              <a:spcAft>
                <a:spcPts val="0"/>
              </a:spcAft>
              <a:buClr>
                <a:schemeClr val="dk1"/>
              </a:buClr>
              <a:buSzPts val="1100"/>
              <a:buFont typeface="Arial"/>
              <a:buNone/>
            </a:pPr>
            <a:r>
              <a:rPr lang="en" dirty="0"/>
              <a:t>They are composed of 3 sections:</a:t>
            </a:r>
            <a:endParaRPr dirty="0"/>
          </a:p>
          <a:p>
            <a:pPr marL="0" indent="0">
              <a:buSzPts val="1100"/>
              <a:buNone/>
            </a:pPr>
            <a:r>
              <a:rPr lang="en" dirty="0"/>
              <a:t>▪ </a:t>
            </a:r>
            <a:r>
              <a:rPr lang="en-US" dirty="0"/>
              <a:t>Sequencing primer binding site (</a:t>
            </a:r>
            <a:r>
              <a:rPr lang="en-US" dirty="0" err="1"/>
              <a:t>illumina</a:t>
            </a:r>
            <a:r>
              <a:rPr lang="en-US" dirty="0"/>
              <a:t>)</a:t>
            </a:r>
          </a:p>
          <a:p>
            <a:pPr marL="0" indent="0">
              <a:buSzPts val="1100"/>
              <a:buNone/>
            </a:pPr>
            <a:r>
              <a:rPr lang="nl-NL" dirty="0"/>
              <a:t>▪ </a:t>
            </a:r>
            <a:r>
              <a:rPr lang="nl-NL" dirty="0" err="1"/>
              <a:t>Multiplexing</a:t>
            </a:r>
            <a:r>
              <a:rPr lang="nl-NL" dirty="0"/>
              <a:t> index (P5-P7)</a:t>
            </a:r>
          </a:p>
          <a:p>
            <a:pPr marL="0" indent="0">
              <a:buSzPts val="1100"/>
              <a:buNone/>
            </a:pPr>
            <a:r>
              <a:rPr lang="en" dirty="0"/>
              <a:t>▪ Sequencer binding site (illumina)</a:t>
            </a:r>
          </a:p>
          <a:p>
            <a:pPr marL="0" lvl="0" indent="0" algn="l" rtl="0">
              <a:spcBef>
                <a:spcPts val="800"/>
              </a:spcBef>
              <a:spcAft>
                <a:spcPts val="0"/>
              </a:spcAft>
              <a:buClr>
                <a:schemeClr val="dk1"/>
              </a:buClr>
              <a:buSzPts val="1100"/>
              <a:buFont typeface="Arial"/>
              <a:buNone/>
            </a:pPr>
            <a:r>
              <a:rPr lang="en" dirty="0"/>
              <a:t>They are necessary for sequencing but should be removed early on in data pre-processing steps</a:t>
            </a:r>
            <a:endParaRPr dirty="0"/>
          </a:p>
          <a:p>
            <a:pPr marL="0" lvl="0" indent="0" algn="l" rtl="0">
              <a:spcBef>
                <a:spcPts val="800"/>
              </a:spcBef>
              <a:spcAft>
                <a:spcPts val="0"/>
              </a:spcAft>
              <a:buNone/>
            </a:pPr>
            <a:endParaRPr dirty="0"/>
          </a:p>
        </p:txBody>
      </p:sp>
      <p:grpSp>
        <p:nvGrpSpPr>
          <p:cNvPr id="207" name="Google Shape;207;p19"/>
          <p:cNvGrpSpPr/>
          <p:nvPr/>
        </p:nvGrpSpPr>
        <p:grpSpPr>
          <a:xfrm>
            <a:off x="6084430" y="1891315"/>
            <a:ext cx="1874400" cy="84300"/>
            <a:chOff x="5779630" y="2529599"/>
            <a:chExt cx="1874400" cy="84300"/>
          </a:xfrm>
        </p:grpSpPr>
        <p:sp>
          <p:nvSpPr>
            <p:cNvPr id="208" name="Google Shape;208;p19"/>
            <p:cNvSpPr/>
            <p:nvPr/>
          </p:nvSpPr>
          <p:spPr>
            <a:xfrm>
              <a:off x="6008230" y="2529599"/>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09" name="Google Shape;209;p19"/>
            <p:cNvSpPr/>
            <p:nvPr/>
          </p:nvSpPr>
          <p:spPr>
            <a:xfrm>
              <a:off x="57796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10" name="Google Shape;210;p19"/>
            <p:cNvSpPr/>
            <p:nvPr/>
          </p:nvSpPr>
          <p:spPr>
            <a:xfrm>
              <a:off x="73798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11" name="Google Shape;211;p19"/>
          <p:cNvGrpSpPr/>
          <p:nvPr/>
        </p:nvGrpSpPr>
        <p:grpSpPr>
          <a:xfrm>
            <a:off x="6313030" y="2058057"/>
            <a:ext cx="1645800" cy="84300"/>
            <a:chOff x="6160630" y="2681999"/>
            <a:chExt cx="1645800" cy="84300"/>
          </a:xfrm>
        </p:grpSpPr>
        <p:sp>
          <p:nvSpPr>
            <p:cNvPr id="212" name="Google Shape;212;p19"/>
            <p:cNvSpPr/>
            <p:nvPr/>
          </p:nvSpPr>
          <p:spPr>
            <a:xfrm>
              <a:off x="6160630" y="2681999"/>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13" name="Google Shape;213;p19"/>
            <p:cNvSpPr/>
            <p:nvPr/>
          </p:nvSpPr>
          <p:spPr>
            <a:xfrm>
              <a:off x="7532230" y="2681999"/>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14" name="Google Shape;214;p19"/>
          <p:cNvGrpSpPr/>
          <p:nvPr/>
        </p:nvGrpSpPr>
        <p:grpSpPr>
          <a:xfrm>
            <a:off x="6313030" y="2224799"/>
            <a:ext cx="1645800" cy="84300"/>
            <a:chOff x="6313030" y="2834399"/>
            <a:chExt cx="1645800" cy="84300"/>
          </a:xfrm>
        </p:grpSpPr>
        <p:sp>
          <p:nvSpPr>
            <p:cNvPr id="215" name="Google Shape;215;p19"/>
            <p:cNvSpPr/>
            <p:nvPr/>
          </p:nvSpPr>
          <p:spPr>
            <a:xfrm>
              <a:off x="6313030" y="2834399"/>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16" name="Google Shape;216;p19"/>
            <p:cNvSpPr/>
            <p:nvPr/>
          </p:nvSpPr>
          <p:spPr>
            <a:xfrm>
              <a:off x="7684630" y="28343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217" name="Google Shape;217;p19"/>
          <p:cNvSpPr txBox="1"/>
          <p:nvPr/>
        </p:nvSpPr>
        <p:spPr>
          <a:xfrm>
            <a:off x="8115875" y="1964450"/>
            <a:ext cx="1197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Single</a:t>
            </a:r>
            <a:endParaRPr sz="1800">
              <a:solidFill>
                <a:schemeClr val="dk2"/>
              </a:solidFill>
            </a:endParaRPr>
          </a:p>
        </p:txBody>
      </p:sp>
      <p:sp>
        <p:nvSpPr>
          <p:cNvPr id="218" name="Google Shape;218;p19"/>
          <p:cNvSpPr txBox="1"/>
          <p:nvPr/>
        </p:nvSpPr>
        <p:spPr>
          <a:xfrm>
            <a:off x="8115875" y="1583450"/>
            <a:ext cx="1197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Double</a:t>
            </a:r>
            <a:endParaRPr sz="1800">
              <a:solidFill>
                <a:schemeClr val="dk2"/>
              </a:solidFill>
            </a:endParaRPr>
          </a:p>
        </p:txBody>
      </p:sp>
      <p:sp>
        <p:nvSpPr>
          <p:cNvPr id="219" name="Google Shape;219;p19"/>
          <p:cNvSpPr/>
          <p:nvPr/>
        </p:nvSpPr>
        <p:spPr>
          <a:xfrm>
            <a:off x="6694030" y="4054300"/>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20" name="Google Shape;220;p19"/>
          <p:cNvSpPr/>
          <p:nvPr/>
        </p:nvSpPr>
        <p:spPr>
          <a:xfrm>
            <a:off x="6694030" y="4359100"/>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21" name="Google Shape;221;p19"/>
          <p:cNvSpPr/>
          <p:nvPr/>
        </p:nvSpPr>
        <p:spPr>
          <a:xfrm>
            <a:off x="6694030" y="4663900"/>
            <a:ext cx="2742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22" name="Google Shape;222;p19"/>
          <p:cNvSpPr txBox="1"/>
          <p:nvPr/>
        </p:nvSpPr>
        <p:spPr>
          <a:xfrm>
            <a:off x="7146575" y="3865600"/>
            <a:ext cx="180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Index sample A</a:t>
            </a:r>
            <a:endParaRPr sz="1800">
              <a:solidFill>
                <a:schemeClr val="dk2"/>
              </a:solidFill>
            </a:endParaRPr>
          </a:p>
        </p:txBody>
      </p:sp>
      <p:sp>
        <p:nvSpPr>
          <p:cNvPr id="223" name="Google Shape;223;p19"/>
          <p:cNvSpPr txBox="1"/>
          <p:nvPr/>
        </p:nvSpPr>
        <p:spPr>
          <a:xfrm>
            <a:off x="7146575" y="4170400"/>
            <a:ext cx="180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Index sample B</a:t>
            </a:r>
            <a:endParaRPr sz="1800">
              <a:solidFill>
                <a:schemeClr val="dk2"/>
              </a:solidFill>
            </a:endParaRPr>
          </a:p>
        </p:txBody>
      </p:sp>
      <p:sp>
        <p:nvSpPr>
          <p:cNvPr id="224" name="Google Shape;224;p19"/>
          <p:cNvSpPr txBox="1"/>
          <p:nvPr/>
        </p:nvSpPr>
        <p:spPr>
          <a:xfrm>
            <a:off x="7146575" y="4475200"/>
            <a:ext cx="180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DNA sequence</a:t>
            </a:r>
            <a:endParaRPr sz="1800">
              <a:solidFill>
                <a:schemeClr val="dk2"/>
              </a:solidFill>
            </a:endParaRPr>
          </a:p>
        </p:txBody>
      </p:sp>
      <p:sp>
        <p:nvSpPr>
          <p:cNvPr id="225" name="Google Shape;225;p19"/>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6</a:t>
            </a:fld>
            <a:endParaRPr/>
          </a:p>
        </p:txBody>
      </p:sp>
      <p:pic>
        <p:nvPicPr>
          <p:cNvPr id="3" name="Picture 2">
            <a:extLst>
              <a:ext uri="{FF2B5EF4-FFF2-40B4-BE49-F238E27FC236}">
                <a16:creationId xmlns:a16="http://schemas.microsoft.com/office/drawing/2014/main" id="{D5B41DF7-011B-256E-38CE-D0C04791323A}"/>
              </a:ext>
            </a:extLst>
          </p:cNvPr>
          <p:cNvPicPr>
            <a:picLocks noChangeAspect="1"/>
          </p:cNvPicPr>
          <p:nvPr/>
        </p:nvPicPr>
        <p:blipFill>
          <a:blip r:embed="rId3"/>
          <a:stretch>
            <a:fillRect/>
          </a:stretch>
        </p:blipFill>
        <p:spPr>
          <a:xfrm>
            <a:off x="1187149" y="4376305"/>
            <a:ext cx="4744901" cy="6594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xEl>
                                              <p:pRg st="1" end="1"/>
                                            </p:txEl>
                                          </p:spTgt>
                                        </p:tgtEl>
                                        <p:attrNameLst>
                                          <p:attrName>style.visibility</p:attrName>
                                        </p:attrNameLst>
                                      </p:cBhvr>
                                      <p:to>
                                        <p:strVal val="visible"/>
                                      </p:to>
                                    </p:set>
                                    <p:animEffect transition="in" filter="fade">
                                      <p:cBhvr>
                                        <p:cTn id="7" dur="500"/>
                                        <p:tgtEl>
                                          <p:spTgt spid="20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6">
                                            <p:txEl>
                                              <p:pRg st="2" end="2"/>
                                            </p:txEl>
                                          </p:spTgt>
                                        </p:tgtEl>
                                        <p:attrNameLst>
                                          <p:attrName>style.visibility</p:attrName>
                                        </p:attrNameLst>
                                      </p:cBhvr>
                                      <p:to>
                                        <p:strVal val="visible"/>
                                      </p:to>
                                    </p:set>
                                    <p:animEffect transition="in" filter="fade">
                                      <p:cBhvr>
                                        <p:cTn id="10" dur="500"/>
                                        <p:tgtEl>
                                          <p:spTgt spid="20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06">
                                            <p:txEl>
                                              <p:pRg st="3" end="3"/>
                                            </p:txEl>
                                          </p:spTgt>
                                        </p:tgtEl>
                                        <p:attrNameLst>
                                          <p:attrName>style.visibility</p:attrName>
                                        </p:attrNameLst>
                                      </p:cBhvr>
                                      <p:to>
                                        <p:strVal val="visible"/>
                                      </p:to>
                                    </p:set>
                                    <p:animEffect transition="in" filter="fade">
                                      <p:cBhvr>
                                        <p:cTn id="13" dur="500"/>
                                        <p:tgtEl>
                                          <p:spTgt spid="206">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06">
                                            <p:txEl>
                                              <p:pRg st="4" end="4"/>
                                            </p:txEl>
                                          </p:spTgt>
                                        </p:tgtEl>
                                        <p:attrNameLst>
                                          <p:attrName>style.visibility</p:attrName>
                                        </p:attrNameLst>
                                      </p:cBhvr>
                                      <p:to>
                                        <p:strVal val="visible"/>
                                      </p:to>
                                    </p:set>
                                    <p:animEffect transition="in" filter="fade">
                                      <p:cBhvr>
                                        <p:cTn id="16" dur="500"/>
                                        <p:tgtEl>
                                          <p:spTgt spid="206">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06">
                                            <p:txEl>
                                              <p:pRg st="5" end="5"/>
                                            </p:txEl>
                                          </p:spTgt>
                                        </p:tgtEl>
                                        <p:attrNameLst>
                                          <p:attrName>style.visibility</p:attrName>
                                        </p:attrNameLst>
                                      </p:cBhvr>
                                      <p:to>
                                        <p:strVal val="visible"/>
                                      </p:to>
                                    </p:set>
                                    <p:animEffect transition="in" filter="fade">
                                      <p:cBhvr>
                                        <p:cTn id="19" dur="500"/>
                                        <p:tgtEl>
                                          <p:spTgt spid="206">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preprocessing - Demultiplexing</a:t>
            </a:r>
            <a:endParaRPr/>
          </a:p>
        </p:txBody>
      </p:sp>
      <p:sp>
        <p:nvSpPr>
          <p:cNvPr id="231" name="Google Shape;231;p20"/>
          <p:cNvSpPr txBox="1">
            <a:spLocks noGrp="1"/>
          </p:cNvSpPr>
          <p:nvPr>
            <p:ph type="body" idx="1"/>
          </p:nvPr>
        </p:nvSpPr>
        <p:spPr>
          <a:xfrm>
            <a:off x="628650" y="1369221"/>
            <a:ext cx="7886700" cy="1350000"/>
          </a:xfrm>
          <a:prstGeom prst="rect">
            <a:avLst/>
          </a:prstGeom>
        </p:spPr>
        <p:txBody>
          <a:bodyPr spcFirstLastPara="1" wrap="square" lIns="68575" tIns="34275" rIns="68575" bIns="34275" anchor="t" anchorCtr="0">
            <a:normAutofit/>
          </a:bodyPr>
          <a:lstStyle/>
          <a:p>
            <a:pPr marL="0" lvl="0" indent="0" algn="l" rtl="0">
              <a:spcBef>
                <a:spcPts val="0"/>
              </a:spcBef>
              <a:spcAft>
                <a:spcPts val="0"/>
              </a:spcAft>
              <a:buNone/>
            </a:pPr>
            <a:r>
              <a:rPr lang="en" dirty="0"/>
              <a:t>Demultiplexing tools: Sabre, iDemux, Cutadapt etc..</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Generally performed by sequencing companies before sending</a:t>
            </a:r>
            <a:endParaRPr dirty="0"/>
          </a:p>
          <a:p>
            <a:pPr marL="0" lvl="0" indent="0" algn="l" rtl="0">
              <a:spcBef>
                <a:spcPts val="0"/>
              </a:spcBef>
              <a:spcAft>
                <a:spcPts val="0"/>
              </a:spcAft>
              <a:buClr>
                <a:schemeClr val="dk1"/>
              </a:buClr>
              <a:buSzPts val="1100"/>
              <a:buFont typeface="Arial"/>
              <a:buNone/>
            </a:pPr>
            <a:r>
              <a:rPr lang="en" dirty="0"/>
              <a:t>the data. Good to know what it is to be able to spot it in QC.</a:t>
            </a:r>
            <a:endParaRPr dirty="0"/>
          </a:p>
        </p:txBody>
      </p:sp>
      <p:grpSp>
        <p:nvGrpSpPr>
          <p:cNvPr id="232" name="Google Shape;232;p20"/>
          <p:cNvGrpSpPr/>
          <p:nvPr/>
        </p:nvGrpSpPr>
        <p:grpSpPr>
          <a:xfrm>
            <a:off x="750430" y="3332599"/>
            <a:ext cx="1874400" cy="84300"/>
            <a:chOff x="5802430" y="2334174"/>
            <a:chExt cx="1874400" cy="84300"/>
          </a:xfrm>
        </p:grpSpPr>
        <p:sp>
          <p:nvSpPr>
            <p:cNvPr id="233" name="Google Shape;233;p20"/>
            <p:cNvSpPr/>
            <p:nvPr/>
          </p:nvSpPr>
          <p:spPr>
            <a:xfrm>
              <a:off x="6031030" y="2334174"/>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4" name="Google Shape;234;p20"/>
            <p:cNvSpPr/>
            <p:nvPr/>
          </p:nvSpPr>
          <p:spPr>
            <a:xfrm>
              <a:off x="58024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5" name="Google Shape;235;p20"/>
            <p:cNvSpPr/>
            <p:nvPr/>
          </p:nvSpPr>
          <p:spPr>
            <a:xfrm>
              <a:off x="74026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36" name="Google Shape;236;p20"/>
          <p:cNvGrpSpPr/>
          <p:nvPr/>
        </p:nvGrpSpPr>
        <p:grpSpPr>
          <a:xfrm>
            <a:off x="750430" y="3499340"/>
            <a:ext cx="1874400" cy="84300"/>
            <a:chOff x="5779630" y="2529599"/>
            <a:chExt cx="1874400" cy="84300"/>
          </a:xfrm>
        </p:grpSpPr>
        <p:sp>
          <p:nvSpPr>
            <p:cNvPr id="237" name="Google Shape;237;p20"/>
            <p:cNvSpPr/>
            <p:nvPr/>
          </p:nvSpPr>
          <p:spPr>
            <a:xfrm>
              <a:off x="6008230" y="2529599"/>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8" name="Google Shape;238;p20"/>
            <p:cNvSpPr/>
            <p:nvPr/>
          </p:nvSpPr>
          <p:spPr>
            <a:xfrm>
              <a:off x="57796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9" name="Google Shape;239;p20"/>
            <p:cNvSpPr/>
            <p:nvPr/>
          </p:nvSpPr>
          <p:spPr>
            <a:xfrm>
              <a:off x="73798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40" name="Google Shape;240;p20"/>
          <p:cNvGrpSpPr/>
          <p:nvPr/>
        </p:nvGrpSpPr>
        <p:grpSpPr>
          <a:xfrm>
            <a:off x="750430" y="3651740"/>
            <a:ext cx="1874400" cy="84300"/>
            <a:chOff x="5779630" y="2529599"/>
            <a:chExt cx="1874400" cy="84300"/>
          </a:xfrm>
        </p:grpSpPr>
        <p:sp>
          <p:nvSpPr>
            <p:cNvPr id="241" name="Google Shape;241;p20"/>
            <p:cNvSpPr/>
            <p:nvPr/>
          </p:nvSpPr>
          <p:spPr>
            <a:xfrm>
              <a:off x="6008230" y="2529599"/>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2" name="Google Shape;242;p20"/>
            <p:cNvSpPr/>
            <p:nvPr/>
          </p:nvSpPr>
          <p:spPr>
            <a:xfrm>
              <a:off x="57796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3" name="Google Shape;243;p20"/>
            <p:cNvSpPr/>
            <p:nvPr/>
          </p:nvSpPr>
          <p:spPr>
            <a:xfrm>
              <a:off x="73798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44" name="Google Shape;244;p20"/>
          <p:cNvGrpSpPr/>
          <p:nvPr/>
        </p:nvGrpSpPr>
        <p:grpSpPr>
          <a:xfrm>
            <a:off x="750430" y="3956540"/>
            <a:ext cx="1874400" cy="84300"/>
            <a:chOff x="5779630" y="2529599"/>
            <a:chExt cx="1874400" cy="84300"/>
          </a:xfrm>
        </p:grpSpPr>
        <p:sp>
          <p:nvSpPr>
            <p:cNvPr id="245" name="Google Shape;245;p20"/>
            <p:cNvSpPr/>
            <p:nvPr/>
          </p:nvSpPr>
          <p:spPr>
            <a:xfrm>
              <a:off x="6008230" y="2529599"/>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6" name="Google Shape;246;p20"/>
            <p:cNvSpPr/>
            <p:nvPr/>
          </p:nvSpPr>
          <p:spPr>
            <a:xfrm>
              <a:off x="57796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7" name="Google Shape;247;p20"/>
            <p:cNvSpPr/>
            <p:nvPr/>
          </p:nvSpPr>
          <p:spPr>
            <a:xfrm>
              <a:off x="73798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48" name="Google Shape;248;p20"/>
          <p:cNvGrpSpPr/>
          <p:nvPr/>
        </p:nvGrpSpPr>
        <p:grpSpPr>
          <a:xfrm>
            <a:off x="750430" y="3804149"/>
            <a:ext cx="1874400" cy="84300"/>
            <a:chOff x="5802430" y="2334174"/>
            <a:chExt cx="1874400" cy="84300"/>
          </a:xfrm>
        </p:grpSpPr>
        <p:sp>
          <p:nvSpPr>
            <p:cNvPr id="249" name="Google Shape;249;p20"/>
            <p:cNvSpPr/>
            <p:nvPr/>
          </p:nvSpPr>
          <p:spPr>
            <a:xfrm>
              <a:off x="6031030" y="2334174"/>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50" name="Google Shape;250;p20"/>
            <p:cNvSpPr/>
            <p:nvPr/>
          </p:nvSpPr>
          <p:spPr>
            <a:xfrm>
              <a:off x="58024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51" name="Google Shape;251;p20"/>
            <p:cNvSpPr/>
            <p:nvPr/>
          </p:nvSpPr>
          <p:spPr>
            <a:xfrm>
              <a:off x="74026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52" name="Google Shape;252;p20"/>
          <p:cNvGrpSpPr/>
          <p:nvPr/>
        </p:nvGrpSpPr>
        <p:grpSpPr>
          <a:xfrm>
            <a:off x="750430" y="4108949"/>
            <a:ext cx="1874400" cy="84300"/>
            <a:chOff x="5802430" y="2334174"/>
            <a:chExt cx="1874400" cy="84300"/>
          </a:xfrm>
        </p:grpSpPr>
        <p:sp>
          <p:nvSpPr>
            <p:cNvPr id="253" name="Google Shape;253;p20"/>
            <p:cNvSpPr/>
            <p:nvPr/>
          </p:nvSpPr>
          <p:spPr>
            <a:xfrm>
              <a:off x="6031030" y="2334174"/>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54" name="Google Shape;254;p20"/>
            <p:cNvSpPr/>
            <p:nvPr/>
          </p:nvSpPr>
          <p:spPr>
            <a:xfrm>
              <a:off x="58024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55" name="Google Shape;255;p20"/>
            <p:cNvSpPr/>
            <p:nvPr/>
          </p:nvSpPr>
          <p:spPr>
            <a:xfrm>
              <a:off x="74026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56" name="Google Shape;256;p20"/>
          <p:cNvGrpSpPr/>
          <p:nvPr/>
        </p:nvGrpSpPr>
        <p:grpSpPr>
          <a:xfrm>
            <a:off x="4106705" y="3492174"/>
            <a:ext cx="1874400" cy="84300"/>
            <a:chOff x="5802430" y="2334174"/>
            <a:chExt cx="1874400" cy="84300"/>
          </a:xfrm>
        </p:grpSpPr>
        <p:sp>
          <p:nvSpPr>
            <p:cNvPr id="257" name="Google Shape;257;p20"/>
            <p:cNvSpPr/>
            <p:nvPr/>
          </p:nvSpPr>
          <p:spPr>
            <a:xfrm>
              <a:off x="6031030" y="2334174"/>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58" name="Google Shape;258;p20"/>
            <p:cNvSpPr/>
            <p:nvPr/>
          </p:nvSpPr>
          <p:spPr>
            <a:xfrm>
              <a:off x="58024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59" name="Google Shape;259;p20"/>
            <p:cNvSpPr/>
            <p:nvPr/>
          </p:nvSpPr>
          <p:spPr>
            <a:xfrm>
              <a:off x="74026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60" name="Google Shape;260;p20"/>
          <p:cNvGrpSpPr/>
          <p:nvPr/>
        </p:nvGrpSpPr>
        <p:grpSpPr>
          <a:xfrm>
            <a:off x="4106705" y="3963715"/>
            <a:ext cx="1874400" cy="84300"/>
            <a:chOff x="5779630" y="2529599"/>
            <a:chExt cx="1874400" cy="84300"/>
          </a:xfrm>
        </p:grpSpPr>
        <p:sp>
          <p:nvSpPr>
            <p:cNvPr id="261" name="Google Shape;261;p20"/>
            <p:cNvSpPr/>
            <p:nvPr/>
          </p:nvSpPr>
          <p:spPr>
            <a:xfrm>
              <a:off x="6008230" y="2529599"/>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62" name="Google Shape;262;p20"/>
            <p:cNvSpPr/>
            <p:nvPr/>
          </p:nvSpPr>
          <p:spPr>
            <a:xfrm>
              <a:off x="57796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63" name="Google Shape;263;p20"/>
            <p:cNvSpPr/>
            <p:nvPr/>
          </p:nvSpPr>
          <p:spPr>
            <a:xfrm>
              <a:off x="73798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64" name="Google Shape;264;p20"/>
          <p:cNvGrpSpPr/>
          <p:nvPr/>
        </p:nvGrpSpPr>
        <p:grpSpPr>
          <a:xfrm>
            <a:off x="4106705" y="4268515"/>
            <a:ext cx="1874400" cy="84300"/>
            <a:chOff x="5779630" y="2529599"/>
            <a:chExt cx="1874400" cy="84300"/>
          </a:xfrm>
        </p:grpSpPr>
        <p:sp>
          <p:nvSpPr>
            <p:cNvPr id="265" name="Google Shape;265;p20"/>
            <p:cNvSpPr/>
            <p:nvPr/>
          </p:nvSpPr>
          <p:spPr>
            <a:xfrm>
              <a:off x="6008230" y="2529599"/>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66" name="Google Shape;266;p20"/>
            <p:cNvSpPr/>
            <p:nvPr/>
          </p:nvSpPr>
          <p:spPr>
            <a:xfrm>
              <a:off x="57796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67" name="Google Shape;267;p20"/>
            <p:cNvSpPr/>
            <p:nvPr/>
          </p:nvSpPr>
          <p:spPr>
            <a:xfrm>
              <a:off x="73798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68" name="Google Shape;268;p20"/>
          <p:cNvGrpSpPr/>
          <p:nvPr/>
        </p:nvGrpSpPr>
        <p:grpSpPr>
          <a:xfrm>
            <a:off x="4106705" y="4116115"/>
            <a:ext cx="1874400" cy="84300"/>
            <a:chOff x="5779630" y="2529599"/>
            <a:chExt cx="1874400" cy="84300"/>
          </a:xfrm>
        </p:grpSpPr>
        <p:sp>
          <p:nvSpPr>
            <p:cNvPr id="269" name="Google Shape;269;p20"/>
            <p:cNvSpPr/>
            <p:nvPr/>
          </p:nvSpPr>
          <p:spPr>
            <a:xfrm>
              <a:off x="6008230" y="2529599"/>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0" name="Google Shape;270;p20"/>
            <p:cNvSpPr/>
            <p:nvPr/>
          </p:nvSpPr>
          <p:spPr>
            <a:xfrm>
              <a:off x="57796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1" name="Google Shape;271;p20"/>
            <p:cNvSpPr/>
            <p:nvPr/>
          </p:nvSpPr>
          <p:spPr>
            <a:xfrm>
              <a:off x="7379830" y="2529599"/>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72" name="Google Shape;272;p20"/>
          <p:cNvGrpSpPr/>
          <p:nvPr/>
        </p:nvGrpSpPr>
        <p:grpSpPr>
          <a:xfrm>
            <a:off x="4106705" y="3201724"/>
            <a:ext cx="1874400" cy="84300"/>
            <a:chOff x="5802430" y="2334174"/>
            <a:chExt cx="1874400" cy="84300"/>
          </a:xfrm>
        </p:grpSpPr>
        <p:sp>
          <p:nvSpPr>
            <p:cNvPr id="273" name="Google Shape;273;p20"/>
            <p:cNvSpPr/>
            <p:nvPr/>
          </p:nvSpPr>
          <p:spPr>
            <a:xfrm>
              <a:off x="6031030" y="2334174"/>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4" name="Google Shape;274;p20"/>
            <p:cNvSpPr/>
            <p:nvPr/>
          </p:nvSpPr>
          <p:spPr>
            <a:xfrm>
              <a:off x="58024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5" name="Google Shape;275;p20"/>
            <p:cNvSpPr/>
            <p:nvPr/>
          </p:nvSpPr>
          <p:spPr>
            <a:xfrm>
              <a:off x="74026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grpSp>
        <p:nvGrpSpPr>
          <p:cNvPr id="276" name="Google Shape;276;p20"/>
          <p:cNvGrpSpPr/>
          <p:nvPr/>
        </p:nvGrpSpPr>
        <p:grpSpPr>
          <a:xfrm>
            <a:off x="4106705" y="3354124"/>
            <a:ext cx="1874400" cy="84300"/>
            <a:chOff x="5802430" y="2334174"/>
            <a:chExt cx="1874400" cy="84300"/>
          </a:xfrm>
        </p:grpSpPr>
        <p:sp>
          <p:nvSpPr>
            <p:cNvPr id="277" name="Google Shape;277;p20"/>
            <p:cNvSpPr/>
            <p:nvPr/>
          </p:nvSpPr>
          <p:spPr>
            <a:xfrm>
              <a:off x="6031030" y="2334174"/>
              <a:ext cx="13716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8" name="Google Shape;278;p20"/>
            <p:cNvSpPr/>
            <p:nvPr/>
          </p:nvSpPr>
          <p:spPr>
            <a:xfrm>
              <a:off x="58024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9" name="Google Shape;279;p20"/>
            <p:cNvSpPr/>
            <p:nvPr/>
          </p:nvSpPr>
          <p:spPr>
            <a:xfrm>
              <a:off x="7402630" y="2334174"/>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280" name="Google Shape;280;p20"/>
          <p:cNvSpPr/>
          <p:nvPr/>
        </p:nvSpPr>
        <p:spPr>
          <a:xfrm>
            <a:off x="6694030" y="4054300"/>
            <a:ext cx="274200" cy="84300"/>
          </a:xfrm>
          <a:prstGeom prst="rect">
            <a:avLst/>
          </a:prstGeom>
          <a:solidFill>
            <a:srgbClr val="CC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1" name="Google Shape;281;p20"/>
          <p:cNvSpPr/>
          <p:nvPr/>
        </p:nvSpPr>
        <p:spPr>
          <a:xfrm>
            <a:off x="6694030" y="4359100"/>
            <a:ext cx="274200" cy="84300"/>
          </a:xfrm>
          <a:prstGeom prst="rect">
            <a:avLst/>
          </a:prstGeom>
          <a:solidFill>
            <a:srgbClr val="006FB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2" name="Google Shape;282;p20"/>
          <p:cNvSpPr/>
          <p:nvPr/>
        </p:nvSpPr>
        <p:spPr>
          <a:xfrm>
            <a:off x="6694030" y="4663900"/>
            <a:ext cx="274200" cy="84300"/>
          </a:xfrm>
          <a:prstGeom prst="rect">
            <a:avLst/>
          </a:prstGeom>
          <a:solidFill>
            <a:srgbClr val="4AAB7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3" name="Google Shape;283;p20"/>
          <p:cNvSpPr txBox="1"/>
          <p:nvPr/>
        </p:nvSpPr>
        <p:spPr>
          <a:xfrm>
            <a:off x="7146575" y="3865600"/>
            <a:ext cx="180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Index sample A</a:t>
            </a:r>
            <a:endParaRPr sz="1800">
              <a:solidFill>
                <a:schemeClr val="dk2"/>
              </a:solidFill>
            </a:endParaRPr>
          </a:p>
        </p:txBody>
      </p:sp>
      <p:sp>
        <p:nvSpPr>
          <p:cNvPr id="284" name="Google Shape;284;p20"/>
          <p:cNvSpPr txBox="1"/>
          <p:nvPr/>
        </p:nvSpPr>
        <p:spPr>
          <a:xfrm>
            <a:off x="7146575" y="4170400"/>
            <a:ext cx="180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Index sample B</a:t>
            </a:r>
            <a:endParaRPr sz="1800">
              <a:solidFill>
                <a:schemeClr val="dk2"/>
              </a:solidFill>
            </a:endParaRPr>
          </a:p>
        </p:txBody>
      </p:sp>
      <p:sp>
        <p:nvSpPr>
          <p:cNvPr id="285" name="Google Shape;285;p20"/>
          <p:cNvSpPr txBox="1"/>
          <p:nvPr/>
        </p:nvSpPr>
        <p:spPr>
          <a:xfrm>
            <a:off x="7146575" y="4475200"/>
            <a:ext cx="180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DNA sequence</a:t>
            </a:r>
            <a:endParaRPr sz="1800">
              <a:solidFill>
                <a:schemeClr val="dk2"/>
              </a:solidFill>
            </a:endParaRPr>
          </a:p>
        </p:txBody>
      </p:sp>
      <p:sp>
        <p:nvSpPr>
          <p:cNvPr id="286" name="Google Shape;286;p20"/>
          <p:cNvSpPr/>
          <p:nvPr/>
        </p:nvSpPr>
        <p:spPr>
          <a:xfrm>
            <a:off x="2913061" y="36517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7" name="Google Shape;287;p20"/>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1"/>
          <p:cNvSpPr txBox="1">
            <a:spLocks noGrp="1"/>
          </p:cNvSpPr>
          <p:nvPr>
            <p:ph type="title"/>
          </p:nvPr>
        </p:nvSpPr>
        <p:spPr>
          <a:xfrm>
            <a:off x="165720" y="-51977"/>
            <a:ext cx="3696710" cy="1064075"/>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dirty="0"/>
              <a:t>Data preprocessing - Adapter trimming</a:t>
            </a:r>
            <a:endParaRPr dirty="0"/>
          </a:p>
        </p:txBody>
      </p:sp>
      <p:sp>
        <p:nvSpPr>
          <p:cNvPr id="293" name="Google Shape;293;p21"/>
          <p:cNvSpPr txBox="1">
            <a:spLocks noGrp="1"/>
          </p:cNvSpPr>
          <p:nvPr>
            <p:ph type="body" idx="1"/>
          </p:nvPr>
        </p:nvSpPr>
        <p:spPr>
          <a:xfrm>
            <a:off x="249539" y="1012098"/>
            <a:ext cx="4390827" cy="3971315"/>
          </a:xfrm>
          <a:prstGeom prst="rect">
            <a:avLst/>
          </a:prstGeom>
        </p:spPr>
        <p:txBody>
          <a:bodyPr spcFirstLastPara="1" wrap="square" lIns="68575" tIns="34275" rIns="68575" bIns="34275" anchor="t" anchorCtr="0">
            <a:normAutofit/>
          </a:bodyPr>
          <a:lstStyle/>
          <a:p>
            <a:pPr marL="0" lvl="0" indent="0" algn="l" rtl="0">
              <a:spcBef>
                <a:spcPts val="0"/>
              </a:spcBef>
              <a:spcAft>
                <a:spcPts val="0"/>
              </a:spcAft>
              <a:buNone/>
            </a:pPr>
            <a:r>
              <a:rPr lang="en" dirty="0"/>
              <a:t>Adapters can be recognized in the QC data and removed (de novo or reference). </a:t>
            </a:r>
          </a:p>
          <a:p>
            <a:pPr marL="0" lvl="0" indent="0" algn="l" rtl="0">
              <a:spcBef>
                <a:spcPts val="0"/>
              </a:spcBef>
              <a:spcAft>
                <a:spcPts val="0"/>
              </a:spcAft>
              <a:buNone/>
            </a:pPr>
            <a:endParaRPr dirty="0"/>
          </a:p>
          <a:p>
            <a:pPr marL="0" lvl="0" indent="0" algn="l" rtl="0">
              <a:spcBef>
                <a:spcPts val="0"/>
              </a:spcBef>
              <a:spcAft>
                <a:spcPts val="0"/>
              </a:spcAft>
              <a:buNone/>
            </a:pPr>
            <a:r>
              <a:rPr lang="en" dirty="0"/>
              <a:t>Recommended tools:</a:t>
            </a:r>
            <a:endParaRPr dirty="0"/>
          </a:p>
          <a:p>
            <a:pPr marL="0" lvl="0" indent="0" algn="l" rtl="0">
              <a:spcBef>
                <a:spcPts val="0"/>
              </a:spcBef>
              <a:spcAft>
                <a:spcPts val="0"/>
              </a:spcAft>
              <a:buNone/>
            </a:pPr>
            <a:r>
              <a:rPr lang="en" dirty="0">
                <a:solidFill>
                  <a:schemeClr val="dk1"/>
                </a:solidFill>
              </a:rPr>
              <a:t>Trimmomatic, Cutadapt, bbduk, fastp</a:t>
            </a:r>
            <a:endParaRPr dirty="0">
              <a:solidFill>
                <a:schemeClr val="dk1"/>
              </a:solidFill>
            </a:endParaRPr>
          </a:p>
          <a:p>
            <a:pPr marL="0" lvl="0" indent="0" algn="l" rtl="0">
              <a:spcBef>
                <a:spcPts val="0"/>
              </a:spcBef>
              <a:spcAft>
                <a:spcPts val="0"/>
              </a:spcAft>
              <a:buNone/>
            </a:pPr>
            <a:endParaRPr dirty="0"/>
          </a:p>
          <a:p>
            <a:pPr marL="0" lvl="0" indent="0" algn="l" rtl="0">
              <a:spcBef>
                <a:spcPts val="0"/>
              </a:spcBef>
              <a:spcAft>
                <a:spcPts val="0"/>
              </a:spcAft>
              <a:buNone/>
            </a:pPr>
            <a:r>
              <a:rPr lang="en" dirty="0"/>
              <a:t>After adapter removal, rerun QC</a:t>
            </a:r>
            <a:endParaRPr dirty="0"/>
          </a:p>
          <a:p>
            <a:pPr marL="0" lvl="0" indent="0" algn="l" rtl="0">
              <a:spcBef>
                <a:spcPts val="0"/>
              </a:spcBef>
              <a:spcAft>
                <a:spcPts val="0"/>
              </a:spcAft>
              <a:buNone/>
            </a:pPr>
            <a:r>
              <a:rPr lang="en" dirty="0"/>
              <a:t>on the fastq files to check</a:t>
            </a:r>
            <a:endParaRPr dirty="0"/>
          </a:p>
          <a:p>
            <a:pPr marL="0" lvl="0" indent="0" algn="l" rtl="0">
              <a:spcBef>
                <a:spcPts val="0"/>
              </a:spcBef>
              <a:spcAft>
                <a:spcPts val="0"/>
              </a:spcAft>
              <a:buNone/>
            </a:pPr>
            <a:endParaRPr lang="nl-NL" dirty="0"/>
          </a:p>
        </p:txBody>
      </p:sp>
      <p:sp>
        <p:nvSpPr>
          <p:cNvPr id="300" name="Google Shape;300;p21"/>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8</a:t>
            </a:fld>
            <a:endParaRPr/>
          </a:p>
        </p:txBody>
      </p:sp>
      <p:pic>
        <p:nvPicPr>
          <p:cNvPr id="3" name="Picture 2">
            <a:extLst>
              <a:ext uri="{FF2B5EF4-FFF2-40B4-BE49-F238E27FC236}">
                <a16:creationId xmlns:a16="http://schemas.microsoft.com/office/drawing/2014/main" id="{047B226F-B17B-E1FD-5F18-69F141051913}"/>
              </a:ext>
            </a:extLst>
          </p:cNvPr>
          <p:cNvPicPr>
            <a:picLocks noChangeAspect="1"/>
          </p:cNvPicPr>
          <p:nvPr/>
        </p:nvPicPr>
        <p:blipFill>
          <a:blip r:embed="rId3"/>
          <a:stretch>
            <a:fillRect/>
          </a:stretch>
        </p:blipFill>
        <p:spPr>
          <a:xfrm>
            <a:off x="4486534" y="0"/>
            <a:ext cx="4531160" cy="2484120"/>
          </a:xfrm>
          <a:prstGeom prst="rect">
            <a:avLst/>
          </a:prstGeom>
        </p:spPr>
      </p:pic>
      <p:pic>
        <p:nvPicPr>
          <p:cNvPr id="5" name="Picture 4">
            <a:extLst>
              <a:ext uri="{FF2B5EF4-FFF2-40B4-BE49-F238E27FC236}">
                <a16:creationId xmlns:a16="http://schemas.microsoft.com/office/drawing/2014/main" id="{A57531E9-C4C9-C61A-5783-3DCFCDEFE2A7}"/>
              </a:ext>
            </a:extLst>
          </p:cNvPr>
          <p:cNvPicPr>
            <a:picLocks noChangeAspect="1"/>
          </p:cNvPicPr>
          <p:nvPr/>
        </p:nvPicPr>
        <p:blipFill>
          <a:blip r:embed="rId4"/>
          <a:stretch>
            <a:fillRect/>
          </a:stretch>
        </p:blipFill>
        <p:spPr>
          <a:xfrm>
            <a:off x="4486533" y="2484120"/>
            <a:ext cx="4531160" cy="25767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dirty="0"/>
              <a:t>Data preprocessing - Quality filter</a:t>
            </a:r>
            <a:endParaRPr dirty="0"/>
          </a:p>
        </p:txBody>
      </p:sp>
      <p:pic>
        <p:nvPicPr>
          <p:cNvPr id="306" name="Google Shape;306;p22" descr="Chart&#10;&#10;Description automatically generated"/>
          <p:cNvPicPr preferRelativeResize="0"/>
          <p:nvPr/>
        </p:nvPicPr>
        <p:blipFill rotWithShape="1">
          <a:blip r:embed="rId3">
            <a:alphaModFix/>
          </a:blip>
          <a:srcRect/>
          <a:stretch/>
        </p:blipFill>
        <p:spPr>
          <a:xfrm>
            <a:off x="708277" y="1935923"/>
            <a:ext cx="3717013" cy="2563500"/>
          </a:xfrm>
          <a:prstGeom prst="rect">
            <a:avLst/>
          </a:prstGeom>
          <a:noFill/>
          <a:ln>
            <a:noFill/>
          </a:ln>
        </p:spPr>
      </p:pic>
      <p:sp>
        <p:nvSpPr>
          <p:cNvPr id="307" name="Google Shape;307;p22"/>
          <p:cNvSpPr txBox="1"/>
          <p:nvPr/>
        </p:nvSpPr>
        <p:spPr>
          <a:xfrm>
            <a:off x="628650" y="1338700"/>
            <a:ext cx="8898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Phred quality score – Logarithmic score representing the quality of a nucleotide</a:t>
            </a:r>
            <a:endParaRPr sz="1800" dirty="0">
              <a:solidFill>
                <a:schemeClr val="dk2"/>
              </a:solidFill>
            </a:endParaRPr>
          </a:p>
        </p:txBody>
      </p:sp>
      <p:graphicFrame>
        <p:nvGraphicFramePr>
          <p:cNvPr id="308" name="Google Shape;308;p22"/>
          <p:cNvGraphicFramePr/>
          <p:nvPr/>
        </p:nvGraphicFramePr>
        <p:xfrm>
          <a:off x="4495800" y="2352250"/>
          <a:ext cx="4407150" cy="1798200"/>
        </p:xfrm>
        <a:graphic>
          <a:graphicData uri="http://schemas.openxmlformats.org/drawingml/2006/table">
            <a:tbl>
              <a:tblPr>
                <a:noFill/>
                <a:tableStyleId>{74ED590C-AC18-4EEA-A8E6-FBBD931EF637}</a:tableStyleId>
              </a:tblPr>
              <a:tblGrid>
                <a:gridCol w="1469050">
                  <a:extLst>
                    <a:ext uri="{9D8B030D-6E8A-4147-A177-3AD203B41FA5}">
                      <a16:colId xmlns:a16="http://schemas.microsoft.com/office/drawing/2014/main" val="20000"/>
                    </a:ext>
                  </a:extLst>
                </a:gridCol>
                <a:gridCol w="1800875">
                  <a:extLst>
                    <a:ext uri="{9D8B030D-6E8A-4147-A177-3AD203B41FA5}">
                      <a16:colId xmlns:a16="http://schemas.microsoft.com/office/drawing/2014/main" val="20001"/>
                    </a:ext>
                  </a:extLst>
                </a:gridCol>
                <a:gridCol w="11372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Clr>
                          <a:schemeClr val="dk1"/>
                        </a:buClr>
                        <a:buSzPts val="1100"/>
                        <a:buFont typeface="Arial"/>
                        <a:buNone/>
                      </a:pPr>
                      <a:r>
                        <a:rPr lang="en"/>
                        <a:t>Phred Quality</a:t>
                      </a:r>
                      <a:endParaRPr/>
                    </a:p>
                    <a:p>
                      <a:pPr marL="0" lvl="0" indent="0" algn="l" rtl="0">
                        <a:spcBef>
                          <a:spcPts val="0"/>
                        </a:spcBef>
                        <a:spcAft>
                          <a:spcPts val="0"/>
                        </a:spcAft>
                        <a:buNone/>
                      </a:pPr>
                      <a:r>
                        <a:rPr lang="en"/>
                        <a:t>Score</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a:t>Probability of</a:t>
                      </a:r>
                      <a:endParaRPr/>
                    </a:p>
                    <a:p>
                      <a:pPr marL="0" lvl="0" indent="0" algn="l" rtl="0">
                        <a:spcBef>
                          <a:spcPts val="0"/>
                        </a:spcBef>
                        <a:spcAft>
                          <a:spcPts val="0"/>
                        </a:spcAft>
                        <a:buClr>
                          <a:schemeClr val="dk1"/>
                        </a:buClr>
                        <a:buSzPts val="1100"/>
                        <a:buFont typeface="Arial"/>
                        <a:buNone/>
                      </a:pPr>
                      <a:r>
                        <a:rPr lang="en"/>
                        <a:t>incorrect base call</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a:t>Base call</a:t>
                      </a:r>
                      <a:endParaRPr/>
                    </a:p>
                    <a:p>
                      <a:pPr marL="0" lvl="0" indent="0" algn="l" rtl="0">
                        <a:spcBef>
                          <a:spcPts val="0"/>
                        </a:spcBef>
                        <a:spcAft>
                          <a:spcPts val="0"/>
                        </a:spcAft>
                        <a:buNone/>
                      </a:pPr>
                      <a:r>
                        <a:rPr lang="en"/>
                        <a:t>accuracy</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10</a:t>
                      </a:r>
                      <a:endParaRPr/>
                    </a:p>
                  </a:txBody>
                  <a:tcPr marL="91425" marR="91425" marT="91425" marB="91425"/>
                </a:tc>
                <a:tc>
                  <a:txBody>
                    <a:bodyPr/>
                    <a:lstStyle/>
                    <a:p>
                      <a:pPr marL="0" lvl="0" indent="0" algn="l" rtl="0">
                        <a:spcBef>
                          <a:spcPts val="0"/>
                        </a:spcBef>
                        <a:spcAft>
                          <a:spcPts val="0"/>
                        </a:spcAft>
                        <a:buNone/>
                      </a:pPr>
                      <a:r>
                        <a:rPr lang="en"/>
                        <a:t>1 in 10</a:t>
                      </a:r>
                      <a:endParaRPr/>
                    </a:p>
                  </a:txBody>
                  <a:tcPr marL="91425" marR="91425" marT="91425" marB="91425"/>
                </a:tc>
                <a:tc>
                  <a:txBody>
                    <a:bodyPr/>
                    <a:lstStyle/>
                    <a:p>
                      <a:pPr marL="0" lvl="0" indent="0" algn="l" rtl="0">
                        <a:spcBef>
                          <a:spcPts val="0"/>
                        </a:spcBef>
                        <a:spcAft>
                          <a:spcPts val="0"/>
                        </a:spcAft>
                        <a:buNone/>
                      </a:pPr>
                      <a:r>
                        <a:rPr lang="en"/>
                        <a:t>90%</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20</a:t>
                      </a:r>
                      <a:endParaRPr/>
                    </a:p>
                  </a:txBody>
                  <a:tcPr marL="91425" marR="91425" marT="91425" marB="91425"/>
                </a:tc>
                <a:tc>
                  <a:txBody>
                    <a:bodyPr/>
                    <a:lstStyle/>
                    <a:p>
                      <a:pPr marL="0" lvl="0" indent="0" algn="l" rtl="0">
                        <a:spcBef>
                          <a:spcPts val="0"/>
                        </a:spcBef>
                        <a:spcAft>
                          <a:spcPts val="0"/>
                        </a:spcAft>
                        <a:buNone/>
                      </a:pPr>
                      <a:r>
                        <a:rPr lang="en"/>
                        <a:t>1 in 100</a:t>
                      </a:r>
                      <a:endParaRPr/>
                    </a:p>
                  </a:txBody>
                  <a:tcPr marL="91425" marR="91425" marT="91425" marB="91425"/>
                </a:tc>
                <a:tc>
                  <a:txBody>
                    <a:bodyPr/>
                    <a:lstStyle/>
                    <a:p>
                      <a:pPr marL="0" lvl="0" indent="0" algn="l" rtl="0">
                        <a:spcBef>
                          <a:spcPts val="0"/>
                        </a:spcBef>
                        <a:spcAft>
                          <a:spcPts val="0"/>
                        </a:spcAft>
                        <a:buNone/>
                      </a:pPr>
                      <a:r>
                        <a:rPr lang="en"/>
                        <a:t>99%</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30</a:t>
                      </a:r>
                      <a:endParaRPr/>
                    </a:p>
                  </a:txBody>
                  <a:tcPr marL="91425" marR="91425" marT="91425" marB="91425"/>
                </a:tc>
                <a:tc>
                  <a:txBody>
                    <a:bodyPr/>
                    <a:lstStyle/>
                    <a:p>
                      <a:pPr marL="0" lvl="0" indent="0" algn="l" rtl="0">
                        <a:spcBef>
                          <a:spcPts val="0"/>
                        </a:spcBef>
                        <a:spcAft>
                          <a:spcPts val="0"/>
                        </a:spcAft>
                        <a:buNone/>
                      </a:pPr>
                      <a:r>
                        <a:rPr lang="en"/>
                        <a:t>1 in 1000</a:t>
                      </a:r>
                      <a:endParaRPr/>
                    </a:p>
                  </a:txBody>
                  <a:tcPr marL="91425" marR="91425" marT="91425" marB="91425"/>
                </a:tc>
                <a:tc>
                  <a:txBody>
                    <a:bodyPr/>
                    <a:lstStyle/>
                    <a:p>
                      <a:pPr marL="0" lvl="0" indent="0" algn="l" rtl="0">
                        <a:spcBef>
                          <a:spcPts val="0"/>
                        </a:spcBef>
                        <a:spcAft>
                          <a:spcPts val="0"/>
                        </a:spcAft>
                        <a:buNone/>
                      </a:pPr>
                      <a:r>
                        <a:rPr lang="en"/>
                        <a:t>99.9%</a:t>
                      </a:r>
                      <a:endParaRPr/>
                    </a:p>
                  </a:txBody>
                  <a:tcPr marL="91425" marR="91425" marT="91425" marB="91425"/>
                </a:tc>
                <a:extLst>
                  <a:ext uri="{0D108BD9-81ED-4DB2-BD59-A6C34878D82A}">
                    <a16:rowId xmlns:a16="http://schemas.microsoft.com/office/drawing/2014/main" val="10003"/>
                  </a:ext>
                </a:extLst>
              </a:tr>
            </a:tbl>
          </a:graphicData>
        </a:graphic>
      </p:graphicFrame>
      <p:sp>
        <p:nvSpPr>
          <p:cNvPr id="309" name="Google Shape;309;p22"/>
          <p:cNvSpPr/>
          <p:nvPr/>
        </p:nvSpPr>
        <p:spPr>
          <a:xfrm>
            <a:off x="313850" y="2456300"/>
            <a:ext cx="390000" cy="187800"/>
          </a:xfrm>
          <a:prstGeom prst="rightArrow">
            <a:avLst>
              <a:gd name="adj1" fmla="val 50000"/>
              <a:gd name="adj2" fmla="val 50000"/>
            </a:avLst>
          </a:prstGeom>
          <a:solidFill>
            <a:srgbClr val="C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0" name="Google Shape;310;p22"/>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0D1C9-686A-F713-0717-74E39BF3C7AE}"/>
              </a:ext>
            </a:extLst>
          </p:cNvPr>
          <p:cNvSpPr>
            <a:spLocks noGrp="1"/>
          </p:cNvSpPr>
          <p:nvPr>
            <p:ph type="title"/>
          </p:nvPr>
        </p:nvSpPr>
        <p:spPr>
          <a:xfrm>
            <a:off x="295364" y="75290"/>
            <a:ext cx="4789384" cy="1170395"/>
          </a:xfrm>
        </p:spPr>
        <p:txBody>
          <a:bodyPr/>
          <a:lstStyle/>
          <a:p>
            <a:r>
              <a:rPr lang="en" dirty="0"/>
              <a:t>Data preprocessing – other quality measures</a:t>
            </a:r>
            <a:endParaRPr lang="nl-NL" dirty="0"/>
          </a:p>
        </p:txBody>
      </p:sp>
      <p:sp>
        <p:nvSpPr>
          <p:cNvPr id="3" name="Text Placeholder 2">
            <a:extLst>
              <a:ext uri="{FF2B5EF4-FFF2-40B4-BE49-F238E27FC236}">
                <a16:creationId xmlns:a16="http://schemas.microsoft.com/office/drawing/2014/main" id="{7CEAFC26-E34D-B62F-24BB-DE673180EA42}"/>
              </a:ext>
            </a:extLst>
          </p:cNvPr>
          <p:cNvSpPr>
            <a:spLocks noGrp="1"/>
          </p:cNvSpPr>
          <p:nvPr>
            <p:ph type="body" idx="1"/>
          </p:nvPr>
        </p:nvSpPr>
        <p:spPr>
          <a:xfrm>
            <a:off x="628650" y="1369219"/>
            <a:ext cx="3790950" cy="3263400"/>
          </a:xfrm>
        </p:spPr>
        <p:txBody>
          <a:bodyPr>
            <a:normAutofit fontScale="92500" lnSpcReduction="10000"/>
          </a:bodyPr>
          <a:lstStyle/>
          <a:p>
            <a:r>
              <a:rPr lang="en-US" dirty="0"/>
              <a:t>Good to check all ‘attention’ points, but remember what your data looks like (!)</a:t>
            </a:r>
          </a:p>
          <a:p>
            <a:pPr marL="139700" indent="0">
              <a:buNone/>
            </a:pPr>
            <a:endParaRPr lang="en-US" dirty="0"/>
          </a:p>
          <a:p>
            <a:r>
              <a:rPr lang="en-US" dirty="0"/>
              <a:t>GC &amp; </a:t>
            </a:r>
            <a:r>
              <a:rPr lang="en-US" dirty="0" err="1"/>
              <a:t>Kmer</a:t>
            </a:r>
            <a:r>
              <a:rPr lang="en-US" dirty="0"/>
              <a:t> content &amp; sequence duplication levels</a:t>
            </a:r>
          </a:p>
          <a:p>
            <a:pPr lvl="1"/>
            <a:r>
              <a:rPr lang="en-US" dirty="0"/>
              <a:t>Dependent on diversity (do you have low diversity samples?)</a:t>
            </a:r>
          </a:p>
          <a:p>
            <a:pPr lvl="1"/>
            <a:r>
              <a:rPr lang="en-US" dirty="0"/>
              <a:t>Dependent on evenness (do you expect dominant taxa in your sample)</a:t>
            </a:r>
          </a:p>
          <a:p>
            <a:pPr lvl="1"/>
            <a:r>
              <a:rPr lang="en-US" dirty="0"/>
              <a:t>Dependent on repetitive sequences within genomes.</a:t>
            </a:r>
          </a:p>
          <a:p>
            <a:r>
              <a:rPr lang="en-US" dirty="0"/>
              <a:t>Keep an eye out for poly G tails</a:t>
            </a:r>
          </a:p>
        </p:txBody>
      </p:sp>
      <p:sp>
        <p:nvSpPr>
          <p:cNvPr id="4" name="Slide Number Placeholder 3">
            <a:extLst>
              <a:ext uri="{FF2B5EF4-FFF2-40B4-BE49-F238E27FC236}">
                <a16:creationId xmlns:a16="http://schemas.microsoft.com/office/drawing/2014/main" id="{19C4E842-D31F-8B7E-6DFF-94DAC67D787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pic>
        <p:nvPicPr>
          <p:cNvPr id="5" name="Google Shape;306;p22" descr="Chart&#10;&#10;Description automatically generated">
            <a:extLst>
              <a:ext uri="{FF2B5EF4-FFF2-40B4-BE49-F238E27FC236}">
                <a16:creationId xmlns:a16="http://schemas.microsoft.com/office/drawing/2014/main" id="{45A558D2-A47B-13BF-6E59-637DB26CE2E2}"/>
              </a:ext>
            </a:extLst>
          </p:cNvPr>
          <p:cNvPicPr preferRelativeResize="0"/>
          <p:nvPr/>
        </p:nvPicPr>
        <p:blipFill rotWithShape="1">
          <a:blip r:embed="rId3">
            <a:alphaModFix/>
          </a:blip>
          <a:srcRect/>
          <a:stretch/>
        </p:blipFill>
        <p:spPr>
          <a:xfrm>
            <a:off x="4997867" y="909834"/>
            <a:ext cx="3717013" cy="2563500"/>
          </a:xfrm>
          <a:prstGeom prst="rect">
            <a:avLst/>
          </a:prstGeom>
          <a:noFill/>
          <a:ln>
            <a:noFill/>
          </a:ln>
        </p:spPr>
      </p:pic>
      <p:pic>
        <p:nvPicPr>
          <p:cNvPr id="6" name="Picture 5">
            <a:extLst>
              <a:ext uri="{FF2B5EF4-FFF2-40B4-BE49-F238E27FC236}">
                <a16:creationId xmlns:a16="http://schemas.microsoft.com/office/drawing/2014/main" id="{A4031652-3D5A-3988-9C88-E61CBE1D5B4C}"/>
              </a:ext>
            </a:extLst>
          </p:cNvPr>
          <p:cNvPicPr>
            <a:picLocks noChangeAspect="1"/>
          </p:cNvPicPr>
          <p:nvPr/>
        </p:nvPicPr>
        <p:blipFill>
          <a:blip r:embed="rId4"/>
          <a:srcRect l="47024" t="60705"/>
          <a:stretch>
            <a:fillRect/>
          </a:stretch>
        </p:blipFill>
        <p:spPr>
          <a:xfrm>
            <a:off x="5641747" y="3712617"/>
            <a:ext cx="2799668" cy="1334949"/>
          </a:xfrm>
          <a:prstGeom prst="rect">
            <a:avLst/>
          </a:prstGeom>
        </p:spPr>
      </p:pic>
    </p:spTree>
    <p:extLst>
      <p:ext uri="{BB962C8B-B14F-4D97-AF65-F5344CB8AC3E}">
        <p14:creationId xmlns:p14="http://schemas.microsoft.com/office/powerpoint/2010/main" val="2713765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3"/>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preprocessing - Host (&amp; other) removal</a:t>
            </a:r>
            <a:endParaRPr/>
          </a:p>
        </p:txBody>
      </p:sp>
      <p:pic>
        <p:nvPicPr>
          <p:cNvPr id="316" name="Google Shape;316;p23"/>
          <p:cNvPicPr preferRelativeResize="0"/>
          <p:nvPr/>
        </p:nvPicPr>
        <p:blipFill>
          <a:blip r:embed="rId3">
            <a:alphaModFix/>
          </a:blip>
          <a:stretch>
            <a:fillRect/>
          </a:stretch>
        </p:blipFill>
        <p:spPr>
          <a:xfrm>
            <a:off x="713910" y="2365475"/>
            <a:ext cx="788511" cy="1400155"/>
          </a:xfrm>
          <a:prstGeom prst="rect">
            <a:avLst/>
          </a:prstGeom>
          <a:noFill/>
          <a:ln>
            <a:noFill/>
          </a:ln>
        </p:spPr>
      </p:pic>
      <p:sp>
        <p:nvSpPr>
          <p:cNvPr id="317" name="Google Shape;317;p23"/>
          <p:cNvSpPr/>
          <p:nvPr/>
        </p:nvSpPr>
        <p:spPr>
          <a:xfrm>
            <a:off x="3479493" y="276937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18" name="Google Shape;318;p23"/>
          <p:cNvSpPr/>
          <p:nvPr/>
        </p:nvSpPr>
        <p:spPr>
          <a:xfrm>
            <a:off x="3731625" y="3021506"/>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19" name="Google Shape;319;p23"/>
          <p:cNvSpPr/>
          <p:nvPr/>
        </p:nvSpPr>
        <p:spPr>
          <a:xfrm>
            <a:off x="3840882" y="313076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0" name="Google Shape;320;p23"/>
          <p:cNvSpPr/>
          <p:nvPr/>
        </p:nvSpPr>
        <p:spPr>
          <a:xfrm>
            <a:off x="4227485" y="2710542"/>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1" name="Google Shape;321;p23"/>
          <p:cNvSpPr/>
          <p:nvPr/>
        </p:nvSpPr>
        <p:spPr>
          <a:xfrm>
            <a:off x="3479492" y="3601409"/>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2" name="Google Shape;322;p23"/>
          <p:cNvSpPr/>
          <p:nvPr/>
        </p:nvSpPr>
        <p:spPr>
          <a:xfrm>
            <a:off x="3866095" y="350055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3" name="Google Shape;323;p23"/>
          <p:cNvSpPr/>
          <p:nvPr/>
        </p:nvSpPr>
        <p:spPr>
          <a:xfrm>
            <a:off x="4135036" y="3416513"/>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4" name="Google Shape;324;p23"/>
          <p:cNvSpPr/>
          <p:nvPr/>
        </p:nvSpPr>
        <p:spPr>
          <a:xfrm>
            <a:off x="3958544" y="3626624"/>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5" name="Google Shape;325;p23"/>
          <p:cNvSpPr/>
          <p:nvPr/>
        </p:nvSpPr>
        <p:spPr>
          <a:xfrm>
            <a:off x="4025779" y="287022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6" name="Google Shape;326;p23"/>
          <p:cNvSpPr/>
          <p:nvPr/>
        </p:nvSpPr>
        <p:spPr>
          <a:xfrm>
            <a:off x="4135036" y="297948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7" name="Google Shape;327;p23"/>
          <p:cNvSpPr/>
          <p:nvPr/>
        </p:nvSpPr>
        <p:spPr>
          <a:xfrm>
            <a:off x="3597153" y="2912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8" name="Google Shape;328;p23"/>
          <p:cNvSpPr/>
          <p:nvPr/>
        </p:nvSpPr>
        <p:spPr>
          <a:xfrm>
            <a:off x="3412256" y="31979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9" name="Google Shape;329;p23"/>
          <p:cNvSpPr/>
          <p:nvPr/>
        </p:nvSpPr>
        <p:spPr>
          <a:xfrm>
            <a:off x="4319932" y="3282041"/>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30" name="Google Shape;330;p23"/>
          <p:cNvSpPr/>
          <p:nvPr/>
        </p:nvSpPr>
        <p:spPr>
          <a:xfrm>
            <a:off x="4319932" y="3097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31" name="Google Shape;331;p23"/>
          <p:cNvSpPr/>
          <p:nvPr/>
        </p:nvSpPr>
        <p:spPr>
          <a:xfrm>
            <a:off x="3513108" y="3416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32" name="Google Shape;332;p23"/>
          <p:cNvSpPr/>
          <p:nvPr/>
        </p:nvSpPr>
        <p:spPr>
          <a:xfrm>
            <a:off x="3916519" y="330725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33" name="Google Shape;333;p23"/>
          <p:cNvSpPr/>
          <p:nvPr/>
        </p:nvSpPr>
        <p:spPr>
          <a:xfrm>
            <a:off x="3731622" y="3752687"/>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34" name="Google Shape;334;p23"/>
          <p:cNvSpPr/>
          <p:nvPr/>
        </p:nvSpPr>
        <p:spPr>
          <a:xfrm>
            <a:off x="3471086" y="3097144"/>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335" name="Google Shape;335;p23"/>
          <p:cNvPicPr preferRelativeResize="0"/>
          <p:nvPr/>
        </p:nvPicPr>
        <p:blipFill>
          <a:blip r:embed="rId4">
            <a:alphaModFix/>
          </a:blip>
          <a:stretch>
            <a:fillRect/>
          </a:stretch>
        </p:blipFill>
        <p:spPr>
          <a:xfrm rot="2786470">
            <a:off x="1457761" y="3483841"/>
            <a:ext cx="143359" cy="319426"/>
          </a:xfrm>
          <a:prstGeom prst="rect">
            <a:avLst/>
          </a:prstGeom>
          <a:noFill/>
          <a:ln>
            <a:noFill/>
          </a:ln>
        </p:spPr>
      </p:pic>
      <p:pic>
        <p:nvPicPr>
          <p:cNvPr id="336" name="Google Shape;336;p23"/>
          <p:cNvPicPr preferRelativeResize="0"/>
          <p:nvPr/>
        </p:nvPicPr>
        <p:blipFill>
          <a:blip r:embed="rId5">
            <a:alphaModFix/>
          </a:blip>
          <a:stretch>
            <a:fillRect/>
          </a:stretch>
        </p:blipFill>
        <p:spPr>
          <a:xfrm>
            <a:off x="565899" y="3352433"/>
            <a:ext cx="404113" cy="212486"/>
          </a:xfrm>
          <a:prstGeom prst="rect">
            <a:avLst/>
          </a:prstGeom>
          <a:noFill/>
          <a:ln>
            <a:noFill/>
          </a:ln>
        </p:spPr>
      </p:pic>
      <p:pic>
        <p:nvPicPr>
          <p:cNvPr id="337" name="Google Shape;337;p23"/>
          <p:cNvPicPr preferRelativeResize="0"/>
          <p:nvPr/>
        </p:nvPicPr>
        <p:blipFill>
          <a:blip r:embed="rId6">
            <a:alphaModFix/>
          </a:blip>
          <a:stretch>
            <a:fillRect/>
          </a:stretch>
        </p:blipFill>
        <p:spPr>
          <a:xfrm rot="4507984">
            <a:off x="1107795" y="3099133"/>
            <a:ext cx="275772" cy="500543"/>
          </a:xfrm>
          <a:prstGeom prst="rect">
            <a:avLst/>
          </a:prstGeom>
          <a:noFill/>
          <a:ln>
            <a:noFill/>
          </a:ln>
        </p:spPr>
      </p:pic>
      <p:pic>
        <p:nvPicPr>
          <p:cNvPr id="338" name="Google Shape;338;p23"/>
          <p:cNvPicPr preferRelativeResize="0"/>
          <p:nvPr/>
        </p:nvPicPr>
        <p:blipFill>
          <a:blip r:embed="rId7">
            <a:alphaModFix/>
          </a:blip>
          <a:stretch>
            <a:fillRect/>
          </a:stretch>
        </p:blipFill>
        <p:spPr>
          <a:xfrm>
            <a:off x="970006" y="3626619"/>
            <a:ext cx="476191" cy="240580"/>
          </a:xfrm>
          <a:prstGeom prst="rect">
            <a:avLst/>
          </a:prstGeom>
          <a:noFill/>
          <a:ln>
            <a:noFill/>
          </a:ln>
        </p:spPr>
      </p:pic>
      <p:sp>
        <p:nvSpPr>
          <p:cNvPr id="339" name="Google Shape;339;p23"/>
          <p:cNvSpPr txBox="1"/>
          <p:nvPr/>
        </p:nvSpPr>
        <p:spPr>
          <a:xfrm>
            <a:off x="453600" y="3847325"/>
            <a:ext cx="16614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Rhizosphere Microbiome</a:t>
            </a:r>
            <a:endParaRPr sz="1800">
              <a:solidFill>
                <a:schemeClr val="dk2"/>
              </a:solidFill>
            </a:endParaRPr>
          </a:p>
        </p:txBody>
      </p:sp>
      <p:sp>
        <p:nvSpPr>
          <p:cNvPr id="340" name="Google Shape;340;p23"/>
          <p:cNvSpPr txBox="1"/>
          <p:nvPr/>
        </p:nvSpPr>
        <p:spPr>
          <a:xfrm>
            <a:off x="3427625" y="3835425"/>
            <a:ext cx="1373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188038"/>
                </a:solidFill>
              </a:rPr>
              <a:t>Plant reads</a:t>
            </a:r>
            <a:endParaRPr sz="1800">
              <a:solidFill>
                <a:srgbClr val="188038"/>
              </a:solidFill>
            </a:endParaRPr>
          </a:p>
        </p:txBody>
      </p:sp>
      <p:sp>
        <p:nvSpPr>
          <p:cNvPr id="341" name="Google Shape;341;p23"/>
          <p:cNvSpPr/>
          <p:nvPr/>
        </p:nvSpPr>
        <p:spPr>
          <a:xfrm>
            <a:off x="2012511" y="32738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2" name="Google Shape;342;p23"/>
          <p:cNvSpPr/>
          <p:nvPr/>
        </p:nvSpPr>
        <p:spPr>
          <a:xfrm>
            <a:off x="6773625" y="1451481"/>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3" name="Google Shape;343;p23"/>
          <p:cNvSpPr/>
          <p:nvPr/>
        </p:nvSpPr>
        <p:spPr>
          <a:xfrm>
            <a:off x="7269485" y="1140517"/>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4" name="Google Shape;344;p23"/>
          <p:cNvSpPr/>
          <p:nvPr/>
        </p:nvSpPr>
        <p:spPr>
          <a:xfrm>
            <a:off x="6521492" y="2031384"/>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5" name="Google Shape;345;p23"/>
          <p:cNvSpPr/>
          <p:nvPr/>
        </p:nvSpPr>
        <p:spPr>
          <a:xfrm>
            <a:off x="7177036" y="1846488"/>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6" name="Google Shape;346;p23"/>
          <p:cNvSpPr/>
          <p:nvPr/>
        </p:nvSpPr>
        <p:spPr>
          <a:xfrm>
            <a:off x="7000544" y="2056599"/>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7" name="Google Shape;347;p23"/>
          <p:cNvSpPr/>
          <p:nvPr/>
        </p:nvSpPr>
        <p:spPr>
          <a:xfrm>
            <a:off x="7361932" y="1712016"/>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8" name="Google Shape;348;p23"/>
          <p:cNvSpPr/>
          <p:nvPr/>
        </p:nvSpPr>
        <p:spPr>
          <a:xfrm>
            <a:off x="6773622" y="2182662"/>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9" name="Google Shape;349;p23"/>
          <p:cNvSpPr/>
          <p:nvPr/>
        </p:nvSpPr>
        <p:spPr>
          <a:xfrm>
            <a:off x="6513086" y="1527119"/>
            <a:ext cx="361500" cy="84300"/>
          </a:xfrm>
          <a:prstGeom prst="rect">
            <a:avLst/>
          </a:prstGeom>
          <a:solidFill>
            <a:srgbClr val="1880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0" name="Google Shape;350;p23"/>
          <p:cNvSpPr/>
          <p:nvPr/>
        </p:nvSpPr>
        <p:spPr>
          <a:xfrm>
            <a:off x="6681180" y="415462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1" name="Google Shape;351;p23"/>
          <p:cNvSpPr/>
          <p:nvPr/>
        </p:nvSpPr>
        <p:spPr>
          <a:xfrm>
            <a:off x="7042569" y="451601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2" name="Google Shape;352;p23"/>
          <p:cNvSpPr/>
          <p:nvPr/>
        </p:nvSpPr>
        <p:spPr>
          <a:xfrm>
            <a:off x="7067783" y="488580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3" name="Google Shape;353;p23"/>
          <p:cNvSpPr/>
          <p:nvPr/>
        </p:nvSpPr>
        <p:spPr>
          <a:xfrm>
            <a:off x="7227466" y="425547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4" name="Google Shape;354;p23"/>
          <p:cNvSpPr/>
          <p:nvPr/>
        </p:nvSpPr>
        <p:spPr>
          <a:xfrm>
            <a:off x="7336723" y="436473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5" name="Google Shape;355;p23"/>
          <p:cNvSpPr/>
          <p:nvPr/>
        </p:nvSpPr>
        <p:spPr>
          <a:xfrm>
            <a:off x="6798840" y="42974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6" name="Google Shape;356;p23"/>
          <p:cNvSpPr/>
          <p:nvPr/>
        </p:nvSpPr>
        <p:spPr>
          <a:xfrm>
            <a:off x="6613944" y="4583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7" name="Google Shape;357;p23"/>
          <p:cNvSpPr/>
          <p:nvPr/>
        </p:nvSpPr>
        <p:spPr>
          <a:xfrm>
            <a:off x="7521619" y="448239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8" name="Google Shape;358;p23"/>
          <p:cNvSpPr/>
          <p:nvPr/>
        </p:nvSpPr>
        <p:spPr>
          <a:xfrm>
            <a:off x="6714795" y="480176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9" name="Google Shape;359;p23"/>
          <p:cNvSpPr/>
          <p:nvPr/>
        </p:nvSpPr>
        <p:spPr>
          <a:xfrm>
            <a:off x="7118207" y="469250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60" name="Google Shape;360;p23"/>
          <p:cNvSpPr/>
          <p:nvPr/>
        </p:nvSpPr>
        <p:spPr>
          <a:xfrm rot="-1847746">
            <a:off x="5797055" y="2358072"/>
            <a:ext cx="1000235" cy="193194"/>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61" name="Google Shape;361;p23"/>
          <p:cNvSpPr/>
          <p:nvPr/>
        </p:nvSpPr>
        <p:spPr>
          <a:xfrm rot="1886116">
            <a:off x="5769743" y="4116585"/>
            <a:ext cx="1000317" cy="193354"/>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62" name="Google Shape;362;p23"/>
          <p:cNvSpPr txBox="1"/>
          <p:nvPr/>
        </p:nvSpPr>
        <p:spPr>
          <a:xfrm>
            <a:off x="4883875" y="2607088"/>
            <a:ext cx="29991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1"/>
                </a:solidFill>
              </a:rPr>
              <a:t>e.g. Bowtie2, BWA, bbduk, </a:t>
            </a:r>
            <a:endParaRPr sz="1800" dirty="0">
              <a:solidFill>
                <a:schemeClr val="dk1"/>
              </a:solidFill>
            </a:endParaRPr>
          </a:p>
          <a:p>
            <a:pPr marL="0" lvl="0" indent="0" algn="l" rtl="0">
              <a:spcBef>
                <a:spcPts val="0"/>
              </a:spcBef>
              <a:spcAft>
                <a:spcPts val="0"/>
              </a:spcAft>
              <a:buNone/>
            </a:pPr>
            <a:r>
              <a:rPr lang="en" sz="1800" dirty="0">
                <a:solidFill>
                  <a:schemeClr val="dk1"/>
                </a:solidFill>
              </a:rPr>
              <a:t>KneadData, HoCoRT</a:t>
            </a:r>
            <a:endParaRPr sz="1800" dirty="0">
              <a:solidFill>
                <a:schemeClr val="dk1"/>
              </a:solidFill>
            </a:endParaRPr>
          </a:p>
        </p:txBody>
      </p:sp>
      <p:pic>
        <p:nvPicPr>
          <p:cNvPr id="363" name="Google Shape;363;p23" descr="Database with solid fill"/>
          <p:cNvPicPr preferRelativeResize="0"/>
          <p:nvPr/>
        </p:nvPicPr>
        <p:blipFill rotWithShape="1">
          <a:blip r:embed="rId8">
            <a:alphaModFix/>
          </a:blip>
          <a:srcRect/>
          <a:stretch/>
        </p:blipFill>
        <p:spPr>
          <a:xfrm>
            <a:off x="5337992" y="3200989"/>
            <a:ext cx="685800" cy="685800"/>
          </a:xfrm>
          <a:prstGeom prst="rect">
            <a:avLst/>
          </a:prstGeom>
          <a:noFill/>
          <a:ln>
            <a:noFill/>
          </a:ln>
        </p:spPr>
      </p:pic>
      <p:pic>
        <p:nvPicPr>
          <p:cNvPr id="364" name="Google Shape;364;p23"/>
          <p:cNvPicPr preferRelativeResize="0"/>
          <p:nvPr/>
        </p:nvPicPr>
        <p:blipFill>
          <a:blip r:embed="rId3">
            <a:alphaModFix/>
          </a:blip>
          <a:stretch>
            <a:fillRect/>
          </a:stretch>
        </p:blipFill>
        <p:spPr>
          <a:xfrm>
            <a:off x="6043376" y="3260755"/>
            <a:ext cx="318900" cy="566261"/>
          </a:xfrm>
          <a:prstGeom prst="rect">
            <a:avLst/>
          </a:prstGeom>
          <a:noFill/>
          <a:ln>
            <a:noFill/>
          </a:ln>
        </p:spPr>
      </p:pic>
      <p:sp>
        <p:nvSpPr>
          <p:cNvPr id="365" name="Google Shape;365;p23"/>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
                                        </p:tgtEl>
                                        <p:attrNameLst>
                                          <p:attrName>style.visibility</p:attrName>
                                        </p:attrNameLst>
                                      </p:cBhvr>
                                      <p:to>
                                        <p:strVal val="visible"/>
                                      </p:to>
                                    </p:set>
                                    <p:animEffect transition="in" filter="fade">
                                      <p:cBhvr>
                                        <p:cTn id="7" dur="500"/>
                                        <p:tgtEl>
                                          <p:spTgt spid="3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8"/>
                                        </p:tgtEl>
                                        <p:attrNameLst>
                                          <p:attrName>style.visibility</p:attrName>
                                        </p:attrNameLst>
                                      </p:cBhvr>
                                      <p:to>
                                        <p:strVal val="visible"/>
                                      </p:to>
                                    </p:set>
                                    <p:animEffect transition="in" filter="fade">
                                      <p:cBhvr>
                                        <p:cTn id="10" dur="500"/>
                                        <p:tgtEl>
                                          <p:spTgt spid="3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9"/>
                                        </p:tgtEl>
                                        <p:attrNameLst>
                                          <p:attrName>style.visibility</p:attrName>
                                        </p:attrNameLst>
                                      </p:cBhvr>
                                      <p:to>
                                        <p:strVal val="visible"/>
                                      </p:to>
                                    </p:set>
                                    <p:animEffect transition="in" filter="fade">
                                      <p:cBhvr>
                                        <p:cTn id="13" dur="500"/>
                                        <p:tgtEl>
                                          <p:spTgt spid="3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0"/>
                                        </p:tgtEl>
                                        <p:attrNameLst>
                                          <p:attrName>style.visibility</p:attrName>
                                        </p:attrNameLst>
                                      </p:cBhvr>
                                      <p:to>
                                        <p:strVal val="visible"/>
                                      </p:to>
                                    </p:set>
                                    <p:animEffect transition="in" filter="fade">
                                      <p:cBhvr>
                                        <p:cTn id="16" dur="500"/>
                                        <p:tgtEl>
                                          <p:spTgt spid="3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21"/>
                                        </p:tgtEl>
                                        <p:attrNameLst>
                                          <p:attrName>style.visibility</p:attrName>
                                        </p:attrNameLst>
                                      </p:cBhvr>
                                      <p:to>
                                        <p:strVal val="visible"/>
                                      </p:to>
                                    </p:set>
                                    <p:animEffect transition="in" filter="fade">
                                      <p:cBhvr>
                                        <p:cTn id="19" dur="500"/>
                                        <p:tgtEl>
                                          <p:spTgt spid="3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2"/>
                                        </p:tgtEl>
                                        <p:attrNameLst>
                                          <p:attrName>style.visibility</p:attrName>
                                        </p:attrNameLst>
                                      </p:cBhvr>
                                      <p:to>
                                        <p:strVal val="visible"/>
                                      </p:to>
                                    </p:set>
                                    <p:animEffect transition="in" filter="fade">
                                      <p:cBhvr>
                                        <p:cTn id="22" dur="500"/>
                                        <p:tgtEl>
                                          <p:spTgt spid="3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23"/>
                                        </p:tgtEl>
                                        <p:attrNameLst>
                                          <p:attrName>style.visibility</p:attrName>
                                        </p:attrNameLst>
                                      </p:cBhvr>
                                      <p:to>
                                        <p:strVal val="visible"/>
                                      </p:to>
                                    </p:set>
                                    <p:animEffect transition="in" filter="fade">
                                      <p:cBhvr>
                                        <p:cTn id="25" dur="500"/>
                                        <p:tgtEl>
                                          <p:spTgt spid="3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4"/>
                                        </p:tgtEl>
                                        <p:attrNameLst>
                                          <p:attrName>style.visibility</p:attrName>
                                        </p:attrNameLst>
                                      </p:cBhvr>
                                      <p:to>
                                        <p:strVal val="visible"/>
                                      </p:to>
                                    </p:set>
                                    <p:animEffect transition="in" filter="fade">
                                      <p:cBhvr>
                                        <p:cTn id="28" dur="500"/>
                                        <p:tgtEl>
                                          <p:spTgt spid="3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5"/>
                                        </p:tgtEl>
                                        <p:attrNameLst>
                                          <p:attrName>style.visibility</p:attrName>
                                        </p:attrNameLst>
                                      </p:cBhvr>
                                      <p:to>
                                        <p:strVal val="visible"/>
                                      </p:to>
                                    </p:set>
                                    <p:animEffect transition="in" filter="fade">
                                      <p:cBhvr>
                                        <p:cTn id="31" dur="500"/>
                                        <p:tgtEl>
                                          <p:spTgt spid="3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26"/>
                                        </p:tgtEl>
                                        <p:attrNameLst>
                                          <p:attrName>style.visibility</p:attrName>
                                        </p:attrNameLst>
                                      </p:cBhvr>
                                      <p:to>
                                        <p:strVal val="visible"/>
                                      </p:to>
                                    </p:set>
                                    <p:animEffect transition="in" filter="fade">
                                      <p:cBhvr>
                                        <p:cTn id="34" dur="500"/>
                                        <p:tgtEl>
                                          <p:spTgt spid="3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7"/>
                                        </p:tgtEl>
                                        <p:attrNameLst>
                                          <p:attrName>style.visibility</p:attrName>
                                        </p:attrNameLst>
                                      </p:cBhvr>
                                      <p:to>
                                        <p:strVal val="visible"/>
                                      </p:to>
                                    </p:set>
                                    <p:animEffect transition="in" filter="fade">
                                      <p:cBhvr>
                                        <p:cTn id="37" dur="500"/>
                                        <p:tgtEl>
                                          <p:spTgt spid="3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8"/>
                                        </p:tgtEl>
                                        <p:attrNameLst>
                                          <p:attrName>style.visibility</p:attrName>
                                        </p:attrNameLst>
                                      </p:cBhvr>
                                      <p:to>
                                        <p:strVal val="visible"/>
                                      </p:to>
                                    </p:set>
                                    <p:animEffect transition="in" filter="fade">
                                      <p:cBhvr>
                                        <p:cTn id="40" dur="500"/>
                                        <p:tgtEl>
                                          <p:spTgt spid="3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9"/>
                                        </p:tgtEl>
                                        <p:attrNameLst>
                                          <p:attrName>style.visibility</p:attrName>
                                        </p:attrNameLst>
                                      </p:cBhvr>
                                      <p:to>
                                        <p:strVal val="visible"/>
                                      </p:to>
                                    </p:set>
                                    <p:animEffect transition="in" filter="fade">
                                      <p:cBhvr>
                                        <p:cTn id="43" dur="500"/>
                                        <p:tgtEl>
                                          <p:spTgt spid="3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0"/>
                                        </p:tgtEl>
                                        <p:attrNameLst>
                                          <p:attrName>style.visibility</p:attrName>
                                        </p:attrNameLst>
                                      </p:cBhvr>
                                      <p:to>
                                        <p:strVal val="visible"/>
                                      </p:to>
                                    </p:set>
                                    <p:animEffect transition="in" filter="fade">
                                      <p:cBhvr>
                                        <p:cTn id="46" dur="500"/>
                                        <p:tgtEl>
                                          <p:spTgt spid="3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1"/>
                                        </p:tgtEl>
                                        <p:attrNameLst>
                                          <p:attrName>style.visibility</p:attrName>
                                        </p:attrNameLst>
                                      </p:cBhvr>
                                      <p:to>
                                        <p:strVal val="visible"/>
                                      </p:to>
                                    </p:set>
                                    <p:animEffect transition="in" filter="fade">
                                      <p:cBhvr>
                                        <p:cTn id="49" dur="500"/>
                                        <p:tgtEl>
                                          <p:spTgt spid="3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32"/>
                                        </p:tgtEl>
                                        <p:attrNameLst>
                                          <p:attrName>style.visibility</p:attrName>
                                        </p:attrNameLst>
                                      </p:cBhvr>
                                      <p:to>
                                        <p:strVal val="visible"/>
                                      </p:to>
                                    </p:set>
                                    <p:animEffect transition="in" filter="fade">
                                      <p:cBhvr>
                                        <p:cTn id="52" dur="500"/>
                                        <p:tgtEl>
                                          <p:spTgt spid="33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33"/>
                                        </p:tgtEl>
                                        <p:attrNameLst>
                                          <p:attrName>style.visibility</p:attrName>
                                        </p:attrNameLst>
                                      </p:cBhvr>
                                      <p:to>
                                        <p:strVal val="visible"/>
                                      </p:to>
                                    </p:set>
                                    <p:animEffect transition="in" filter="fade">
                                      <p:cBhvr>
                                        <p:cTn id="55" dur="500"/>
                                        <p:tgtEl>
                                          <p:spTgt spid="33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4"/>
                                        </p:tgtEl>
                                        <p:attrNameLst>
                                          <p:attrName>style.visibility</p:attrName>
                                        </p:attrNameLst>
                                      </p:cBhvr>
                                      <p:to>
                                        <p:strVal val="visible"/>
                                      </p:to>
                                    </p:set>
                                    <p:animEffect transition="in" filter="fade">
                                      <p:cBhvr>
                                        <p:cTn id="58" dur="500"/>
                                        <p:tgtEl>
                                          <p:spTgt spid="33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40"/>
                                        </p:tgtEl>
                                        <p:attrNameLst>
                                          <p:attrName>style.visibility</p:attrName>
                                        </p:attrNameLst>
                                      </p:cBhvr>
                                      <p:to>
                                        <p:strVal val="visible"/>
                                      </p:to>
                                    </p:set>
                                    <p:animEffect transition="in" filter="fade">
                                      <p:cBhvr>
                                        <p:cTn id="61" dur="500"/>
                                        <p:tgtEl>
                                          <p:spTgt spid="34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41"/>
                                        </p:tgtEl>
                                        <p:attrNameLst>
                                          <p:attrName>style.visibility</p:attrName>
                                        </p:attrNameLst>
                                      </p:cBhvr>
                                      <p:to>
                                        <p:strVal val="visible"/>
                                      </p:to>
                                    </p:set>
                                    <p:animEffect transition="in" filter="fade">
                                      <p:cBhvr>
                                        <p:cTn id="64" dur="500"/>
                                        <p:tgtEl>
                                          <p:spTgt spid="34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42"/>
                                        </p:tgtEl>
                                        <p:attrNameLst>
                                          <p:attrName>style.visibility</p:attrName>
                                        </p:attrNameLst>
                                      </p:cBhvr>
                                      <p:to>
                                        <p:strVal val="visible"/>
                                      </p:to>
                                    </p:set>
                                    <p:animEffect transition="in" filter="fade">
                                      <p:cBhvr>
                                        <p:cTn id="69" dur="500"/>
                                        <p:tgtEl>
                                          <p:spTgt spid="34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43"/>
                                        </p:tgtEl>
                                        <p:attrNameLst>
                                          <p:attrName>style.visibility</p:attrName>
                                        </p:attrNameLst>
                                      </p:cBhvr>
                                      <p:to>
                                        <p:strVal val="visible"/>
                                      </p:to>
                                    </p:set>
                                    <p:animEffect transition="in" filter="fade">
                                      <p:cBhvr>
                                        <p:cTn id="72" dur="500"/>
                                        <p:tgtEl>
                                          <p:spTgt spid="34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4"/>
                                        </p:tgtEl>
                                        <p:attrNameLst>
                                          <p:attrName>style.visibility</p:attrName>
                                        </p:attrNameLst>
                                      </p:cBhvr>
                                      <p:to>
                                        <p:strVal val="visible"/>
                                      </p:to>
                                    </p:set>
                                    <p:animEffect transition="in" filter="fade">
                                      <p:cBhvr>
                                        <p:cTn id="75" dur="500"/>
                                        <p:tgtEl>
                                          <p:spTgt spid="34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45"/>
                                        </p:tgtEl>
                                        <p:attrNameLst>
                                          <p:attrName>style.visibility</p:attrName>
                                        </p:attrNameLst>
                                      </p:cBhvr>
                                      <p:to>
                                        <p:strVal val="visible"/>
                                      </p:to>
                                    </p:set>
                                    <p:animEffect transition="in" filter="fade">
                                      <p:cBhvr>
                                        <p:cTn id="78" dur="500"/>
                                        <p:tgtEl>
                                          <p:spTgt spid="34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46"/>
                                        </p:tgtEl>
                                        <p:attrNameLst>
                                          <p:attrName>style.visibility</p:attrName>
                                        </p:attrNameLst>
                                      </p:cBhvr>
                                      <p:to>
                                        <p:strVal val="visible"/>
                                      </p:to>
                                    </p:set>
                                    <p:animEffect transition="in" filter="fade">
                                      <p:cBhvr>
                                        <p:cTn id="81" dur="500"/>
                                        <p:tgtEl>
                                          <p:spTgt spid="34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7"/>
                                        </p:tgtEl>
                                        <p:attrNameLst>
                                          <p:attrName>style.visibility</p:attrName>
                                        </p:attrNameLst>
                                      </p:cBhvr>
                                      <p:to>
                                        <p:strVal val="visible"/>
                                      </p:to>
                                    </p:set>
                                    <p:animEffect transition="in" filter="fade">
                                      <p:cBhvr>
                                        <p:cTn id="84" dur="500"/>
                                        <p:tgtEl>
                                          <p:spTgt spid="34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48"/>
                                        </p:tgtEl>
                                        <p:attrNameLst>
                                          <p:attrName>style.visibility</p:attrName>
                                        </p:attrNameLst>
                                      </p:cBhvr>
                                      <p:to>
                                        <p:strVal val="visible"/>
                                      </p:to>
                                    </p:set>
                                    <p:animEffect transition="in" filter="fade">
                                      <p:cBhvr>
                                        <p:cTn id="87" dur="500"/>
                                        <p:tgtEl>
                                          <p:spTgt spid="34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49"/>
                                        </p:tgtEl>
                                        <p:attrNameLst>
                                          <p:attrName>style.visibility</p:attrName>
                                        </p:attrNameLst>
                                      </p:cBhvr>
                                      <p:to>
                                        <p:strVal val="visible"/>
                                      </p:to>
                                    </p:set>
                                    <p:animEffect transition="in" filter="fade">
                                      <p:cBhvr>
                                        <p:cTn id="90" dur="500"/>
                                        <p:tgtEl>
                                          <p:spTgt spid="34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50"/>
                                        </p:tgtEl>
                                        <p:attrNameLst>
                                          <p:attrName>style.visibility</p:attrName>
                                        </p:attrNameLst>
                                      </p:cBhvr>
                                      <p:to>
                                        <p:strVal val="visible"/>
                                      </p:to>
                                    </p:set>
                                    <p:animEffect transition="in" filter="fade">
                                      <p:cBhvr>
                                        <p:cTn id="93" dur="500"/>
                                        <p:tgtEl>
                                          <p:spTgt spid="35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1"/>
                                        </p:tgtEl>
                                        <p:attrNameLst>
                                          <p:attrName>style.visibility</p:attrName>
                                        </p:attrNameLst>
                                      </p:cBhvr>
                                      <p:to>
                                        <p:strVal val="visible"/>
                                      </p:to>
                                    </p:set>
                                    <p:animEffect transition="in" filter="fade">
                                      <p:cBhvr>
                                        <p:cTn id="96" dur="500"/>
                                        <p:tgtEl>
                                          <p:spTgt spid="351"/>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52"/>
                                        </p:tgtEl>
                                        <p:attrNameLst>
                                          <p:attrName>style.visibility</p:attrName>
                                        </p:attrNameLst>
                                      </p:cBhvr>
                                      <p:to>
                                        <p:strVal val="visible"/>
                                      </p:to>
                                    </p:set>
                                    <p:animEffect transition="in" filter="fade">
                                      <p:cBhvr>
                                        <p:cTn id="99" dur="500"/>
                                        <p:tgtEl>
                                          <p:spTgt spid="352"/>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3"/>
                                        </p:tgtEl>
                                        <p:attrNameLst>
                                          <p:attrName>style.visibility</p:attrName>
                                        </p:attrNameLst>
                                      </p:cBhvr>
                                      <p:to>
                                        <p:strVal val="visible"/>
                                      </p:to>
                                    </p:set>
                                    <p:animEffect transition="in" filter="fade">
                                      <p:cBhvr>
                                        <p:cTn id="102" dur="500"/>
                                        <p:tgtEl>
                                          <p:spTgt spid="353"/>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54"/>
                                        </p:tgtEl>
                                        <p:attrNameLst>
                                          <p:attrName>style.visibility</p:attrName>
                                        </p:attrNameLst>
                                      </p:cBhvr>
                                      <p:to>
                                        <p:strVal val="visible"/>
                                      </p:to>
                                    </p:set>
                                    <p:animEffect transition="in" filter="fade">
                                      <p:cBhvr>
                                        <p:cTn id="105" dur="500"/>
                                        <p:tgtEl>
                                          <p:spTgt spid="354"/>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55"/>
                                        </p:tgtEl>
                                        <p:attrNameLst>
                                          <p:attrName>style.visibility</p:attrName>
                                        </p:attrNameLst>
                                      </p:cBhvr>
                                      <p:to>
                                        <p:strVal val="visible"/>
                                      </p:to>
                                    </p:set>
                                    <p:animEffect transition="in" filter="fade">
                                      <p:cBhvr>
                                        <p:cTn id="108" dur="500"/>
                                        <p:tgtEl>
                                          <p:spTgt spid="35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56"/>
                                        </p:tgtEl>
                                        <p:attrNameLst>
                                          <p:attrName>style.visibility</p:attrName>
                                        </p:attrNameLst>
                                      </p:cBhvr>
                                      <p:to>
                                        <p:strVal val="visible"/>
                                      </p:to>
                                    </p:set>
                                    <p:animEffect transition="in" filter="fade">
                                      <p:cBhvr>
                                        <p:cTn id="111" dur="500"/>
                                        <p:tgtEl>
                                          <p:spTgt spid="356"/>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57"/>
                                        </p:tgtEl>
                                        <p:attrNameLst>
                                          <p:attrName>style.visibility</p:attrName>
                                        </p:attrNameLst>
                                      </p:cBhvr>
                                      <p:to>
                                        <p:strVal val="visible"/>
                                      </p:to>
                                    </p:set>
                                    <p:animEffect transition="in" filter="fade">
                                      <p:cBhvr>
                                        <p:cTn id="114" dur="500"/>
                                        <p:tgtEl>
                                          <p:spTgt spid="357"/>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58"/>
                                        </p:tgtEl>
                                        <p:attrNameLst>
                                          <p:attrName>style.visibility</p:attrName>
                                        </p:attrNameLst>
                                      </p:cBhvr>
                                      <p:to>
                                        <p:strVal val="visible"/>
                                      </p:to>
                                    </p:set>
                                    <p:animEffect transition="in" filter="fade">
                                      <p:cBhvr>
                                        <p:cTn id="117" dur="500"/>
                                        <p:tgtEl>
                                          <p:spTgt spid="358"/>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59"/>
                                        </p:tgtEl>
                                        <p:attrNameLst>
                                          <p:attrName>style.visibility</p:attrName>
                                        </p:attrNameLst>
                                      </p:cBhvr>
                                      <p:to>
                                        <p:strVal val="visible"/>
                                      </p:to>
                                    </p:set>
                                    <p:animEffect transition="in" filter="fade">
                                      <p:cBhvr>
                                        <p:cTn id="120" dur="500"/>
                                        <p:tgtEl>
                                          <p:spTgt spid="359"/>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360"/>
                                        </p:tgtEl>
                                        <p:attrNameLst>
                                          <p:attrName>style.visibility</p:attrName>
                                        </p:attrNameLst>
                                      </p:cBhvr>
                                      <p:to>
                                        <p:strVal val="visible"/>
                                      </p:to>
                                    </p:set>
                                    <p:animEffect transition="in" filter="fade">
                                      <p:cBhvr>
                                        <p:cTn id="123" dur="500"/>
                                        <p:tgtEl>
                                          <p:spTgt spid="360"/>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361"/>
                                        </p:tgtEl>
                                        <p:attrNameLst>
                                          <p:attrName>style.visibility</p:attrName>
                                        </p:attrNameLst>
                                      </p:cBhvr>
                                      <p:to>
                                        <p:strVal val="visible"/>
                                      </p:to>
                                    </p:set>
                                    <p:animEffect transition="in" filter="fade">
                                      <p:cBhvr>
                                        <p:cTn id="126" dur="500"/>
                                        <p:tgtEl>
                                          <p:spTgt spid="361"/>
                                        </p:tgtEl>
                                      </p:cBhvr>
                                    </p:animEffect>
                                  </p:childTnLst>
                                </p:cTn>
                              </p:par>
                              <p:par>
                                <p:cTn id="127" presetID="10" presetClass="entr" presetSubtype="0" fill="hold" nodeType="withEffect">
                                  <p:stCondLst>
                                    <p:cond delay="0"/>
                                  </p:stCondLst>
                                  <p:childTnLst>
                                    <p:set>
                                      <p:cBhvr>
                                        <p:cTn id="128" dur="1" fill="hold">
                                          <p:stCondLst>
                                            <p:cond delay="0"/>
                                          </p:stCondLst>
                                        </p:cTn>
                                        <p:tgtEl>
                                          <p:spTgt spid="363"/>
                                        </p:tgtEl>
                                        <p:attrNameLst>
                                          <p:attrName>style.visibility</p:attrName>
                                        </p:attrNameLst>
                                      </p:cBhvr>
                                      <p:to>
                                        <p:strVal val="visible"/>
                                      </p:to>
                                    </p:set>
                                    <p:animEffect transition="in" filter="fade">
                                      <p:cBhvr>
                                        <p:cTn id="129" dur="500"/>
                                        <p:tgtEl>
                                          <p:spTgt spid="363"/>
                                        </p:tgtEl>
                                      </p:cBhvr>
                                    </p:animEffect>
                                  </p:childTnLst>
                                </p:cTn>
                              </p:par>
                              <p:par>
                                <p:cTn id="130" presetID="10" presetClass="entr" presetSubtype="0" fill="hold" nodeType="withEffect">
                                  <p:stCondLst>
                                    <p:cond delay="0"/>
                                  </p:stCondLst>
                                  <p:childTnLst>
                                    <p:set>
                                      <p:cBhvr>
                                        <p:cTn id="131" dur="1" fill="hold">
                                          <p:stCondLst>
                                            <p:cond delay="0"/>
                                          </p:stCondLst>
                                        </p:cTn>
                                        <p:tgtEl>
                                          <p:spTgt spid="364"/>
                                        </p:tgtEl>
                                        <p:attrNameLst>
                                          <p:attrName>style.visibility</p:attrName>
                                        </p:attrNameLst>
                                      </p:cBhvr>
                                      <p:to>
                                        <p:strVal val="visible"/>
                                      </p:to>
                                    </p:set>
                                    <p:animEffect transition="in" filter="fade">
                                      <p:cBhvr>
                                        <p:cTn id="132" dur="500"/>
                                        <p:tgtEl>
                                          <p:spTgt spid="364"/>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365"/>
                                        </p:tgtEl>
                                        <p:attrNameLst>
                                          <p:attrName>style.visibility</p:attrName>
                                        </p:attrNameLst>
                                      </p:cBhvr>
                                      <p:to>
                                        <p:strVal val="visible"/>
                                      </p:to>
                                    </p:set>
                                    <p:animEffect transition="in" filter="fade">
                                      <p:cBhvr>
                                        <p:cTn id="135" dur="500"/>
                                        <p:tgtEl>
                                          <p:spTgt spid="36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362"/>
                                        </p:tgtEl>
                                        <p:attrNameLst>
                                          <p:attrName>style.visibility</p:attrName>
                                        </p:attrNameLst>
                                      </p:cBhvr>
                                      <p:to>
                                        <p:strVal val="visible"/>
                                      </p:to>
                                    </p:set>
                                    <p:animEffect transition="in" filter="fade">
                                      <p:cBhvr>
                                        <p:cTn id="138" dur="500"/>
                                        <p:tgtEl>
                                          <p:spTgt spid="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 grpId="0" animBg="1"/>
      <p:bldP spid="318" grpId="0" animBg="1"/>
      <p:bldP spid="319" grpId="0" animBg="1"/>
      <p:bldP spid="320" grpId="0" animBg="1"/>
      <p:bldP spid="321" grpId="0" animBg="1"/>
      <p:bldP spid="322" grpId="0" animBg="1"/>
      <p:bldP spid="323" grpId="0" animBg="1"/>
      <p:bldP spid="324" grpId="0" animBg="1"/>
      <p:bldP spid="325" grpId="0" animBg="1"/>
      <p:bldP spid="326" grpId="0" animBg="1"/>
      <p:bldP spid="327" grpId="0" animBg="1"/>
      <p:bldP spid="328" grpId="0" animBg="1"/>
      <p:bldP spid="329" grpId="0" animBg="1"/>
      <p:bldP spid="330" grpId="0" animBg="1"/>
      <p:bldP spid="331" grpId="0" animBg="1"/>
      <p:bldP spid="332" grpId="0" animBg="1"/>
      <p:bldP spid="333" grpId="0" animBg="1"/>
      <p:bldP spid="334" grpId="0" animBg="1"/>
      <p:bldP spid="340" grpId="0"/>
      <p:bldP spid="341" grpId="0" animBg="1"/>
      <p:bldP spid="342" grpId="0" animBg="1"/>
      <p:bldP spid="343" grpId="0" animBg="1"/>
      <p:bldP spid="344" grpId="0" animBg="1"/>
      <p:bldP spid="345" grpId="0" animBg="1"/>
      <p:bldP spid="346" grpId="0" animBg="1"/>
      <p:bldP spid="347" grpId="0" animBg="1"/>
      <p:bldP spid="348" grpId="0" animBg="1"/>
      <p:bldP spid="349" grpId="0" animBg="1"/>
      <p:bldP spid="350" grpId="0" animBg="1"/>
      <p:bldP spid="351" grpId="0" animBg="1"/>
      <p:bldP spid="352" grpId="0" animBg="1"/>
      <p:bldP spid="353" grpId="0" animBg="1"/>
      <p:bldP spid="354" grpId="0" animBg="1"/>
      <p:bldP spid="355" grpId="0" animBg="1"/>
      <p:bldP spid="356" grpId="0" animBg="1"/>
      <p:bldP spid="357" grpId="0" animBg="1"/>
      <p:bldP spid="358" grpId="0" animBg="1"/>
      <p:bldP spid="359" grpId="0" animBg="1"/>
      <p:bldP spid="360" grpId="0" animBg="1"/>
      <p:bldP spid="361" grpId="0" animBg="1"/>
      <p:bldP spid="362" grpId="0"/>
      <p:bldP spid="36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a:latin typeface="Arial"/>
                <a:ea typeface="Arial"/>
                <a:cs typeface="Arial"/>
                <a:sym typeface="Arial"/>
              </a:rPr>
              <a:t>Metagenomics: </a:t>
            </a:r>
            <a:r>
              <a:rPr lang="en"/>
              <a:t>R</a:t>
            </a:r>
            <a:r>
              <a:rPr lang="en">
                <a:latin typeface="Arial"/>
                <a:ea typeface="Arial"/>
                <a:cs typeface="Arial"/>
                <a:sym typeface="Arial"/>
              </a:rPr>
              <a:t>ead</a:t>
            </a:r>
            <a:r>
              <a:rPr lang="en"/>
              <a:t>-</a:t>
            </a:r>
            <a:r>
              <a:rPr lang="en">
                <a:latin typeface="Arial"/>
                <a:ea typeface="Arial"/>
                <a:cs typeface="Arial"/>
                <a:sym typeface="Arial"/>
              </a:rPr>
              <a:t>based</a:t>
            </a:r>
            <a:endParaRPr>
              <a:latin typeface="Arial"/>
              <a:ea typeface="Arial"/>
              <a:cs typeface="Arial"/>
              <a:sym typeface="Arial"/>
            </a:endParaRPr>
          </a:p>
        </p:txBody>
      </p:sp>
      <p:sp>
        <p:nvSpPr>
          <p:cNvPr id="371" name="Google Shape;371;p24"/>
          <p:cNvSpPr/>
          <p:nvPr/>
        </p:nvSpPr>
        <p:spPr>
          <a:xfrm>
            <a:off x="2378028" y="1226624"/>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2" name="Google Shape;372;p24"/>
          <p:cNvSpPr/>
          <p:nvPr/>
        </p:nvSpPr>
        <p:spPr>
          <a:xfrm>
            <a:off x="2235152" y="1663653"/>
            <a:ext cx="344400" cy="344400"/>
          </a:xfrm>
          <a:prstGeom prst="ellipse">
            <a:avLst/>
          </a:prstGeom>
          <a:solidFill>
            <a:schemeClr val="lt1"/>
          </a:solidFill>
          <a:ln w="571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3" name="Google Shape;373;p24"/>
          <p:cNvSpPr/>
          <p:nvPr/>
        </p:nvSpPr>
        <p:spPr>
          <a:xfrm>
            <a:off x="2697395" y="1571204"/>
            <a:ext cx="344400" cy="344400"/>
          </a:xfrm>
          <a:prstGeom prst="ellipse">
            <a:avLst/>
          </a:prstGeom>
          <a:solidFill>
            <a:schemeClr val="lt1"/>
          </a:solidFill>
          <a:ln w="5715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4" name="Google Shape;374;p24"/>
          <p:cNvSpPr/>
          <p:nvPr/>
        </p:nvSpPr>
        <p:spPr>
          <a:xfrm>
            <a:off x="2470476" y="2058661"/>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5" name="Google Shape;375;p24"/>
          <p:cNvSpPr/>
          <p:nvPr/>
        </p:nvSpPr>
        <p:spPr>
          <a:xfrm>
            <a:off x="3494924" y="17050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376" name="Google Shape;376;p24" descr="DNA with solid fill"/>
          <p:cNvPicPr preferRelativeResize="0"/>
          <p:nvPr/>
        </p:nvPicPr>
        <p:blipFill rotWithShape="1">
          <a:blip r:embed="rId3">
            <a:alphaModFix/>
          </a:blip>
          <a:srcRect/>
          <a:stretch/>
        </p:blipFill>
        <p:spPr>
          <a:xfrm>
            <a:off x="4729163" y="1330342"/>
            <a:ext cx="1005167" cy="1013572"/>
          </a:xfrm>
          <a:prstGeom prst="rect">
            <a:avLst/>
          </a:prstGeom>
          <a:noFill/>
          <a:ln>
            <a:noFill/>
          </a:ln>
        </p:spPr>
      </p:pic>
      <p:pic>
        <p:nvPicPr>
          <p:cNvPr id="377" name="Google Shape;377;p24" descr="A picture containing electronics, indoor, computer&#10;&#10;Description automatically generated"/>
          <p:cNvPicPr preferRelativeResize="0"/>
          <p:nvPr/>
        </p:nvPicPr>
        <p:blipFill rotWithShape="1">
          <a:blip r:embed="rId4">
            <a:alphaModFix/>
          </a:blip>
          <a:srcRect/>
          <a:stretch/>
        </p:blipFill>
        <p:spPr>
          <a:xfrm>
            <a:off x="5518337" y="1607583"/>
            <a:ext cx="2057400" cy="1407262"/>
          </a:xfrm>
          <a:prstGeom prst="rect">
            <a:avLst/>
          </a:prstGeom>
          <a:noFill/>
          <a:ln>
            <a:noFill/>
          </a:ln>
        </p:spPr>
      </p:pic>
      <p:sp>
        <p:nvSpPr>
          <p:cNvPr id="378" name="Google Shape;378;p24"/>
          <p:cNvSpPr txBox="1"/>
          <p:nvPr/>
        </p:nvSpPr>
        <p:spPr>
          <a:xfrm>
            <a:off x="3408830" y="1408580"/>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DNA extraction</a:t>
            </a:r>
            <a:endParaRPr sz="1100" b="0" i="0" u="none" strike="noStrike" cap="none">
              <a:solidFill>
                <a:srgbClr val="000000"/>
              </a:solidFill>
              <a:latin typeface="Arial"/>
              <a:ea typeface="Arial"/>
              <a:cs typeface="Arial"/>
              <a:sym typeface="Arial"/>
            </a:endParaRPr>
          </a:p>
        </p:txBody>
      </p:sp>
      <p:sp>
        <p:nvSpPr>
          <p:cNvPr id="379" name="Google Shape;379;p24"/>
          <p:cNvSpPr txBox="1"/>
          <p:nvPr/>
        </p:nvSpPr>
        <p:spPr>
          <a:xfrm>
            <a:off x="6022600" y="1383375"/>
            <a:ext cx="11229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Sequencing</a:t>
            </a:r>
            <a:endParaRPr sz="1100" b="0" i="0" u="none" strike="noStrike" cap="none">
              <a:solidFill>
                <a:srgbClr val="000000"/>
              </a:solidFill>
              <a:latin typeface="Arial"/>
              <a:ea typeface="Arial"/>
              <a:cs typeface="Arial"/>
              <a:sym typeface="Arial"/>
            </a:endParaRPr>
          </a:p>
        </p:txBody>
      </p:sp>
      <p:sp>
        <p:nvSpPr>
          <p:cNvPr id="380" name="Google Shape;380;p24"/>
          <p:cNvSpPr/>
          <p:nvPr/>
        </p:nvSpPr>
        <p:spPr>
          <a:xfrm>
            <a:off x="6024651" y="1688245"/>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1" name="Google Shape;381;p24"/>
          <p:cNvSpPr/>
          <p:nvPr/>
        </p:nvSpPr>
        <p:spPr>
          <a:xfrm>
            <a:off x="7597168" y="151237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2" name="Google Shape;382;p24"/>
          <p:cNvSpPr/>
          <p:nvPr/>
        </p:nvSpPr>
        <p:spPr>
          <a:xfrm>
            <a:off x="7849300" y="176450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3" name="Google Shape;383;p24"/>
          <p:cNvSpPr/>
          <p:nvPr/>
        </p:nvSpPr>
        <p:spPr>
          <a:xfrm>
            <a:off x="7958557" y="187376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4" name="Google Shape;384;p24"/>
          <p:cNvSpPr/>
          <p:nvPr/>
        </p:nvSpPr>
        <p:spPr>
          <a:xfrm>
            <a:off x="8345160" y="145354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5" name="Google Shape;385;p24"/>
          <p:cNvSpPr/>
          <p:nvPr/>
        </p:nvSpPr>
        <p:spPr>
          <a:xfrm>
            <a:off x="7597167" y="2344409"/>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6" name="Google Shape;386;p24"/>
          <p:cNvSpPr/>
          <p:nvPr/>
        </p:nvSpPr>
        <p:spPr>
          <a:xfrm>
            <a:off x="7983770" y="224355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7" name="Google Shape;387;p24"/>
          <p:cNvSpPr/>
          <p:nvPr/>
        </p:nvSpPr>
        <p:spPr>
          <a:xfrm>
            <a:off x="8252711" y="215951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8" name="Google Shape;388;p24"/>
          <p:cNvSpPr/>
          <p:nvPr/>
        </p:nvSpPr>
        <p:spPr>
          <a:xfrm>
            <a:off x="8076219" y="236962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9" name="Google Shape;389;p24"/>
          <p:cNvSpPr/>
          <p:nvPr/>
        </p:nvSpPr>
        <p:spPr>
          <a:xfrm>
            <a:off x="8143454" y="161322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0" name="Google Shape;390;p24"/>
          <p:cNvSpPr/>
          <p:nvPr/>
        </p:nvSpPr>
        <p:spPr>
          <a:xfrm>
            <a:off x="8252711" y="172248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1" name="Google Shape;391;p24"/>
          <p:cNvSpPr/>
          <p:nvPr/>
        </p:nvSpPr>
        <p:spPr>
          <a:xfrm>
            <a:off x="7714828" y="1655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2" name="Google Shape;392;p24"/>
          <p:cNvSpPr/>
          <p:nvPr/>
        </p:nvSpPr>
        <p:spPr>
          <a:xfrm>
            <a:off x="7529931" y="19409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3" name="Google Shape;393;p24"/>
          <p:cNvSpPr/>
          <p:nvPr/>
        </p:nvSpPr>
        <p:spPr>
          <a:xfrm>
            <a:off x="8437607" y="202504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4" name="Google Shape;394;p24"/>
          <p:cNvSpPr/>
          <p:nvPr/>
        </p:nvSpPr>
        <p:spPr>
          <a:xfrm>
            <a:off x="8437607"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5" name="Google Shape;395;p24"/>
          <p:cNvSpPr/>
          <p:nvPr/>
        </p:nvSpPr>
        <p:spPr>
          <a:xfrm>
            <a:off x="7630783" y="2159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6" name="Google Shape;396;p24"/>
          <p:cNvSpPr/>
          <p:nvPr/>
        </p:nvSpPr>
        <p:spPr>
          <a:xfrm>
            <a:off x="8034194" y="205025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7" name="Google Shape;397;p24"/>
          <p:cNvSpPr/>
          <p:nvPr/>
        </p:nvSpPr>
        <p:spPr>
          <a:xfrm>
            <a:off x="7849297" y="24956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8" name="Google Shape;398;p24"/>
          <p:cNvSpPr txBox="1"/>
          <p:nvPr/>
        </p:nvSpPr>
        <p:spPr>
          <a:xfrm>
            <a:off x="7854762" y="1080806"/>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dirty="0">
                <a:solidFill>
                  <a:schemeClr val="dk1"/>
                </a:solidFill>
                <a:latin typeface="Calibri"/>
                <a:ea typeface="Calibri"/>
                <a:cs typeface="Calibri"/>
                <a:sym typeface="Calibri"/>
              </a:rPr>
              <a:t>Reads</a:t>
            </a:r>
            <a:endParaRPr sz="1500" b="1" i="0" u="none" strike="noStrike" cap="none" dirty="0">
              <a:solidFill>
                <a:schemeClr val="dk1"/>
              </a:solidFill>
              <a:latin typeface="Calibri"/>
              <a:ea typeface="Calibri"/>
              <a:cs typeface="Calibri"/>
              <a:sym typeface="Calibri"/>
            </a:endParaRPr>
          </a:p>
        </p:txBody>
      </p:sp>
      <p:sp>
        <p:nvSpPr>
          <p:cNvPr id="399" name="Google Shape;399;p24"/>
          <p:cNvSpPr txBox="1"/>
          <p:nvPr/>
        </p:nvSpPr>
        <p:spPr>
          <a:xfrm>
            <a:off x="7669877" y="2618825"/>
            <a:ext cx="11229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100-150 bp</a:t>
            </a:r>
            <a:endParaRPr sz="1100" b="0" i="0" u="none" strike="noStrike" cap="none">
              <a:solidFill>
                <a:srgbClr val="000000"/>
              </a:solidFill>
              <a:latin typeface="Arial"/>
              <a:ea typeface="Arial"/>
              <a:cs typeface="Arial"/>
              <a:sym typeface="Arial"/>
            </a:endParaRPr>
          </a:p>
        </p:txBody>
      </p:sp>
      <p:sp>
        <p:nvSpPr>
          <p:cNvPr id="400" name="Google Shape;400;p24"/>
          <p:cNvSpPr/>
          <p:nvPr/>
        </p:nvSpPr>
        <p:spPr>
          <a:xfrm>
            <a:off x="7588761"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01" name="Google Shape;401;p24"/>
          <p:cNvSpPr txBox="1"/>
          <p:nvPr/>
        </p:nvSpPr>
        <p:spPr>
          <a:xfrm>
            <a:off x="2012310" y="3489294"/>
            <a:ext cx="3198804" cy="392385"/>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dirty="0">
                <a:solidFill>
                  <a:schemeClr val="dk1"/>
                </a:solidFill>
                <a:latin typeface="Calibri"/>
                <a:ea typeface="Calibri"/>
                <a:cs typeface="Calibri"/>
                <a:sym typeface="Calibri"/>
              </a:rPr>
              <a:t>Read-based approach </a:t>
            </a:r>
            <a:endParaRPr sz="2100" b="0" i="0" u="none" strike="noStrike" cap="none" dirty="0">
              <a:solidFill>
                <a:schemeClr val="dk1"/>
              </a:solidFill>
              <a:latin typeface="Calibri"/>
              <a:ea typeface="Calibri"/>
              <a:cs typeface="Calibri"/>
              <a:sym typeface="Calibri"/>
            </a:endParaRPr>
          </a:p>
        </p:txBody>
      </p:sp>
      <p:grpSp>
        <p:nvGrpSpPr>
          <p:cNvPr id="402" name="Google Shape;402;p24"/>
          <p:cNvGrpSpPr/>
          <p:nvPr/>
        </p:nvGrpSpPr>
        <p:grpSpPr>
          <a:xfrm>
            <a:off x="4702294" y="2874349"/>
            <a:ext cx="2743714" cy="2014690"/>
            <a:chOff x="9061828" y="3929469"/>
            <a:chExt cx="3658285" cy="2686254"/>
          </a:xfrm>
        </p:grpSpPr>
        <p:sp>
          <p:nvSpPr>
            <p:cNvPr id="403" name="Google Shape;403;p24"/>
            <p:cNvSpPr/>
            <p:nvPr/>
          </p:nvSpPr>
          <p:spPr>
            <a:xfrm rot="10800000">
              <a:off x="12047813" y="5369599"/>
              <a:ext cx="672300" cy="235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pic>
          <p:nvPicPr>
            <p:cNvPr id="404" name="Google Shape;404;p24" descr="Database with solid fill"/>
            <p:cNvPicPr preferRelativeResize="0"/>
            <p:nvPr/>
          </p:nvPicPr>
          <p:blipFill rotWithShape="1">
            <a:blip r:embed="rId5">
              <a:alphaModFix/>
            </a:blip>
            <a:srcRect/>
            <a:stretch/>
          </p:blipFill>
          <p:spPr>
            <a:xfrm>
              <a:off x="10298723" y="5140569"/>
              <a:ext cx="914400" cy="914400"/>
            </a:xfrm>
            <a:prstGeom prst="rect">
              <a:avLst/>
            </a:prstGeom>
            <a:noFill/>
            <a:ln>
              <a:noFill/>
            </a:ln>
          </p:spPr>
        </p:pic>
        <p:pic>
          <p:nvPicPr>
            <p:cNvPr id="405" name="Google Shape;405;p24" descr="Database outline"/>
            <p:cNvPicPr preferRelativeResize="0"/>
            <p:nvPr/>
          </p:nvPicPr>
          <p:blipFill rotWithShape="1">
            <a:blip r:embed="rId6">
              <a:alphaModFix/>
            </a:blip>
            <a:srcRect/>
            <a:stretch/>
          </p:blipFill>
          <p:spPr>
            <a:xfrm>
              <a:off x="10978905" y="5136906"/>
              <a:ext cx="914400" cy="914400"/>
            </a:xfrm>
            <a:prstGeom prst="rect">
              <a:avLst/>
            </a:prstGeom>
            <a:noFill/>
            <a:ln>
              <a:noFill/>
            </a:ln>
          </p:spPr>
        </p:pic>
        <p:pic>
          <p:nvPicPr>
            <p:cNvPr id="406" name="Google Shape;406;p24" descr="Logo&#10;&#10;Description automatically generated"/>
            <p:cNvPicPr preferRelativeResize="0"/>
            <p:nvPr/>
          </p:nvPicPr>
          <p:blipFill rotWithShape="1">
            <a:blip r:embed="rId7">
              <a:alphaModFix/>
            </a:blip>
            <a:srcRect/>
            <a:stretch/>
          </p:blipFill>
          <p:spPr>
            <a:xfrm>
              <a:off x="9863016" y="5280967"/>
              <a:ext cx="535353" cy="653144"/>
            </a:xfrm>
            <a:prstGeom prst="rect">
              <a:avLst/>
            </a:prstGeom>
            <a:noFill/>
            <a:ln>
              <a:noFill/>
            </a:ln>
          </p:spPr>
        </p:pic>
        <p:pic>
          <p:nvPicPr>
            <p:cNvPr id="407" name="Google Shape;407;p24" descr="Logo, company name&#10;&#10;Description automatically generated"/>
            <p:cNvPicPr preferRelativeResize="0"/>
            <p:nvPr/>
          </p:nvPicPr>
          <p:blipFill rotWithShape="1">
            <a:blip r:embed="rId8">
              <a:alphaModFix/>
            </a:blip>
            <a:srcRect/>
            <a:stretch/>
          </p:blipFill>
          <p:spPr>
            <a:xfrm>
              <a:off x="10488246" y="5967046"/>
              <a:ext cx="1277817" cy="648677"/>
            </a:xfrm>
            <a:prstGeom prst="rect">
              <a:avLst/>
            </a:prstGeom>
            <a:noFill/>
            <a:ln>
              <a:noFill/>
            </a:ln>
          </p:spPr>
        </p:pic>
        <p:sp>
          <p:nvSpPr>
            <p:cNvPr id="408" name="Google Shape;408;p24"/>
            <p:cNvSpPr txBox="1"/>
            <p:nvPr/>
          </p:nvSpPr>
          <p:spPr>
            <a:xfrm>
              <a:off x="9061828" y="3929469"/>
              <a:ext cx="1755000" cy="9543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Calibri"/>
                  <a:ea typeface="Calibri"/>
                  <a:cs typeface="Calibri"/>
                  <a:sym typeface="Calibri"/>
                </a:rPr>
                <a:t>The read based:</a:t>
              </a:r>
              <a:endParaRPr sz="11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Calibri"/>
                  <a:ea typeface="Calibri"/>
                  <a:cs typeface="Calibri"/>
                  <a:sym typeface="Calibri"/>
                </a:rPr>
                <a:t>Mapping into databases</a:t>
              </a:r>
              <a:endParaRPr sz="1400" b="0" i="0" u="none" strike="noStrike" cap="none" dirty="0">
                <a:solidFill>
                  <a:schemeClr val="dk1"/>
                </a:solidFill>
                <a:latin typeface="Calibri"/>
                <a:ea typeface="Calibri"/>
                <a:cs typeface="Calibri"/>
                <a:sym typeface="Calibri"/>
              </a:endParaRPr>
            </a:p>
          </p:txBody>
        </p:sp>
      </p:grpSp>
      <p:sp>
        <p:nvSpPr>
          <p:cNvPr id="409" name="Google Shape;409;p24"/>
          <p:cNvSpPr/>
          <p:nvPr/>
        </p:nvSpPr>
        <p:spPr>
          <a:xfrm>
            <a:off x="1750577" y="3957973"/>
            <a:ext cx="2890003" cy="197505"/>
          </a:xfrm>
          <a:prstGeom prst="leftArrow">
            <a:avLst>
              <a:gd name="adj1" fmla="val 50000"/>
              <a:gd name="adj2" fmla="val 50000"/>
            </a:avLst>
          </a:prstGeom>
          <a:solidFill>
            <a:schemeClr val="dk1"/>
          </a:solidFill>
          <a:ln w="12700" cap="flat" cmpd="sng">
            <a:solidFill>
              <a:srgbClr val="0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11" name="Google Shape;411;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12</a:t>
            </a:fld>
            <a:endParaRPr dirty="0"/>
          </a:p>
        </p:txBody>
      </p:sp>
      <p:pic>
        <p:nvPicPr>
          <p:cNvPr id="412" name="Google Shape;412;p24" descr="Diagram&#10;&#10;Description automatically generated"/>
          <p:cNvPicPr preferRelativeResize="0">
            <a:picLocks noGrp="1"/>
          </p:cNvPicPr>
          <p:nvPr>
            <p:ph type="body" idx="1"/>
          </p:nvPr>
        </p:nvPicPr>
        <p:blipFill rotWithShape="1">
          <a:blip r:embed="rId9">
            <a:alphaModFix/>
          </a:blip>
          <a:srcRect l="50042" r="80"/>
          <a:stretch/>
        </p:blipFill>
        <p:spPr>
          <a:xfrm>
            <a:off x="379273" y="3284546"/>
            <a:ext cx="1122900" cy="1339800"/>
          </a:xfrm>
          <a:prstGeom prst="rect">
            <a:avLst/>
          </a:prstGeom>
          <a:noFill/>
          <a:ln>
            <a:noFill/>
          </a:ln>
        </p:spPr>
      </p:pic>
      <p:sp>
        <p:nvSpPr>
          <p:cNvPr id="2" name="Google Shape;381;p24">
            <a:extLst>
              <a:ext uri="{FF2B5EF4-FFF2-40B4-BE49-F238E27FC236}">
                <a16:creationId xmlns:a16="http://schemas.microsoft.com/office/drawing/2014/main" id="{9C9C0945-ABB2-5690-00BA-80DC5CDC1D02}"/>
              </a:ext>
            </a:extLst>
          </p:cNvPr>
          <p:cNvSpPr/>
          <p:nvPr/>
        </p:nvSpPr>
        <p:spPr>
          <a:xfrm>
            <a:off x="7703938" y="361585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 name="Google Shape;383;p24">
            <a:extLst>
              <a:ext uri="{FF2B5EF4-FFF2-40B4-BE49-F238E27FC236}">
                <a16:creationId xmlns:a16="http://schemas.microsoft.com/office/drawing/2014/main" id="{443284C5-5263-750A-790B-AD1165550033}"/>
              </a:ext>
            </a:extLst>
          </p:cNvPr>
          <p:cNvSpPr/>
          <p:nvPr/>
        </p:nvSpPr>
        <p:spPr>
          <a:xfrm>
            <a:off x="8065327" y="3977246"/>
            <a:ext cx="279833"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 name="Google Shape;384;p24">
            <a:extLst>
              <a:ext uri="{FF2B5EF4-FFF2-40B4-BE49-F238E27FC236}">
                <a16:creationId xmlns:a16="http://schemas.microsoft.com/office/drawing/2014/main" id="{A16BFD55-50B9-DCE9-B91D-B1FAECCA0DEE}"/>
              </a:ext>
            </a:extLst>
          </p:cNvPr>
          <p:cNvSpPr/>
          <p:nvPr/>
        </p:nvSpPr>
        <p:spPr>
          <a:xfrm>
            <a:off x="8451930" y="3557025"/>
            <a:ext cx="254730" cy="117918"/>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 name="Google Shape;385;p24">
            <a:extLst>
              <a:ext uri="{FF2B5EF4-FFF2-40B4-BE49-F238E27FC236}">
                <a16:creationId xmlns:a16="http://schemas.microsoft.com/office/drawing/2014/main" id="{8AF1E67E-A662-3707-207E-60AEE53590B1}"/>
              </a:ext>
            </a:extLst>
          </p:cNvPr>
          <p:cNvSpPr/>
          <p:nvPr/>
        </p:nvSpPr>
        <p:spPr>
          <a:xfrm>
            <a:off x="7703937" y="444789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7" name="Google Shape;386;p24">
            <a:extLst>
              <a:ext uri="{FF2B5EF4-FFF2-40B4-BE49-F238E27FC236}">
                <a16:creationId xmlns:a16="http://schemas.microsoft.com/office/drawing/2014/main" id="{6821E4B9-4D9E-FF98-A731-56F0D039237B}"/>
              </a:ext>
            </a:extLst>
          </p:cNvPr>
          <p:cNvSpPr/>
          <p:nvPr/>
        </p:nvSpPr>
        <p:spPr>
          <a:xfrm>
            <a:off x="8090540" y="4347041"/>
            <a:ext cx="227027" cy="84046"/>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8" name="Google Shape;387;p24">
            <a:extLst>
              <a:ext uri="{FF2B5EF4-FFF2-40B4-BE49-F238E27FC236}">
                <a16:creationId xmlns:a16="http://schemas.microsoft.com/office/drawing/2014/main" id="{CA76F5FF-46BA-CA28-E1E5-6795087D83F6}"/>
              </a:ext>
            </a:extLst>
          </p:cNvPr>
          <p:cNvSpPr/>
          <p:nvPr/>
        </p:nvSpPr>
        <p:spPr>
          <a:xfrm>
            <a:off x="8359481" y="426299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 name="Google Shape;388;p24">
            <a:extLst>
              <a:ext uri="{FF2B5EF4-FFF2-40B4-BE49-F238E27FC236}">
                <a16:creationId xmlns:a16="http://schemas.microsoft.com/office/drawing/2014/main" id="{56E3F4EB-F539-3001-D579-0DB573E66619}"/>
              </a:ext>
            </a:extLst>
          </p:cNvPr>
          <p:cNvSpPr/>
          <p:nvPr/>
        </p:nvSpPr>
        <p:spPr>
          <a:xfrm>
            <a:off x="8182989" y="447310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0" name="Google Shape;389;p24">
            <a:extLst>
              <a:ext uri="{FF2B5EF4-FFF2-40B4-BE49-F238E27FC236}">
                <a16:creationId xmlns:a16="http://schemas.microsoft.com/office/drawing/2014/main" id="{FEED7CFB-0AF5-BFA5-96A9-310B7A0C2042}"/>
              </a:ext>
            </a:extLst>
          </p:cNvPr>
          <p:cNvSpPr/>
          <p:nvPr/>
        </p:nvSpPr>
        <p:spPr>
          <a:xfrm>
            <a:off x="8250224" y="3716709"/>
            <a:ext cx="294153" cy="84298"/>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 name="Google Shape;390;p24">
            <a:extLst>
              <a:ext uri="{FF2B5EF4-FFF2-40B4-BE49-F238E27FC236}">
                <a16:creationId xmlns:a16="http://schemas.microsoft.com/office/drawing/2014/main" id="{7FD7AFC1-B973-B1C1-710F-A3A3EAB9AC0C}"/>
              </a:ext>
            </a:extLst>
          </p:cNvPr>
          <p:cNvSpPr/>
          <p:nvPr/>
        </p:nvSpPr>
        <p:spPr>
          <a:xfrm>
            <a:off x="8359481" y="382596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 name="Google Shape;391;p24">
            <a:extLst>
              <a:ext uri="{FF2B5EF4-FFF2-40B4-BE49-F238E27FC236}">
                <a16:creationId xmlns:a16="http://schemas.microsoft.com/office/drawing/2014/main" id="{C2AAB592-B322-F3E2-F56F-8CAEC96AFC91}"/>
              </a:ext>
            </a:extLst>
          </p:cNvPr>
          <p:cNvSpPr/>
          <p:nvPr/>
        </p:nvSpPr>
        <p:spPr>
          <a:xfrm>
            <a:off x="7821598" y="3758731"/>
            <a:ext cx="212596" cy="84298"/>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 name="Google Shape;392;p24">
            <a:extLst>
              <a:ext uri="{FF2B5EF4-FFF2-40B4-BE49-F238E27FC236}">
                <a16:creationId xmlns:a16="http://schemas.microsoft.com/office/drawing/2014/main" id="{895788D7-0CF4-DEA1-6591-8C5CB6935B3D}"/>
              </a:ext>
            </a:extLst>
          </p:cNvPr>
          <p:cNvSpPr/>
          <p:nvPr/>
        </p:nvSpPr>
        <p:spPr>
          <a:xfrm>
            <a:off x="7636701" y="404448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 name="Google Shape;393;p24">
            <a:extLst>
              <a:ext uri="{FF2B5EF4-FFF2-40B4-BE49-F238E27FC236}">
                <a16:creationId xmlns:a16="http://schemas.microsoft.com/office/drawing/2014/main" id="{309CF7AE-470B-55BB-5D35-8202C1F50956}"/>
              </a:ext>
            </a:extLst>
          </p:cNvPr>
          <p:cNvSpPr/>
          <p:nvPr/>
        </p:nvSpPr>
        <p:spPr>
          <a:xfrm>
            <a:off x="8544377" y="4128523"/>
            <a:ext cx="269053" cy="92709"/>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 name="Google Shape;394;p24">
            <a:extLst>
              <a:ext uri="{FF2B5EF4-FFF2-40B4-BE49-F238E27FC236}">
                <a16:creationId xmlns:a16="http://schemas.microsoft.com/office/drawing/2014/main" id="{DBD4CA9B-4E43-ED49-C3C3-F025302E7317}"/>
              </a:ext>
            </a:extLst>
          </p:cNvPr>
          <p:cNvSpPr/>
          <p:nvPr/>
        </p:nvSpPr>
        <p:spPr>
          <a:xfrm>
            <a:off x="8544377" y="394362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 name="Google Shape;395;p24">
            <a:extLst>
              <a:ext uri="{FF2B5EF4-FFF2-40B4-BE49-F238E27FC236}">
                <a16:creationId xmlns:a16="http://schemas.microsoft.com/office/drawing/2014/main" id="{0026FBAB-9FF8-9A13-1F09-493DD1FF89B1}"/>
              </a:ext>
            </a:extLst>
          </p:cNvPr>
          <p:cNvSpPr/>
          <p:nvPr/>
        </p:nvSpPr>
        <p:spPr>
          <a:xfrm>
            <a:off x="7737553" y="426299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8" name="Google Shape;397;p24">
            <a:extLst>
              <a:ext uri="{FF2B5EF4-FFF2-40B4-BE49-F238E27FC236}">
                <a16:creationId xmlns:a16="http://schemas.microsoft.com/office/drawing/2014/main" id="{B6F08404-292F-83D4-0905-93582CC8388E}"/>
              </a:ext>
            </a:extLst>
          </p:cNvPr>
          <p:cNvSpPr/>
          <p:nvPr/>
        </p:nvSpPr>
        <p:spPr>
          <a:xfrm>
            <a:off x="7956067" y="4599170"/>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9" name="Google Shape;398;p24">
            <a:extLst>
              <a:ext uri="{FF2B5EF4-FFF2-40B4-BE49-F238E27FC236}">
                <a16:creationId xmlns:a16="http://schemas.microsoft.com/office/drawing/2014/main" id="{6F52B262-2BC9-8D92-AE24-4BB8415E63AE}"/>
              </a:ext>
            </a:extLst>
          </p:cNvPr>
          <p:cNvSpPr txBox="1"/>
          <p:nvPr/>
        </p:nvSpPr>
        <p:spPr>
          <a:xfrm>
            <a:off x="7597167" y="3184289"/>
            <a:ext cx="1312365" cy="300052"/>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dirty="0">
                <a:solidFill>
                  <a:schemeClr val="dk1"/>
                </a:solidFill>
                <a:latin typeface="Calibri"/>
                <a:ea typeface="Calibri"/>
                <a:cs typeface="Calibri"/>
                <a:sym typeface="Calibri"/>
              </a:rPr>
              <a:t>Cleaned reads</a:t>
            </a:r>
            <a:endParaRPr sz="1500" b="1" i="0" u="none" strike="noStrike" cap="none" dirty="0">
              <a:solidFill>
                <a:schemeClr val="dk1"/>
              </a:solidFill>
              <a:latin typeface="Calibri"/>
              <a:ea typeface="Calibri"/>
              <a:cs typeface="Calibri"/>
              <a:sym typeface="Calibri"/>
            </a:endParaRPr>
          </a:p>
        </p:txBody>
      </p:sp>
      <p:sp>
        <p:nvSpPr>
          <p:cNvPr id="20" name="Google Shape;400;p24">
            <a:extLst>
              <a:ext uri="{FF2B5EF4-FFF2-40B4-BE49-F238E27FC236}">
                <a16:creationId xmlns:a16="http://schemas.microsoft.com/office/drawing/2014/main" id="{BA603784-115F-43A3-BD8F-1FECF10976C5}"/>
              </a:ext>
            </a:extLst>
          </p:cNvPr>
          <p:cNvSpPr/>
          <p:nvPr/>
        </p:nvSpPr>
        <p:spPr>
          <a:xfrm>
            <a:off x="7695531" y="394362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9" name="Google Shape;403;p24">
            <a:extLst>
              <a:ext uri="{FF2B5EF4-FFF2-40B4-BE49-F238E27FC236}">
                <a16:creationId xmlns:a16="http://schemas.microsoft.com/office/drawing/2014/main" id="{76AEDA37-B1B2-8D5B-B6AB-03C7F3D195DD}"/>
              </a:ext>
            </a:extLst>
          </p:cNvPr>
          <p:cNvSpPr/>
          <p:nvPr/>
        </p:nvSpPr>
        <p:spPr>
          <a:xfrm rot="5400000">
            <a:off x="8040448" y="2973848"/>
            <a:ext cx="259867" cy="159684"/>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pic>
        <p:nvPicPr>
          <p:cNvPr id="3" name="Google Shape;111;p16">
            <a:extLst>
              <a:ext uri="{FF2B5EF4-FFF2-40B4-BE49-F238E27FC236}">
                <a16:creationId xmlns:a16="http://schemas.microsoft.com/office/drawing/2014/main" id="{8273D7AB-7923-6D17-2BFD-04685465BC9E}"/>
              </a:ext>
            </a:extLst>
          </p:cNvPr>
          <p:cNvPicPr preferRelativeResize="0"/>
          <p:nvPr/>
        </p:nvPicPr>
        <p:blipFill rotWithShape="1">
          <a:blip r:embed="rId10">
            <a:alphaModFix/>
          </a:blip>
          <a:srcRect t="44399" r="41038" b="28367"/>
          <a:stretch/>
        </p:blipFill>
        <p:spPr>
          <a:xfrm>
            <a:off x="55129" y="1132205"/>
            <a:ext cx="1866899" cy="14072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2"/>
                                        </p:tgtEl>
                                        <p:attrNameLst>
                                          <p:attrName>style.visibility</p:attrName>
                                        </p:attrNameLst>
                                      </p:cBhvr>
                                      <p:to>
                                        <p:strVal val="visible"/>
                                      </p:to>
                                    </p:set>
                                    <p:animEffect transition="in" filter="fade">
                                      <p:cBhvr>
                                        <p:cTn id="7" dur="500"/>
                                        <p:tgtEl>
                                          <p:spTgt spid="4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9"/>
                                        </p:tgtEl>
                                        <p:attrNameLst>
                                          <p:attrName>style.visibility</p:attrName>
                                        </p:attrNameLst>
                                      </p:cBhvr>
                                      <p:to>
                                        <p:strVal val="visible"/>
                                      </p:to>
                                    </p:set>
                                    <p:animEffect transition="in" filter="fade">
                                      <p:cBhvr>
                                        <p:cTn id="12" dur="500"/>
                                        <p:tgtEl>
                                          <p:spTgt spid="40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01"/>
                                        </p:tgtEl>
                                        <p:attrNameLst>
                                          <p:attrName>style.visibility</p:attrName>
                                        </p:attrNameLst>
                                      </p:cBhvr>
                                      <p:to>
                                        <p:strVal val="visible"/>
                                      </p:to>
                                    </p:set>
                                    <p:animEffect transition="in" filter="fade">
                                      <p:cBhvr>
                                        <p:cTn id="15" dur="500"/>
                                        <p:tgtEl>
                                          <p:spTgt spid="401"/>
                                        </p:tgtEl>
                                      </p:cBhvr>
                                    </p:animEffect>
                                  </p:childTnLst>
                                </p:cTn>
                              </p:par>
                              <p:par>
                                <p:cTn id="16" presetID="10" presetClass="entr" presetSubtype="0" fill="hold" nodeType="withEffect">
                                  <p:stCondLst>
                                    <p:cond delay="0"/>
                                  </p:stCondLst>
                                  <p:childTnLst>
                                    <p:set>
                                      <p:cBhvr>
                                        <p:cTn id="17" dur="1" fill="hold">
                                          <p:stCondLst>
                                            <p:cond delay="0"/>
                                          </p:stCondLst>
                                        </p:cTn>
                                        <p:tgtEl>
                                          <p:spTgt spid="412"/>
                                        </p:tgtEl>
                                        <p:attrNameLst>
                                          <p:attrName>style.visibility</p:attrName>
                                        </p:attrNameLst>
                                      </p:cBhvr>
                                      <p:to>
                                        <p:strVal val="visible"/>
                                      </p:to>
                                    </p:set>
                                    <p:animEffect transition="in" filter="fade">
                                      <p:cBhvr>
                                        <p:cTn id="18" dur="500"/>
                                        <p:tgtEl>
                                          <p:spTgt spid="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 grpId="0"/>
      <p:bldP spid="40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13</a:t>
            </a:fld>
            <a:endParaRPr/>
          </a:p>
        </p:txBody>
      </p:sp>
      <p:sp>
        <p:nvSpPr>
          <p:cNvPr id="419" name="Google Shape;419;p25"/>
          <p:cNvSpPr txBox="1"/>
          <p:nvPr/>
        </p:nvSpPr>
        <p:spPr>
          <a:xfrm>
            <a:off x="0" y="296700"/>
            <a:ext cx="9144000" cy="631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900" b="1">
                <a:solidFill>
                  <a:srgbClr val="002060"/>
                </a:solidFill>
                <a:latin typeface="Verdana"/>
                <a:ea typeface="Verdana"/>
                <a:cs typeface="Verdana"/>
                <a:sym typeface="Verdana"/>
              </a:rPr>
              <a:t>Read-based approaches</a:t>
            </a:r>
            <a:endParaRPr b="1">
              <a:solidFill>
                <a:srgbClr val="002060"/>
              </a:solidFill>
              <a:latin typeface="Verdana"/>
              <a:ea typeface="Verdana"/>
              <a:cs typeface="Verdana"/>
              <a:sym typeface="Verdana"/>
            </a:endParaRPr>
          </a:p>
        </p:txBody>
      </p:sp>
      <p:sp>
        <p:nvSpPr>
          <p:cNvPr id="420" name="Google Shape;420;p25"/>
          <p:cNvSpPr txBox="1"/>
          <p:nvPr/>
        </p:nvSpPr>
        <p:spPr>
          <a:xfrm>
            <a:off x="2323500" y="4140525"/>
            <a:ext cx="44970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rgbClr val="002060"/>
                </a:solidFill>
              </a:rPr>
              <a:t>Read-based ≃ Reference-based</a:t>
            </a:r>
            <a:endParaRPr sz="2200" b="1">
              <a:solidFill>
                <a:srgbClr val="002060"/>
              </a:solidFill>
            </a:endParaRPr>
          </a:p>
        </p:txBody>
      </p:sp>
      <p:pic>
        <p:nvPicPr>
          <p:cNvPr id="421" name="Google Shape;421;p25"/>
          <p:cNvPicPr preferRelativeResize="0"/>
          <p:nvPr/>
        </p:nvPicPr>
        <p:blipFill>
          <a:blip r:embed="rId3">
            <a:alphaModFix/>
          </a:blip>
          <a:stretch>
            <a:fillRect/>
          </a:stretch>
        </p:blipFill>
        <p:spPr>
          <a:xfrm>
            <a:off x="1841463" y="1384800"/>
            <a:ext cx="5461075" cy="2511700"/>
          </a:xfrm>
          <a:prstGeom prst="rect">
            <a:avLst/>
          </a:prstGeom>
          <a:noFill/>
          <a:ln>
            <a:noFill/>
          </a:ln>
        </p:spPr>
      </p:pic>
      <p:sp>
        <p:nvSpPr>
          <p:cNvPr id="422" name="Google Shape;422;p25"/>
          <p:cNvSpPr txBox="1"/>
          <p:nvPr/>
        </p:nvSpPr>
        <p:spPr>
          <a:xfrm>
            <a:off x="3981738" y="3173050"/>
            <a:ext cx="21705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Antibiotic resistance genes</a:t>
            </a:r>
            <a:endParaRPr sz="700">
              <a:solidFill>
                <a:schemeClr val="dk2"/>
              </a:solidFill>
            </a:endParaRPr>
          </a:p>
        </p:txBody>
      </p:sp>
      <p:sp>
        <p:nvSpPr>
          <p:cNvPr id="423" name="Google Shape;423;p25"/>
          <p:cNvSpPr/>
          <p:nvPr/>
        </p:nvSpPr>
        <p:spPr>
          <a:xfrm>
            <a:off x="4547838" y="3030000"/>
            <a:ext cx="1038300" cy="1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 name="Google Shape;424;p25"/>
          <p:cNvSpPr txBox="1"/>
          <p:nvPr/>
        </p:nvSpPr>
        <p:spPr>
          <a:xfrm>
            <a:off x="4421687" y="3023250"/>
            <a:ext cx="1290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Virulence factors</a:t>
            </a:r>
            <a:endParaRPr sz="700">
              <a:solidFill>
                <a:schemeClr val="dk2"/>
              </a:solidFill>
            </a:endParaRPr>
          </a:p>
        </p:txBody>
      </p:sp>
      <p:sp>
        <p:nvSpPr>
          <p:cNvPr id="425" name="Google Shape;425;p25"/>
          <p:cNvSpPr/>
          <p:nvPr/>
        </p:nvSpPr>
        <p:spPr>
          <a:xfrm>
            <a:off x="3865800" y="3542100"/>
            <a:ext cx="852000" cy="111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 name="Google Shape;426;p25"/>
          <p:cNvSpPr txBox="1"/>
          <p:nvPr/>
        </p:nvSpPr>
        <p:spPr>
          <a:xfrm>
            <a:off x="3646512" y="3499800"/>
            <a:ext cx="1290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Functional profiling</a:t>
            </a:r>
            <a:endParaRPr sz="700">
              <a:solidFill>
                <a:schemeClr val="dk2"/>
              </a:solidFill>
            </a:endParaRPr>
          </a:p>
        </p:txBody>
      </p:sp>
      <p:sp>
        <p:nvSpPr>
          <p:cNvPr id="427" name="Google Shape;427;p25"/>
          <p:cNvSpPr/>
          <p:nvPr/>
        </p:nvSpPr>
        <p:spPr>
          <a:xfrm>
            <a:off x="5354100" y="2734725"/>
            <a:ext cx="751500" cy="1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 name="Google Shape;428;p25"/>
          <p:cNvSpPr txBox="1"/>
          <p:nvPr/>
        </p:nvSpPr>
        <p:spPr>
          <a:xfrm>
            <a:off x="5247504" y="2571750"/>
            <a:ext cx="8787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Taxonomic</a:t>
            </a:r>
            <a:br>
              <a:rPr lang="en" sz="1000">
                <a:solidFill>
                  <a:schemeClr val="dk2"/>
                </a:solidFill>
              </a:rPr>
            </a:br>
            <a:r>
              <a:rPr lang="en" sz="1000">
                <a:solidFill>
                  <a:schemeClr val="dk2"/>
                </a:solidFill>
              </a:rPr>
              <a:t>profiling</a:t>
            </a:r>
            <a:endParaRPr sz="700">
              <a:solidFill>
                <a:schemeClr val="dk2"/>
              </a:solidFill>
            </a:endParaRPr>
          </a:p>
        </p:txBody>
      </p:sp>
      <p:sp>
        <p:nvSpPr>
          <p:cNvPr id="429" name="Google Shape;429;p25"/>
          <p:cNvSpPr/>
          <p:nvPr/>
        </p:nvSpPr>
        <p:spPr>
          <a:xfrm>
            <a:off x="6648900" y="2459375"/>
            <a:ext cx="535800" cy="208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 name="Google Shape;430;p25"/>
          <p:cNvSpPr txBox="1"/>
          <p:nvPr/>
        </p:nvSpPr>
        <p:spPr>
          <a:xfrm>
            <a:off x="7260850" y="2176650"/>
            <a:ext cx="18051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002060"/>
                </a:solidFill>
              </a:rPr>
              <a:t>Align short-reads to different databases containing reference sequences</a:t>
            </a:r>
            <a:endParaRPr sz="1800">
              <a:solidFill>
                <a:srgbClr val="00206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26"/>
          <p:cNvPicPr preferRelativeResize="0"/>
          <p:nvPr/>
        </p:nvPicPr>
        <p:blipFill>
          <a:blip r:embed="rId3">
            <a:alphaModFix/>
          </a:blip>
          <a:stretch>
            <a:fillRect/>
          </a:stretch>
        </p:blipFill>
        <p:spPr>
          <a:xfrm>
            <a:off x="1841463" y="1384800"/>
            <a:ext cx="5461075" cy="2511700"/>
          </a:xfrm>
          <a:prstGeom prst="rect">
            <a:avLst/>
          </a:prstGeom>
          <a:noFill/>
          <a:ln>
            <a:noFill/>
          </a:ln>
        </p:spPr>
      </p:pic>
      <p:sp>
        <p:nvSpPr>
          <p:cNvPr id="436" name="Google Shape;436;p26"/>
          <p:cNvSpPr txBox="1"/>
          <p:nvPr/>
        </p:nvSpPr>
        <p:spPr>
          <a:xfrm>
            <a:off x="3981738" y="3173050"/>
            <a:ext cx="21705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Antibiotic resistance genes</a:t>
            </a:r>
            <a:endParaRPr sz="700">
              <a:solidFill>
                <a:schemeClr val="dk2"/>
              </a:solidFill>
            </a:endParaRPr>
          </a:p>
        </p:txBody>
      </p:sp>
      <p:sp>
        <p:nvSpPr>
          <p:cNvPr id="437" name="Google Shape;437;p26"/>
          <p:cNvSpPr/>
          <p:nvPr/>
        </p:nvSpPr>
        <p:spPr>
          <a:xfrm>
            <a:off x="4547838" y="3030000"/>
            <a:ext cx="1038300" cy="1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 name="Google Shape;438;p26"/>
          <p:cNvSpPr txBox="1"/>
          <p:nvPr/>
        </p:nvSpPr>
        <p:spPr>
          <a:xfrm>
            <a:off x="4421687" y="3023250"/>
            <a:ext cx="1290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Virulence factors</a:t>
            </a:r>
            <a:endParaRPr sz="700">
              <a:solidFill>
                <a:schemeClr val="dk2"/>
              </a:solidFill>
            </a:endParaRPr>
          </a:p>
        </p:txBody>
      </p:sp>
      <p:sp>
        <p:nvSpPr>
          <p:cNvPr id="439" name="Google Shape;439;p26"/>
          <p:cNvSpPr/>
          <p:nvPr/>
        </p:nvSpPr>
        <p:spPr>
          <a:xfrm>
            <a:off x="3865800" y="3542100"/>
            <a:ext cx="852000" cy="111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 name="Google Shape;440;p26"/>
          <p:cNvSpPr txBox="1"/>
          <p:nvPr/>
        </p:nvSpPr>
        <p:spPr>
          <a:xfrm>
            <a:off x="3646512" y="3499800"/>
            <a:ext cx="1290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Functional profiling</a:t>
            </a:r>
            <a:endParaRPr sz="700">
              <a:solidFill>
                <a:schemeClr val="dk2"/>
              </a:solidFill>
            </a:endParaRPr>
          </a:p>
        </p:txBody>
      </p:sp>
      <p:sp>
        <p:nvSpPr>
          <p:cNvPr id="441" name="Google Shape;441;p26"/>
          <p:cNvSpPr/>
          <p:nvPr/>
        </p:nvSpPr>
        <p:spPr>
          <a:xfrm>
            <a:off x="5354100" y="2734725"/>
            <a:ext cx="751500" cy="1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 name="Google Shape;442;p26"/>
          <p:cNvSpPr txBox="1"/>
          <p:nvPr/>
        </p:nvSpPr>
        <p:spPr>
          <a:xfrm>
            <a:off x="5247504" y="2571750"/>
            <a:ext cx="8787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Taxonomic</a:t>
            </a:r>
            <a:br>
              <a:rPr lang="en" sz="1000">
                <a:solidFill>
                  <a:schemeClr val="dk2"/>
                </a:solidFill>
              </a:rPr>
            </a:br>
            <a:r>
              <a:rPr lang="en" sz="1000">
                <a:solidFill>
                  <a:schemeClr val="dk2"/>
                </a:solidFill>
              </a:rPr>
              <a:t>profiling</a:t>
            </a:r>
            <a:endParaRPr sz="700">
              <a:solidFill>
                <a:schemeClr val="dk2"/>
              </a:solidFill>
            </a:endParaRPr>
          </a:p>
        </p:txBody>
      </p:sp>
      <p:sp>
        <p:nvSpPr>
          <p:cNvPr id="443" name="Google Shape;443;p26"/>
          <p:cNvSpPr/>
          <p:nvPr/>
        </p:nvSpPr>
        <p:spPr>
          <a:xfrm>
            <a:off x="6648900" y="2459375"/>
            <a:ext cx="535800" cy="208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 name="Google Shape;444;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14</a:t>
            </a:fld>
            <a:endParaRPr/>
          </a:p>
        </p:txBody>
      </p:sp>
      <p:sp>
        <p:nvSpPr>
          <p:cNvPr id="445" name="Google Shape;445;p26"/>
          <p:cNvSpPr txBox="1"/>
          <p:nvPr/>
        </p:nvSpPr>
        <p:spPr>
          <a:xfrm>
            <a:off x="0" y="296700"/>
            <a:ext cx="9144000" cy="631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900" b="1">
                <a:solidFill>
                  <a:srgbClr val="002060"/>
                </a:solidFill>
                <a:latin typeface="Verdana"/>
                <a:ea typeface="Verdana"/>
                <a:cs typeface="Verdana"/>
                <a:sym typeface="Verdana"/>
              </a:rPr>
              <a:t>Read-based approaches</a:t>
            </a:r>
            <a:endParaRPr b="1">
              <a:solidFill>
                <a:srgbClr val="002060"/>
              </a:solidFill>
              <a:latin typeface="Verdana"/>
              <a:ea typeface="Verdana"/>
              <a:cs typeface="Verdana"/>
              <a:sym typeface="Verdana"/>
            </a:endParaRPr>
          </a:p>
        </p:txBody>
      </p:sp>
      <p:sp>
        <p:nvSpPr>
          <p:cNvPr id="446" name="Google Shape;446;p26"/>
          <p:cNvSpPr txBox="1"/>
          <p:nvPr/>
        </p:nvSpPr>
        <p:spPr>
          <a:xfrm>
            <a:off x="2323500" y="4140525"/>
            <a:ext cx="44970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rgbClr val="002060"/>
                </a:solidFill>
              </a:rPr>
              <a:t>Read-based ≃ Reference-based</a:t>
            </a:r>
            <a:endParaRPr sz="2200" b="1">
              <a:solidFill>
                <a:srgbClr val="002060"/>
              </a:solidFill>
            </a:endParaRPr>
          </a:p>
        </p:txBody>
      </p:sp>
      <p:cxnSp>
        <p:nvCxnSpPr>
          <p:cNvPr id="447" name="Google Shape;447;p26"/>
          <p:cNvCxnSpPr/>
          <p:nvPr/>
        </p:nvCxnSpPr>
        <p:spPr>
          <a:xfrm rot="10800000">
            <a:off x="1530225" y="2640650"/>
            <a:ext cx="2521800" cy="0"/>
          </a:xfrm>
          <a:prstGeom prst="straightConnector1">
            <a:avLst/>
          </a:prstGeom>
          <a:noFill/>
          <a:ln w="9525" cap="flat" cmpd="sng">
            <a:solidFill>
              <a:srgbClr val="888888"/>
            </a:solidFill>
            <a:prstDash val="solid"/>
            <a:round/>
            <a:headEnd type="none" w="med" len="med"/>
            <a:tailEnd type="none" w="med" len="med"/>
          </a:ln>
        </p:spPr>
      </p:cxnSp>
      <p:sp>
        <p:nvSpPr>
          <p:cNvPr id="448" name="Google Shape;448;p26"/>
          <p:cNvSpPr txBox="1"/>
          <p:nvPr/>
        </p:nvSpPr>
        <p:spPr>
          <a:xfrm>
            <a:off x="374774" y="2279800"/>
            <a:ext cx="3215913"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i="1" dirty="0">
                <a:solidFill>
                  <a:schemeClr val="dk1"/>
                </a:solidFill>
                <a:latin typeface="Calibri"/>
                <a:ea typeface="Calibri"/>
                <a:cs typeface="Calibri"/>
                <a:sym typeface="Calibri"/>
              </a:rPr>
              <a:t>E.g. Metaphlan, Kraken, kaiju, RAT </a:t>
            </a:r>
            <a:endParaRPr dirty="0"/>
          </a:p>
        </p:txBody>
      </p:sp>
      <p:sp>
        <p:nvSpPr>
          <p:cNvPr id="449" name="Google Shape;449;p26"/>
          <p:cNvSpPr txBox="1"/>
          <p:nvPr/>
        </p:nvSpPr>
        <p:spPr>
          <a:xfrm>
            <a:off x="7260850" y="2176650"/>
            <a:ext cx="18051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002060"/>
                </a:solidFill>
              </a:rPr>
              <a:t>Align short-reads to different databases containing reference sequences</a:t>
            </a:r>
            <a:endParaRPr sz="1800">
              <a:solidFill>
                <a:srgbClr val="00206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15</a:t>
            </a:fld>
            <a:endParaRPr/>
          </a:p>
        </p:txBody>
      </p:sp>
      <p:sp>
        <p:nvSpPr>
          <p:cNvPr id="455" name="Google Shape;455;p27"/>
          <p:cNvSpPr txBox="1"/>
          <p:nvPr/>
        </p:nvSpPr>
        <p:spPr>
          <a:xfrm>
            <a:off x="0" y="296700"/>
            <a:ext cx="9144000" cy="631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900" b="1">
                <a:solidFill>
                  <a:srgbClr val="002060"/>
                </a:solidFill>
                <a:latin typeface="Verdana"/>
                <a:ea typeface="Verdana"/>
                <a:cs typeface="Verdana"/>
                <a:sym typeface="Verdana"/>
              </a:rPr>
              <a:t>Read-based approaches</a:t>
            </a:r>
            <a:endParaRPr b="1">
              <a:solidFill>
                <a:srgbClr val="002060"/>
              </a:solidFill>
              <a:latin typeface="Verdana"/>
              <a:ea typeface="Verdana"/>
              <a:cs typeface="Verdana"/>
              <a:sym typeface="Verdana"/>
            </a:endParaRPr>
          </a:p>
        </p:txBody>
      </p:sp>
      <p:sp>
        <p:nvSpPr>
          <p:cNvPr id="456" name="Google Shape;456;p27"/>
          <p:cNvSpPr txBox="1"/>
          <p:nvPr/>
        </p:nvSpPr>
        <p:spPr>
          <a:xfrm>
            <a:off x="2323500" y="4140525"/>
            <a:ext cx="44970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rgbClr val="002060"/>
                </a:solidFill>
              </a:rPr>
              <a:t>Read-based ≃ Reference-based</a:t>
            </a:r>
            <a:endParaRPr sz="2200" b="1">
              <a:solidFill>
                <a:srgbClr val="002060"/>
              </a:solidFill>
            </a:endParaRPr>
          </a:p>
        </p:txBody>
      </p:sp>
      <p:cxnSp>
        <p:nvCxnSpPr>
          <p:cNvPr id="457" name="Google Shape;457;p27"/>
          <p:cNvCxnSpPr/>
          <p:nvPr/>
        </p:nvCxnSpPr>
        <p:spPr>
          <a:xfrm rot="10800000">
            <a:off x="421575" y="3655600"/>
            <a:ext cx="1553700" cy="0"/>
          </a:xfrm>
          <a:prstGeom prst="straightConnector1">
            <a:avLst/>
          </a:prstGeom>
          <a:noFill/>
          <a:ln w="9525" cap="flat" cmpd="sng">
            <a:solidFill>
              <a:srgbClr val="888888"/>
            </a:solidFill>
            <a:prstDash val="solid"/>
            <a:round/>
            <a:headEnd type="none" w="med" len="med"/>
            <a:tailEnd type="none" w="med" len="med"/>
          </a:ln>
        </p:spPr>
      </p:cxnSp>
      <p:pic>
        <p:nvPicPr>
          <p:cNvPr id="458" name="Google Shape;458;p27"/>
          <p:cNvPicPr preferRelativeResize="0"/>
          <p:nvPr/>
        </p:nvPicPr>
        <p:blipFill>
          <a:blip r:embed="rId3">
            <a:alphaModFix/>
          </a:blip>
          <a:stretch>
            <a:fillRect/>
          </a:stretch>
        </p:blipFill>
        <p:spPr>
          <a:xfrm>
            <a:off x="1841463" y="1384800"/>
            <a:ext cx="5461075" cy="2511700"/>
          </a:xfrm>
          <a:prstGeom prst="rect">
            <a:avLst/>
          </a:prstGeom>
          <a:noFill/>
          <a:ln>
            <a:noFill/>
          </a:ln>
        </p:spPr>
      </p:pic>
      <p:sp>
        <p:nvSpPr>
          <p:cNvPr id="459" name="Google Shape;459;p27"/>
          <p:cNvSpPr txBox="1"/>
          <p:nvPr/>
        </p:nvSpPr>
        <p:spPr>
          <a:xfrm>
            <a:off x="3981738" y="3173050"/>
            <a:ext cx="21705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Antibiotic resistance genes</a:t>
            </a:r>
            <a:endParaRPr sz="700">
              <a:solidFill>
                <a:schemeClr val="dk2"/>
              </a:solidFill>
            </a:endParaRPr>
          </a:p>
        </p:txBody>
      </p:sp>
      <p:sp>
        <p:nvSpPr>
          <p:cNvPr id="460" name="Google Shape;460;p27"/>
          <p:cNvSpPr/>
          <p:nvPr/>
        </p:nvSpPr>
        <p:spPr>
          <a:xfrm>
            <a:off x="4547838" y="3030000"/>
            <a:ext cx="1038300" cy="1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 name="Google Shape;461;p27"/>
          <p:cNvSpPr txBox="1"/>
          <p:nvPr/>
        </p:nvSpPr>
        <p:spPr>
          <a:xfrm>
            <a:off x="4421687" y="3023250"/>
            <a:ext cx="1290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Virulence factors</a:t>
            </a:r>
            <a:endParaRPr sz="700">
              <a:solidFill>
                <a:schemeClr val="dk2"/>
              </a:solidFill>
            </a:endParaRPr>
          </a:p>
        </p:txBody>
      </p:sp>
      <p:sp>
        <p:nvSpPr>
          <p:cNvPr id="462" name="Google Shape;462;p27"/>
          <p:cNvSpPr/>
          <p:nvPr/>
        </p:nvSpPr>
        <p:spPr>
          <a:xfrm>
            <a:off x="3865800" y="3542100"/>
            <a:ext cx="852000" cy="111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 name="Google Shape;463;p27"/>
          <p:cNvSpPr txBox="1"/>
          <p:nvPr/>
        </p:nvSpPr>
        <p:spPr>
          <a:xfrm>
            <a:off x="3646512" y="3499800"/>
            <a:ext cx="1290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Functional profiling</a:t>
            </a:r>
            <a:endParaRPr sz="700">
              <a:solidFill>
                <a:schemeClr val="dk2"/>
              </a:solidFill>
            </a:endParaRPr>
          </a:p>
        </p:txBody>
      </p:sp>
      <p:sp>
        <p:nvSpPr>
          <p:cNvPr id="464" name="Google Shape;464;p27"/>
          <p:cNvSpPr/>
          <p:nvPr/>
        </p:nvSpPr>
        <p:spPr>
          <a:xfrm>
            <a:off x="5354100" y="2734725"/>
            <a:ext cx="751500" cy="1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 name="Google Shape;465;p27"/>
          <p:cNvSpPr txBox="1"/>
          <p:nvPr/>
        </p:nvSpPr>
        <p:spPr>
          <a:xfrm>
            <a:off x="5247504" y="2571750"/>
            <a:ext cx="8787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Taxonomic</a:t>
            </a:r>
            <a:br>
              <a:rPr lang="en" sz="1000">
                <a:solidFill>
                  <a:schemeClr val="dk2"/>
                </a:solidFill>
              </a:rPr>
            </a:br>
            <a:r>
              <a:rPr lang="en" sz="1000">
                <a:solidFill>
                  <a:schemeClr val="dk2"/>
                </a:solidFill>
              </a:rPr>
              <a:t>profiling</a:t>
            </a:r>
            <a:endParaRPr sz="700">
              <a:solidFill>
                <a:schemeClr val="dk2"/>
              </a:solidFill>
            </a:endParaRPr>
          </a:p>
        </p:txBody>
      </p:sp>
      <p:sp>
        <p:nvSpPr>
          <p:cNvPr id="466" name="Google Shape;466;p27"/>
          <p:cNvSpPr/>
          <p:nvPr/>
        </p:nvSpPr>
        <p:spPr>
          <a:xfrm>
            <a:off x="6648900" y="2459375"/>
            <a:ext cx="535800" cy="208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 name="Google Shape;467;p27"/>
          <p:cNvSpPr txBox="1"/>
          <p:nvPr/>
        </p:nvSpPr>
        <p:spPr>
          <a:xfrm>
            <a:off x="382575" y="3056575"/>
            <a:ext cx="1805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i="1">
                <a:solidFill>
                  <a:schemeClr val="dk1"/>
                </a:solidFill>
                <a:latin typeface="Calibri"/>
                <a:ea typeface="Calibri"/>
                <a:cs typeface="Calibri"/>
                <a:sym typeface="Calibri"/>
              </a:rPr>
              <a:t>E.g. HUMAnN,</a:t>
            </a:r>
            <a:endParaRPr sz="1600" i="1">
              <a:solidFill>
                <a:schemeClr val="dk1"/>
              </a:solidFill>
              <a:latin typeface="Calibri"/>
              <a:ea typeface="Calibri"/>
              <a:cs typeface="Calibri"/>
              <a:sym typeface="Calibri"/>
            </a:endParaRPr>
          </a:p>
          <a:p>
            <a:pPr marL="0" lvl="0" indent="0" algn="l" rtl="0">
              <a:spcBef>
                <a:spcPts val="0"/>
              </a:spcBef>
              <a:spcAft>
                <a:spcPts val="0"/>
              </a:spcAft>
              <a:buNone/>
            </a:pPr>
            <a:r>
              <a:rPr lang="en" sz="1600" i="1">
                <a:solidFill>
                  <a:schemeClr val="dk1"/>
                </a:solidFill>
                <a:latin typeface="Calibri"/>
                <a:ea typeface="Calibri"/>
                <a:cs typeface="Calibri"/>
                <a:sym typeface="Calibri"/>
              </a:rPr>
              <a:t>MetaPathways</a:t>
            </a:r>
            <a:endParaRPr/>
          </a:p>
        </p:txBody>
      </p:sp>
      <p:sp>
        <p:nvSpPr>
          <p:cNvPr id="468" name="Google Shape;468;p27"/>
          <p:cNvSpPr txBox="1"/>
          <p:nvPr/>
        </p:nvSpPr>
        <p:spPr>
          <a:xfrm>
            <a:off x="7260850" y="2176650"/>
            <a:ext cx="18051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002060"/>
                </a:solidFill>
              </a:rPr>
              <a:t>Align short-reads to different databases containing reference sequences</a:t>
            </a:r>
            <a:endParaRPr sz="1800">
              <a:solidFill>
                <a:srgbClr val="00206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16</a:t>
            </a:fld>
            <a:endParaRPr/>
          </a:p>
        </p:txBody>
      </p:sp>
      <p:sp>
        <p:nvSpPr>
          <p:cNvPr id="474" name="Google Shape;474;p28"/>
          <p:cNvSpPr txBox="1"/>
          <p:nvPr/>
        </p:nvSpPr>
        <p:spPr>
          <a:xfrm>
            <a:off x="0" y="296700"/>
            <a:ext cx="9144000" cy="631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900" b="1">
                <a:solidFill>
                  <a:srgbClr val="002060"/>
                </a:solidFill>
                <a:latin typeface="Verdana"/>
                <a:ea typeface="Verdana"/>
                <a:cs typeface="Verdana"/>
                <a:sym typeface="Verdana"/>
              </a:rPr>
              <a:t>Read-based approaches</a:t>
            </a:r>
            <a:endParaRPr b="1">
              <a:solidFill>
                <a:srgbClr val="002060"/>
              </a:solidFill>
              <a:latin typeface="Verdana"/>
              <a:ea typeface="Verdana"/>
              <a:cs typeface="Verdana"/>
              <a:sym typeface="Verdana"/>
            </a:endParaRPr>
          </a:p>
        </p:txBody>
      </p:sp>
      <p:pic>
        <p:nvPicPr>
          <p:cNvPr id="475" name="Google Shape;475;p28"/>
          <p:cNvPicPr preferRelativeResize="0"/>
          <p:nvPr/>
        </p:nvPicPr>
        <p:blipFill>
          <a:blip r:embed="rId3">
            <a:alphaModFix/>
          </a:blip>
          <a:stretch>
            <a:fillRect/>
          </a:stretch>
        </p:blipFill>
        <p:spPr>
          <a:xfrm>
            <a:off x="1841463" y="1384800"/>
            <a:ext cx="5461075" cy="2511700"/>
          </a:xfrm>
          <a:prstGeom prst="rect">
            <a:avLst/>
          </a:prstGeom>
          <a:noFill/>
          <a:ln>
            <a:noFill/>
          </a:ln>
        </p:spPr>
      </p:pic>
      <p:sp>
        <p:nvSpPr>
          <p:cNvPr id="476" name="Google Shape;476;p28"/>
          <p:cNvSpPr txBox="1"/>
          <p:nvPr/>
        </p:nvSpPr>
        <p:spPr>
          <a:xfrm>
            <a:off x="2323500" y="4140525"/>
            <a:ext cx="44970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rgbClr val="002060"/>
                </a:solidFill>
              </a:rPr>
              <a:t>Read-based ≃ Reference-based</a:t>
            </a:r>
            <a:endParaRPr sz="2200" b="1">
              <a:solidFill>
                <a:srgbClr val="002060"/>
              </a:solidFill>
            </a:endParaRPr>
          </a:p>
        </p:txBody>
      </p:sp>
      <p:sp>
        <p:nvSpPr>
          <p:cNvPr id="477" name="Google Shape;477;p28"/>
          <p:cNvSpPr txBox="1"/>
          <p:nvPr/>
        </p:nvSpPr>
        <p:spPr>
          <a:xfrm>
            <a:off x="7260850" y="2176650"/>
            <a:ext cx="18051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002060"/>
                </a:solidFill>
              </a:rPr>
              <a:t>Align short-reads to different databases containing reference sequences</a:t>
            </a:r>
            <a:endParaRPr sz="1800">
              <a:solidFill>
                <a:srgbClr val="002060"/>
              </a:solidFill>
            </a:endParaRPr>
          </a:p>
        </p:txBody>
      </p:sp>
      <p:cxnSp>
        <p:nvCxnSpPr>
          <p:cNvPr id="478" name="Google Shape;478;p28"/>
          <p:cNvCxnSpPr/>
          <p:nvPr/>
        </p:nvCxnSpPr>
        <p:spPr>
          <a:xfrm rot="10800000">
            <a:off x="421525" y="3148125"/>
            <a:ext cx="2451600" cy="0"/>
          </a:xfrm>
          <a:prstGeom prst="straightConnector1">
            <a:avLst/>
          </a:prstGeom>
          <a:noFill/>
          <a:ln w="9525" cap="flat" cmpd="sng">
            <a:solidFill>
              <a:srgbClr val="888888"/>
            </a:solidFill>
            <a:prstDash val="solid"/>
            <a:round/>
            <a:headEnd type="none" w="med" len="med"/>
            <a:tailEnd type="none" w="med" len="med"/>
          </a:ln>
        </p:spPr>
      </p:cxnSp>
      <p:sp>
        <p:nvSpPr>
          <p:cNvPr id="479" name="Google Shape;479;p28"/>
          <p:cNvSpPr txBox="1"/>
          <p:nvPr/>
        </p:nvSpPr>
        <p:spPr>
          <a:xfrm>
            <a:off x="382575" y="2471025"/>
            <a:ext cx="2170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i="1">
                <a:solidFill>
                  <a:schemeClr val="dk1"/>
                </a:solidFill>
                <a:latin typeface="Calibri"/>
                <a:ea typeface="Calibri"/>
                <a:cs typeface="Calibri"/>
                <a:sym typeface="Calibri"/>
              </a:rPr>
              <a:t>E.g. ShortBRED, ResFinder, DeepARG</a:t>
            </a:r>
            <a:endParaRPr/>
          </a:p>
        </p:txBody>
      </p:sp>
      <p:sp>
        <p:nvSpPr>
          <p:cNvPr id="480" name="Google Shape;480;p28"/>
          <p:cNvSpPr txBox="1"/>
          <p:nvPr/>
        </p:nvSpPr>
        <p:spPr>
          <a:xfrm>
            <a:off x="3981738" y="3173050"/>
            <a:ext cx="21705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Antibiotic resistance genes</a:t>
            </a:r>
            <a:endParaRPr sz="700">
              <a:solidFill>
                <a:schemeClr val="dk2"/>
              </a:solidFill>
            </a:endParaRPr>
          </a:p>
        </p:txBody>
      </p:sp>
      <p:sp>
        <p:nvSpPr>
          <p:cNvPr id="481" name="Google Shape;481;p28"/>
          <p:cNvSpPr/>
          <p:nvPr/>
        </p:nvSpPr>
        <p:spPr>
          <a:xfrm>
            <a:off x="4547838" y="3030000"/>
            <a:ext cx="1038300" cy="1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 name="Google Shape;482;p28"/>
          <p:cNvSpPr txBox="1"/>
          <p:nvPr/>
        </p:nvSpPr>
        <p:spPr>
          <a:xfrm>
            <a:off x="4421687" y="3023250"/>
            <a:ext cx="1290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Virulence factors</a:t>
            </a:r>
            <a:endParaRPr sz="700">
              <a:solidFill>
                <a:schemeClr val="dk2"/>
              </a:solidFill>
            </a:endParaRPr>
          </a:p>
        </p:txBody>
      </p:sp>
      <p:sp>
        <p:nvSpPr>
          <p:cNvPr id="483" name="Google Shape;483;p28"/>
          <p:cNvSpPr/>
          <p:nvPr/>
        </p:nvSpPr>
        <p:spPr>
          <a:xfrm>
            <a:off x="3865800" y="3542100"/>
            <a:ext cx="852000" cy="111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 name="Google Shape;484;p28"/>
          <p:cNvSpPr txBox="1"/>
          <p:nvPr/>
        </p:nvSpPr>
        <p:spPr>
          <a:xfrm>
            <a:off x="3646512" y="3499800"/>
            <a:ext cx="1290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Functional profiling</a:t>
            </a:r>
            <a:endParaRPr sz="700">
              <a:solidFill>
                <a:schemeClr val="dk2"/>
              </a:solidFill>
            </a:endParaRPr>
          </a:p>
        </p:txBody>
      </p:sp>
      <p:sp>
        <p:nvSpPr>
          <p:cNvPr id="485" name="Google Shape;485;p28"/>
          <p:cNvSpPr/>
          <p:nvPr/>
        </p:nvSpPr>
        <p:spPr>
          <a:xfrm>
            <a:off x="5354100" y="2734725"/>
            <a:ext cx="751500" cy="1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 name="Google Shape;486;p28"/>
          <p:cNvSpPr txBox="1"/>
          <p:nvPr/>
        </p:nvSpPr>
        <p:spPr>
          <a:xfrm>
            <a:off x="5247504" y="2571750"/>
            <a:ext cx="8787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dk2"/>
                </a:solidFill>
              </a:rPr>
              <a:t>Taxonomic</a:t>
            </a:r>
            <a:br>
              <a:rPr lang="en" sz="1000">
                <a:solidFill>
                  <a:schemeClr val="dk2"/>
                </a:solidFill>
              </a:rPr>
            </a:br>
            <a:r>
              <a:rPr lang="en" sz="1000">
                <a:solidFill>
                  <a:schemeClr val="dk2"/>
                </a:solidFill>
              </a:rPr>
              <a:t>profiling</a:t>
            </a:r>
            <a:endParaRPr sz="700">
              <a:solidFill>
                <a:schemeClr val="dk2"/>
              </a:solidFill>
            </a:endParaRPr>
          </a:p>
        </p:txBody>
      </p:sp>
      <p:sp>
        <p:nvSpPr>
          <p:cNvPr id="487" name="Google Shape;487;p28"/>
          <p:cNvSpPr/>
          <p:nvPr/>
        </p:nvSpPr>
        <p:spPr>
          <a:xfrm>
            <a:off x="6648900" y="2459375"/>
            <a:ext cx="535800" cy="208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2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a:latin typeface="Arial"/>
                <a:ea typeface="Arial"/>
                <a:cs typeface="Arial"/>
                <a:sym typeface="Arial"/>
              </a:rPr>
              <a:t>Metagenomics workflow:</a:t>
            </a:r>
            <a:r>
              <a:rPr lang="en"/>
              <a:t> Assembly-based</a:t>
            </a:r>
            <a:endParaRPr/>
          </a:p>
        </p:txBody>
      </p:sp>
      <p:sp>
        <p:nvSpPr>
          <p:cNvPr id="493" name="Google Shape;493;p29"/>
          <p:cNvSpPr/>
          <p:nvPr/>
        </p:nvSpPr>
        <p:spPr>
          <a:xfrm>
            <a:off x="2378028" y="1226624"/>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94" name="Google Shape;494;p29"/>
          <p:cNvSpPr/>
          <p:nvPr/>
        </p:nvSpPr>
        <p:spPr>
          <a:xfrm>
            <a:off x="2235152" y="1663653"/>
            <a:ext cx="344400" cy="344400"/>
          </a:xfrm>
          <a:prstGeom prst="ellipse">
            <a:avLst/>
          </a:prstGeom>
          <a:solidFill>
            <a:schemeClr val="lt1"/>
          </a:solidFill>
          <a:ln w="571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95" name="Google Shape;495;p29"/>
          <p:cNvSpPr/>
          <p:nvPr/>
        </p:nvSpPr>
        <p:spPr>
          <a:xfrm>
            <a:off x="2697395" y="1571204"/>
            <a:ext cx="344400" cy="344400"/>
          </a:xfrm>
          <a:prstGeom prst="ellipse">
            <a:avLst/>
          </a:prstGeom>
          <a:solidFill>
            <a:schemeClr val="lt1"/>
          </a:solidFill>
          <a:ln w="5715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96" name="Google Shape;496;p29"/>
          <p:cNvSpPr/>
          <p:nvPr/>
        </p:nvSpPr>
        <p:spPr>
          <a:xfrm>
            <a:off x="2470476" y="2058661"/>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97" name="Google Shape;497;p29"/>
          <p:cNvSpPr/>
          <p:nvPr/>
        </p:nvSpPr>
        <p:spPr>
          <a:xfrm>
            <a:off x="3494924" y="17050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498" name="Google Shape;498;p29" descr="DNA with solid fill"/>
          <p:cNvPicPr preferRelativeResize="0"/>
          <p:nvPr/>
        </p:nvPicPr>
        <p:blipFill rotWithShape="1">
          <a:blip r:embed="rId3">
            <a:alphaModFix/>
          </a:blip>
          <a:srcRect/>
          <a:stretch/>
        </p:blipFill>
        <p:spPr>
          <a:xfrm>
            <a:off x="4729163" y="1330342"/>
            <a:ext cx="1005167" cy="1013572"/>
          </a:xfrm>
          <a:prstGeom prst="rect">
            <a:avLst/>
          </a:prstGeom>
          <a:noFill/>
          <a:ln>
            <a:noFill/>
          </a:ln>
        </p:spPr>
      </p:pic>
      <p:pic>
        <p:nvPicPr>
          <p:cNvPr id="499" name="Google Shape;499;p29" descr="A picture containing electronics, indoor, computer&#10;&#10;Description automatically generated"/>
          <p:cNvPicPr preferRelativeResize="0"/>
          <p:nvPr/>
        </p:nvPicPr>
        <p:blipFill rotWithShape="1">
          <a:blip r:embed="rId4">
            <a:alphaModFix/>
          </a:blip>
          <a:srcRect/>
          <a:stretch/>
        </p:blipFill>
        <p:spPr>
          <a:xfrm>
            <a:off x="5518337" y="1607583"/>
            <a:ext cx="2057400" cy="1407262"/>
          </a:xfrm>
          <a:prstGeom prst="rect">
            <a:avLst/>
          </a:prstGeom>
          <a:noFill/>
          <a:ln>
            <a:noFill/>
          </a:ln>
        </p:spPr>
      </p:pic>
      <p:sp>
        <p:nvSpPr>
          <p:cNvPr id="500" name="Google Shape;500;p29"/>
          <p:cNvSpPr txBox="1"/>
          <p:nvPr/>
        </p:nvSpPr>
        <p:spPr>
          <a:xfrm>
            <a:off x="3408830" y="1408580"/>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DNA extraction</a:t>
            </a:r>
            <a:endParaRPr sz="1100" b="0" i="0" u="none" strike="noStrike" cap="none">
              <a:solidFill>
                <a:srgbClr val="000000"/>
              </a:solidFill>
              <a:latin typeface="Arial"/>
              <a:ea typeface="Arial"/>
              <a:cs typeface="Arial"/>
              <a:sym typeface="Arial"/>
            </a:endParaRPr>
          </a:p>
        </p:txBody>
      </p:sp>
      <p:sp>
        <p:nvSpPr>
          <p:cNvPr id="501" name="Google Shape;501;p29"/>
          <p:cNvSpPr txBox="1"/>
          <p:nvPr/>
        </p:nvSpPr>
        <p:spPr>
          <a:xfrm>
            <a:off x="6022600" y="1383375"/>
            <a:ext cx="11526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Sequencing</a:t>
            </a:r>
            <a:endParaRPr sz="1100" b="0" i="0" u="none" strike="noStrike" cap="none">
              <a:solidFill>
                <a:srgbClr val="000000"/>
              </a:solidFill>
              <a:latin typeface="Arial"/>
              <a:ea typeface="Arial"/>
              <a:cs typeface="Arial"/>
              <a:sym typeface="Arial"/>
            </a:endParaRPr>
          </a:p>
        </p:txBody>
      </p:sp>
      <p:sp>
        <p:nvSpPr>
          <p:cNvPr id="502" name="Google Shape;502;p29"/>
          <p:cNvSpPr/>
          <p:nvPr/>
        </p:nvSpPr>
        <p:spPr>
          <a:xfrm>
            <a:off x="6024651" y="1688245"/>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03" name="Google Shape;503;p29"/>
          <p:cNvSpPr/>
          <p:nvPr/>
        </p:nvSpPr>
        <p:spPr>
          <a:xfrm>
            <a:off x="7597168" y="151237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04" name="Google Shape;504;p29"/>
          <p:cNvSpPr/>
          <p:nvPr/>
        </p:nvSpPr>
        <p:spPr>
          <a:xfrm>
            <a:off x="7849300" y="176450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05" name="Google Shape;505;p29"/>
          <p:cNvSpPr/>
          <p:nvPr/>
        </p:nvSpPr>
        <p:spPr>
          <a:xfrm>
            <a:off x="7958557" y="187376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06" name="Google Shape;506;p29"/>
          <p:cNvSpPr/>
          <p:nvPr/>
        </p:nvSpPr>
        <p:spPr>
          <a:xfrm>
            <a:off x="8345160" y="145354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07" name="Google Shape;507;p29"/>
          <p:cNvSpPr/>
          <p:nvPr/>
        </p:nvSpPr>
        <p:spPr>
          <a:xfrm>
            <a:off x="7597167" y="2344409"/>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08" name="Google Shape;508;p29"/>
          <p:cNvSpPr/>
          <p:nvPr/>
        </p:nvSpPr>
        <p:spPr>
          <a:xfrm>
            <a:off x="7983770" y="224355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09" name="Google Shape;509;p29"/>
          <p:cNvSpPr/>
          <p:nvPr/>
        </p:nvSpPr>
        <p:spPr>
          <a:xfrm>
            <a:off x="8252711" y="215951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10" name="Google Shape;510;p29"/>
          <p:cNvSpPr/>
          <p:nvPr/>
        </p:nvSpPr>
        <p:spPr>
          <a:xfrm>
            <a:off x="8076219" y="236962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11" name="Google Shape;511;p29"/>
          <p:cNvSpPr/>
          <p:nvPr/>
        </p:nvSpPr>
        <p:spPr>
          <a:xfrm>
            <a:off x="8143454" y="161322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12" name="Google Shape;512;p29"/>
          <p:cNvSpPr/>
          <p:nvPr/>
        </p:nvSpPr>
        <p:spPr>
          <a:xfrm>
            <a:off x="8252711" y="172248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13" name="Google Shape;513;p29"/>
          <p:cNvSpPr/>
          <p:nvPr/>
        </p:nvSpPr>
        <p:spPr>
          <a:xfrm>
            <a:off x="7714828" y="1655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14" name="Google Shape;514;p29"/>
          <p:cNvSpPr/>
          <p:nvPr/>
        </p:nvSpPr>
        <p:spPr>
          <a:xfrm>
            <a:off x="7529931" y="19409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15" name="Google Shape;515;p29"/>
          <p:cNvSpPr/>
          <p:nvPr/>
        </p:nvSpPr>
        <p:spPr>
          <a:xfrm>
            <a:off x="8437607" y="202504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16" name="Google Shape;516;p29"/>
          <p:cNvSpPr/>
          <p:nvPr/>
        </p:nvSpPr>
        <p:spPr>
          <a:xfrm>
            <a:off x="8437607"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17" name="Google Shape;517;p29"/>
          <p:cNvSpPr/>
          <p:nvPr/>
        </p:nvSpPr>
        <p:spPr>
          <a:xfrm>
            <a:off x="7630783" y="2159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18" name="Google Shape;518;p29"/>
          <p:cNvSpPr/>
          <p:nvPr/>
        </p:nvSpPr>
        <p:spPr>
          <a:xfrm>
            <a:off x="8034194" y="205025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19" name="Google Shape;519;p29"/>
          <p:cNvSpPr/>
          <p:nvPr/>
        </p:nvSpPr>
        <p:spPr>
          <a:xfrm>
            <a:off x="7849297" y="24956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20" name="Google Shape;520;p29"/>
          <p:cNvSpPr txBox="1"/>
          <p:nvPr/>
        </p:nvSpPr>
        <p:spPr>
          <a:xfrm>
            <a:off x="7854762" y="1080806"/>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Reads</a:t>
            </a:r>
            <a:endParaRPr sz="1500" b="1" i="0" u="none" strike="noStrike" cap="none">
              <a:solidFill>
                <a:schemeClr val="dk1"/>
              </a:solidFill>
              <a:latin typeface="Calibri"/>
              <a:ea typeface="Calibri"/>
              <a:cs typeface="Calibri"/>
              <a:sym typeface="Calibri"/>
            </a:endParaRPr>
          </a:p>
        </p:txBody>
      </p:sp>
      <p:sp>
        <p:nvSpPr>
          <p:cNvPr id="521" name="Google Shape;521;p29"/>
          <p:cNvSpPr txBox="1"/>
          <p:nvPr/>
        </p:nvSpPr>
        <p:spPr>
          <a:xfrm>
            <a:off x="7669878" y="2618825"/>
            <a:ext cx="12213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100-150 bp</a:t>
            </a:r>
            <a:endParaRPr sz="1100" b="0" i="0" u="none" strike="noStrike" cap="none">
              <a:solidFill>
                <a:srgbClr val="000000"/>
              </a:solidFill>
              <a:latin typeface="Arial"/>
              <a:ea typeface="Arial"/>
              <a:cs typeface="Arial"/>
              <a:sym typeface="Arial"/>
            </a:endParaRPr>
          </a:p>
        </p:txBody>
      </p:sp>
      <p:sp>
        <p:nvSpPr>
          <p:cNvPr id="522" name="Google Shape;522;p29"/>
          <p:cNvSpPr/>
          <p:nvPr/>
        </p:nvSpPr>
        <p:spPr>
          <a:xfrm>
            <a:off x="7588761"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23" name="Google Shape;523;p29"/>
          <p:cNvSpPr txBox="1"/>
          <p:nvPr/>
        </p:nvSpPr>
        <p:spPr>
          <a:xfrm>
            <a:off x="1778693" y="3183624"/>
            <a:ext cx="3055068" cy="71555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dirty="0">
                <a:solidFill>
                  <a:schemeClr val="dk1"/>
                </a:solidFill>
                <a:latin typeface="Calibri"/>
                <a:ea typeface="Calibri"/>
                <a:cs typeface="Calibri"/>
                <a:sym typeface="Calibri"/>
              </a:rPr>
              <a:t>Assembly</a:t>
            </a:r>
            <a:r>
              <a:rPr lang="en" sz="2100" dirty="0">
                <a:solidFill>
                  <a:schemeClr val="dk1"/>
                </a:solidFill>
                <a:latin typeface="Calibri"/>
                <a:ea typeface="Calibri"/>
                <a:cs typeface="Calibri"/>
                <a:sym typeface="Calibri"/>
              </a:rPr>
              <a:t>-</a:t>
            </a:r>
            <a:r>
              <a:rPr lang="en" sz="2100" b="0" i="0" u="none" strike="noStrike" cap="none" dirty="0">
                <a:solidFill>
                  <a:schemeClr val="dk1"/>
                </a:solidFill>
                <a:latin typeface="Calibri"/>
                <a:ea typeface="Calibri"/>
                <a:cs typeface="Calibri"/>
                <a:sym typeface="Calibri"/>
              </a:rPr>
              <a:t>based approach </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dk1"/>
              </a:solidFill>
              <a:latin typeface="Calibri"/>
              <a:ea typeface="Calibri"/>
              <a:cs typeface="Calibri"/>
              <a:sym typeface="Calibri"/>
            </a:endParaRPr>
          </a:p>
        </p:txBody>
      </p:sp>
      <p:grpSp>
        <p:nvGrpSpPr>
          <p:cNvPr id="524" name="Google Shape;524;p29"/>
          <p:cNvGrpSpPr/>
          <p:nvPr/>
        </p:nvGrpSpPr>
        <p:grpSpPr>
          <a:xfrm>
            <a:off x="4947447" y="3259206"/>
            <a:ext cx="2559039" cy="1629330"/>
            <a:chOff x="9495863" y="4175310"/>
            <a:chExt cx="3412053" cy="2172440"/>
          </a:xfrm>
        </p:grpSpPr>
        <p:sp>
          <p:nvSpPr>
            <p:cNvPr id="525" name="Google Shape;525;p29"/>
            <p:cNvSpPr/>
            <p:nvPr/>
          </p:nvSpPr>
          <p:spPr>
            <a:xfrm rot="10800000">
              <a:off x="12235616" y="5249453"/>
              <a:ext cx="672300" cy="235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26" name="Google Shape;526;p29"/>
            <p:cNvSpPr/>
            <p:nvPr/>
          </p:nvSpPr>
          <p:spPr>
            <a:xfrm>
              <a:off x="9692526" y="5725644"/>
              <a:ext cx="9189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27" name="Google Shape;527;p29"/>
            <p:cNvSpPr/>
            <p:nvPr/>
          </p:nvSpPr>
          <p:spPr>
            <a:xfrm>
              <a:off x="10275231" y="5154144"/>
              <a:ext cx="18267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28" name="Google Shape;528;p29"/>
            <p:cNvSpPr/>
            <p:nvPr/>
          </p:nvSpPr>
          <p:spPr>
            <a:xfrm>
              <a:off x="9793376" y="5367053"/>
              <a:ext cx="13671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29" name="Google Shape;529;p29"/>
            <p:cNvSpPr/>
            <p:nvPr/>
          </p:nvSpPr>
          <p:spPr>
            <a:xfrm>
              <a:off x="10689849" y="5568761"/>
              <a:ext cx="13671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30" name="Google Shape;530;p29"/>
            <p:cNvSpPr txBox="1"/>
            <p:nvPr/>
          </p:nvSpPr>
          <p:spPr>
            <a:xfrm>
              <a:off x="10517839" y="4701985"/>
              <a:ext cx="1263900" cy="400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Contigs</a:t>
              </a:r>
              <a:endParaRPr sz="1500" b="1" i="0" u="none" strike="noStrike" cap="none">
                <a:solidFill>
                  <a:schemeClr val="dk1"/>
                </a:solidFill>
                <a:latin typeface="Calibri"/>
                <a:ea typeface="Calibri"/>
                <a:cs typeface="Calibri"/>
                <a:sym typeface="Calibri"/>
              </a:endParaRPr>
            </a:p>
          </p:txBody>
        </p:sp>
        <p:sp>
          <p:nvSpPr>
            <p:cNvPr id="531" name="Google Shape;531;p29"/>
            <p:cNvSpPr txBox="1"/>
            <p:nvPr/>
          </p:nvSpPr>
          <p:spPr>
            <a:xfrm>
              <a:off x="10226486" y="5968250"/>
              <a:ext cx="12639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1000+ bp</a:t>
              </a:r>
              <a:endParaRPr sz="1100" b="0" i="0" u="none" strike="noStrike" cap="none">
                <a:solidFill>
                  <a:srgbClr val="000000"/>
                </a:solidFill>
                <a:latin typeface="Arial"/>
                <a:ea typeface="Arial"/>
                <a:cs typeface="Arial"/>
                <a:sym typeface="Arial"/>
              </a:endParaRPr>
            </a:p>
          </p:txBody>
        </p:sp>
        <p:sp>
          <p:nvSpPr>
            <p:cNvPr id="532" name="Google Shape;532;p29"/>
            <p:cNvSpPr txBox="1"/>
            <p:nvPr/>
          </p:nvSpPr>
          <p:spPr>
            <a:xfrm>
              <a:off x="9495863" y="4175310"/>
              <a:ext cx="12639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Assembly</a:t>
              </a:r>
              <a:endParaRPr sz="1100" b="0" i="0" u="none" strike="noStrike" cap="none">
                <a:solidFill>
                  <a:srgbClr val="000000"/>
                </a:solidFill>
                <a:latin typeface="Arial"/>
                <a:ea typeface="Arial"/>
                <a:cs typeface="Arial"/>
                <a:sym typeface="Arial"/>
              </a:endParaRPr>
            </a:p>
          </p:txBody>
        </p:sp>
        <p:sp>
          <p:nvSpPr>
            <p:cNvPr id="533" name="Google Shape;533;p29"/>
            <p:cNvSpPr/>
            <p:nvPr/>
          </p:nvSpPr>
          <p:spPr>
            <a:xfrm>
              <a:off x="10705639" y="5855530"/>
              <a:ext cx="9189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534" name="Google Shape;534;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17</a:t>
            </a:fld>
            <a:endParaRPr/>
          </a:p>
        </p:txBody>
      </p:sp>
      <p:sp>
        <p:nvSpPr>
          <p:cNvPr id="2" name="Google Shape;381;p24">
            <a:extLst>
              <a:ext uri="{FF2B5EF4-FFF2-40B4-BE49-F238E27FC236}">
                <a16:creationId xmlns:a16="http://schemas.microsoft.com/office/drawing/2014/main" id="{A98F213F-5561-4432-8065-FC17342750FA}"/>
              </a:ext>
            </a:extLst>
          </p:cNvPr>
          <p:cNvSpPr/>
          <p:nvPr/>
        </p:nvSpPr>
        <p:spPr>
          <a:xfrm>
            <a:off x="7703938" y="361585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 name="Google Shape;383;p24">
            <a:extLst>
              <a:ext uri="{FF2B5EF4-FFF2-40B4-BE49-F238E27FC236}">
                <a16:creationId xmlns:a16="http://schemas.microsoft.com/office/drawing/2014/main" id="{C4C558D7-39AC-0879-3E57-6A32258F48C1}"/>
              </a:ext>
            </a:extLst>
          </p:cNvPr>
          <p:cNvSpPr/>
          <p:nvPr/>
        </p:nvSpPr>
        <p:spPr>
          <a:xfrm>
            <a:off x="8065327" y="3977246"/>
            <a:ext cx="279833"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 name="Google Shape;384;p24">
            <a:extLst>
              <a:ext uri="{FF2B5EF4-FFF2-40B4-BE49-F238E27FC236}">
                <a16:creationId xmlns:a16="http://schemas.microsoft.com/office/drawing/2014/main" id="{4A4C0F97-03D7-1446-C3BA-47B7767D3776}"/>
              </a:ext>
            </a:extLst>
          </p:cNvPr>
          <p:cNvSpPr/>
          <p:nvPr/>
        </p:nvSpPr>
        <p:spPr>
          <a:xfrm>
            <a:off x="8451930" y="3557025"/>
            <a:ext cx="254730" cy="117918"/>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 name="Google Shape;385;p24">
            <a:extLst>
              <a:ext uri="{FF2B5EF4-FFF2-40B4-BE49-F238E27FC236}">
                <a16:creationId xmlns:a16="http://schemas.microsoft.com/office/drawing/2014/main" id="{7769166D-DA89-3F9A-CB52-10A78867E347}"/>
              </a:ext>
            </a:extLst>
          </p:cNvPr>
          <p:cNvSpPr/>
          <p:nvPr/>
        </p:nvSpPr>
        <p:spPr>
          <a:xfrm>
            <a:off x="7703937" y="444789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 name="Google Shape;386;p24">
            <a:extLst>
              <a:ext uri="{FF2B5EF4-FFF2-40B4-BE49-F238E27FC236}">
                <a16:creationId xmlns:a16="http://schemas.microsoft.com/office/drawing/2014/main" id="{61B577CA-23B9-A2FB-D44B-1E29D8E91B63}"/>
              </a:ext>
            </a:extLst>
          </p:cNvPr>
          <p:cNvSpPr/>
          <p:nvPr/>
        </p:nvSpPr>
        <p:spPr>
          <a:xfrm>
            <a:off x="8090540" y="4347041"/>
            <a:ext cx="227027" cy="84046"/>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7" name="Google Shape;387;p24">
            <a:extLst>
              <a:ext uri="{FF2B5EF4-FFF2-40B4-BE49-F238E27FC236}">
                <a16:creationId xmlns:a16="http://schemas.microsoft.com/office/drawing/2014/main" id="{AD10D7B4-3524-7DB9-AA8D-6AA561AE8F9A}"/>
              </a:ext>
            </a:extLst>
          </p:cNvPr>
          <p:cNvSpPr/>
          <p:nvPr/>
        </p:nvSpPr>
        <p:spPr>
          <a:xfrm>
            <a:off x="8359481" y="426299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8" name="Google Shape;388;p24">
            <a:extLst>
              <a:ext uri="{FF2B5EF4-FFF2-40B4-BE49-F238E27FC236}">
                <a16:creationId xmlns:a16="http://schemas.microsoft.com/office/drawing/2014/main" id="{74701B08-E8E3-B49C-8C69-994536030FED}"/>
              </a:ext>
            </a:extLst>
          </p:cNvPr>
          <p:cNvSpPr/>
          <p:nvPr/>
        </p:nvSpPr>
        <p:spPr>
          <a:xfrm>
            <a:off x="8182989" y="447310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 name="Google Shape;389;p24">
            <a:extLst>
              <a:ext uri="{FF2B5EF4-FFF2-40B4-BE49-F238E27FC236}">
                <a16:creationId xmlns:a16="http://schemas.microsoft.com/office/drawing/2014/main" id="{BF47236D-5DD7-021C-97E6-3711C100C668}"/>
              </a:ext>
            </a:extLst>
          </p:cNvPr>
          <p:cNvSpPr/>
          <p:nvPr/>
        </p:nvSpPr>
        <p:spPr>
          <a:xfrm>
            <a:off x="8250224" y="3716709"/>
            <a:ext cx="294153" cy="84298"/>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0" name="Google Shape;390;p24">
            <a:extLst>
              <a:ext uri="{FF2B5EF4-FFF2-40B4-BE49-F238E27FC236}">
                <a16:creationId xmlns:a16="http://schemas.microsoft.com/office/drawing/2014/main" id="{CE57E01F-9589-EADF-8276-A41738872579}"/>
              </a:ext>
            </a:extLst>
          </p:cNvPr>
          <p:cNvSpPr/>
          <p:nvPr/>
        </p:nvSpPr>
        <p:spPr>
          <a:xfrm>
            <a:off x="8359481" y="382596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 name="Google Shape;391;p24">
            <a:extLst>
              <a:ext uri="{FF2B5EF4-FFF2-40B4-BE49-F238E27FC236}">
                <a16:creationId xmlns:a16="http://schemas.microsoft.com/office/drawing/2014/main" id="{AE54B7CC-29D0-0E69-F5B5-6E9FE06BE29F}"/>
              </a:ext>
            </a:extLst>
          </p:cNvPr>
          <p:cNvSpPr/>
          <p:nvPr/>
        </p:nvSpPr>
        <p:spPr>
          <a:xfrm>
            <a:off x="7821598" y="3758731"/>
            <a:ext cx="212596" cy="84298"/>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 name="Google Shape;392;p24">
            <a:extLst>
              <a:ext uri="{FF2B5EF4-FFF2-40B4-BE49-F238E27FC236}">
                <a16:creationId xmlns:a16="http://schemas.microsoft.com/office/drawing/2014/main" id="{E0D1BE1A-4F94-AD08-0EAF-F59B46AB4E58}"/>
              </a:ext>
            </a:extLst>
          </p:cNvPr>
          <p:cNvSpPr/>
          <p:nvPr/>
        </p:nvSpPr>
        <p:spPr>
          <a:xfrm>
            <a:off x="7636701" y="404448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 name="Google Shape;393;p24">
            <a:extLst>
              <a:ext uri="{FF2B5EF4-FFF2-40B4-BE49-F238E27FC236}">
                <a16:creationId xmlns:a16="http://schemas.microsoft.com/office/drawing/2014/main" id="{ECF76CDC-6518-EA6D-DD4E-C393C8832E5E}"/>
              </a:ext>
            </a:extLst>
          </p:cNvPr>
          <p:cNvSpPr/>
          <p:nvPr/>
        </p:nvSpPr>
        <p:spPr>
          <a:xfrm>
            <a:off x="8544377" y="4128523"/>
            <a:ext cx="269053" cy="92709"/>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 name="Google Shape;394;p24">
            <a:extLst>
              <a:ext uri="{FF2B5EF4-FFF2-40B4-BE49-F238E27FC236}">
                <a16:creationId xmlns:a16="http://schemas.microsoft.com/office/drawing/2014/main" id="{B689F3AF-059F-A678-54EC-42ADAAFCB860}"/>
              </a:ext>
            </a:extLst>
          </p:cNvPr>
          <p:cNvSpPr/>
          <p:nvPr/>
        </p:nvSpPr>
        <p:spPr>
          <a:xfrm>
            <a:off x="8544377" y="394362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 name="Google Shape;395;p24">
            <a:extLst>
              <a:ext uri="{FF2B5EF4-FFF2-40B4-BE49-F238E27FC236}">
                <a16:creationId xmlns:a16="http://schemas.microsoft.com/office/drawing/2014/main" id="{5B348878-3F98-316C-2245-217F2E21A17F}"/>
              </a:ext>
            </a:extLst>
          </p:cNvPr>
          <p:cNvSpPr/>
          <p:nvPr/>
        </p:nvSpPr>
        <p:spPr>
          <a:xfrm>
            <a:off x="7737553" y="426299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 name="Google Shape;397;p24">
            <a:extLst>
              <a:ext uri="{FF2B5EF4-FFF2-40B4-BE49-F238E27FC236}">
                <a16:creationId xmlns:a16="http://schemas.microsoft.com/office/drawing/2014/main" id="{2DD6D675-5CDB-3409-9154-F7E33B79F699}"/>
              </a:ext>
            </a:extLst>
          </p:cNvPr>
          <p:cNvSpPr/>
          <p:nvPr/>
        </p:nvSpPr>
        <p:spPr>
          <a:xfrm>
            <a:off x="7956067" y="4599170"/>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7" name="Google Shape;398;p24">
            <a:extLst>
              <a:ext uri="{FF2B5EF4-FFF2-40B4-BE49-F238E27FC236}">
                <a16:creationId xmlns:a16="http://schemas.microsoft.com/office/drawing/2014/main" id="{9976DC48-D7AD-5A80-3EA1-FC4585D6D6C9}"/>
              </a:ext>
            </a:extLst>
          </p:cNvPr>
          <p:cNvSpPr txBox="1"/>
          <p:nvPr/>
        </p:nvSpPr>
        <p:spPr>
          <a:xfrm>
            <a:off x="7597167" y="3184289"/>
            <a:ext cx="1312365" cy="300052"/>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dirty="0">
                <a:solidFill>
                  <a:schemeClr val="dk1"/>
                </a:solidFill>
                <a:latin typeface="Calibri"/>
                <a:ea typeface="Calibri"/>
                <a:cs typeface="Calibri"/>
                <a:sym typeface="Calibri"/>
              </a:rPr>
              <a:t>Cleaned reads</a:t>
            </a:r>
            <a:endParaRPr sz="1500" b="1" i="0" u="none" strike="noStrike" cap="none" dirty="0">
              <a:solidFill>
                <a:schemeClr val="dk1"/>
              </a:solidFill>
              <a:latin typeface="Calibri"/>
              <a:ea typeface="Calibri"/>
              <a:cs typeface="Calibri"/>
              <a:sym typeface="Calibri"/>
            </a:endParaRPr>
          </a:p>
        </p:txBody>
      </p:sp>
      <p:sp>
        <p:nvSpPr>
          <p:cNvPr id="18" name="Google Shape;400;p24">
            <a:extLst>
              <a:ext uri="{FF2B5EF4-FFF2-40B4-BE49-F238E27FC236}">
                <a16:creationId xmlns:a16="http://schemas.microsoft.com/office/drawing/2014/main" id="{06EDD232-D75A-6DD8-4C13-E6123AD10108}"/>
              </a:ext>
            </a:extLst>
          </p:cNvPr>
          <p:cNvSpPr/>
          <p:nvPr/>
        </p:nvSpPr>
        <p:spPr>
          <a:xfrm>
            <a:off x="7695531" y="394362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9" name="Google Shape;403;p24">
            <a:extLst>
              <a:ext uri="{FF2B5EF4-FFF2-40B4-BE49-F238E27FC236}">
                <a16:creationId xmlns:a16="http://schemas.microsoft.com/office/drawing/2014/main" id="{DDD57C78-9042-9CE9-D836-6D267E3E0985}"/>
              </a:ext>
            </a:extLst>
          </p:cNvPr>
          <p:cNvSpPr/>
          <p:nvPr/>
        </p:nvSpPr>
        <p:spPr>
          <a:xfrm rot="5400000">
            <a:off x="8040448" y="2973848"/>
            <a:ext cx="259867" cy="159684"/>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pic>
        <p:nvPicPr>
          <p:cNvPr id="20" name="Google Shape;111;p16">
            <a:extLst>
              <a:ext uri="{FF2B5EF4-FFF2-40B4-BE49-F238E27FC236}">
                <a16:creationId xmlns:a16="http://schemas.microsoft.com/office/drawing/2014/main" id="{F8CA2FFE-DBE9-7414-3911-29BFE24C026E}"/>
              </a:ext>
            </a:extLst>
          </p:cNvPr>
          <p:cNvPicPr preferRelativeResize="0"/>
          <p:nvPr/>
        </p:nvPicPr>
        <p:blipFill rotWithShape="1">
          <a:blip r:embed="rId5">
            <a:alphaModFix/>
          </a:blip>
          <a:srcRect t="44399" r="41038" b="28367"/>
          <a:stretch/>
        </p:blipFill>
        <p:spPr>
          <a:xfrm>
            <a:off x="55129" y="1132205"/>
            <a:ext cx="1866899" cy="14072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4"/>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523"/>
                                        </p:tgtEl>
                                        <p:attrNameLst>
                                          <p:attrName>style.visibility</p:attrName>
                                        </p:attrNameLst>
                                      </p:cBhvr>
                                      <p:to>
                                        <p:strVal val="visible"/>
                                      </p:to>
                                    </p:set>
                                    <p:animEffect transition="in" filter="fade">
                                      <p:cBhvr>
                                        <p:cTn id="9" dur="500"/>
                                        <p:tgtEl>
                                          <p:spTgt spid="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pic>
        <p:nvPicPr>
          <p:cNvPr id="540" name="Google Shape;540;p30"/>
          <p:cNvPicPr preferRelativeResize="0"/>
          <p:nvPr/>
        </p:nvPicPr>
        <p:blipFill>
          <a:blip r:embed="rId3">
            <a:alphaModFix/>
          </a:blip>
          <a:stretch>
            <a:fillRect/>
          </a:stretch>
        </p:blipFill>
        <p:spPr>
          <a:xfrm>
            <a:off x="152400" y="1724501"/>
            <a:ext cx="2486282" cy="1658338"/>
          </a:xfrm>
          <a:prstGeom prst="rect">
            <a:avLst/>
          </a:prstGeom>
          <a:noFill/>
          <a:ln>
            <a:noFill/>
          </a:ln>
        </p:spPr>
      </p:pic>
      <p:sp>
        <p:nvSpPr>
          <p:cNvPr id="541" name="Google Shape;541;p30"/>
          <p:cNvSpPr txBox="1"/>
          <p:nvPr/>
        </p:nvSpPr>
        <p:spPr>
          <a:xfrm>
            <a:off x="513263" y="1370350"/>
            <a:ext cx="1827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002060"/>
                </a:solidFill>
              </a:rPr>
              <a:t>Library of books</a:t>
            </a:r>
            <a:endParaRPr sz="1800">
              <a:solidFill>
                <a:srgbClr val="002060"/>
              </a:solidFill>
            </a:endParaRPr>
          </a:p>
        </p:txBody>
      </p:sp>
      <p:sp>
        <p:nvSpPr>
          <p:cNvPr id="542" name="Google Shape;542;p30"/>
          <p:cNvSpPr txBox="1"/>
          <p:nvPr/>
        </p:nvSpPr>
        <p:spPr>
          <a:xfrm>
            <a:off x="3696513" y="1370350"/>
            <a:ext cx="1827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002060"/>
                </a:solidFill>
              </a:rPr>
              <a:t>Shred all books</a:t>
            </a:r>
            <a:endParaRPr sz="1800">
              <a:solidFill>
                <a:srgbClr val="002060"/>
              </a:solidFill>
            </a:endParaRPr>
          </a:p>
        </p:txBody>
      </p:sp>
      <p:pic>
        <p:nvPicPr>
          <p:cNvPr id="543" name="Google Shape;543;p30"/>
          <p:cNvPicPr preferRelativeResize="0"/>
          <p:nvPr/>
        </p:nvPicPr>
        <p:blipFill>
          <a:blip r:embed="rId4">
            <a:alphaModFix/>
          </a:blip>
          <a:stretch>
            <a:fillRect/>
          </a:stretch>
        </p:blipFill>
        <p:spPr>
          <a:xfrm>
            <a:off x="3265326" y="2179926"/>
            <a:ext cx="2689401" cy="1344675"/>
          </a:xfrm>
          <a:prstGeom prst="rect">
            <a:avLst/>
          </a:prstGeom>
          <a:noFill/>
          <a:ln>
            <a:noFill/>
          </a:ln>
        </p:spPr>
      </p:pic>
      <p:pic>
        <p:nvPicPr>
          <p:cNvPr id="544" name="Google Shape;544;p30"/>
          <p:cNvPicPr preferRelativeResize="0"/>
          <p:nvPr/>
        </p:nvPicPr>
        <p:blipFill rotWithShape="1">
          <a:blip r:embed="rId5">
            <a:alphaModFix/>
          </a:blip>
          <a:srcRect l="17525" t="4225" r="16219" b="6641"/>
          <a:stretch/>
        </p:blipFill>
        <p:spPr>
          <a:xfrm>
            <a:off x="6497625" y="1724500"/>
            <a:ext cx="2521575" cy="1658350"/>
          </a:xfrm>
          <a:prstGeom prst="rect">
            <a:avLst/>
          </a:prstGeom>
          <a:noFill/>
          <a:ln>
            <a:noFill/>
          </a:ln>
        </p:spPr>
      </p:pic>
      <p:sp>
        <p:nvSpPr>
          <p:cNvPr id="545" name="Google Shape;545;p30"/>
          <p:cNvSpPr txBox="1"/>
          <p:nvPr/>
        </p:nvSpPr>
        <p:spPr>
          <a:xfrm>
            <a:off x="6497625" y="1370350"/>
            <a:ext cx="2521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rgbClr val="002060"/>
                </a:solidFill>
              </a:rPr>
              <a:t>Reconstruct each book</a:t>
            </a:r>
            <a:endParaRPr sz="1800">
              <a:solidFill>
                <a:srgbClr val="002060"/>
              </a:solidFill>
            </a:endParaRPr>
          </a:p>
        </p:txBody>
      </p:sp>
      <p:sp>
        <p:nvSpPr>
          <p:cNvPr id="546" name="Google Shape;546;p30"/>
          <p:cNvSpPr txBox="1"/>
          <p:nvPr/>
        </p:nvSpPr>
        <p:spPr>
          <a:xfrm>
            <a:off x="2638687" y="2348700"/>
            <a:ext cx="1102200" cy="269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300" i="0" u="none" strike="noStrike" cap="none">
                <a:solidFill>
                  <a:schemeClr val="dk1"/>
                </a:solidFill>
              </a:rPr>
              <a:t>Sequencing</a:t>
            </a:r>
            <a:endParaRPr sz="1000" i="0" u="none" strike="noStrike" cap="none">
              <a:solidFill>
                <a:srgbClr val="000000"/>
              </a:solidFill>
            </a:endParaRPr>
          </a:p>
        </p:txBody>
      </p:sp>
      <p:sp>
        <p:nvSpPr>
          <p:cNvPr id="547" name="Google Shape;547;p30"/>
          <p:cNvSpPr/>
          <p:nvPr/>
        </p:nvSpPr>
        <p:spPr>
          <a:xfrm>
            <a:off x="2689726" y="2565446"/>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48" name="Google Shape;548;p30"/>
          <p:cNvSpPr/>
          <p:nvPr/>
        </p:nvSpPr>
        <p:spPr>
          <a:xfrm>
            <a:off x="5447337" y="2565459"/>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49" name="Google Shape;549;p30"/>
          <p:cNvSpPr txBox="1"/>
          <p:nvPr/>
        </p:nvSpPr>
        <p:spPr>
          <a:xfrm>
            <a:off x="5473418" y="2348692"/>
            <a:ext cx="948000" cy="269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300" i="0" u="none" strike="noStrike" cap="none">
                <a:solidFill>
                  <a:schemeClr val="dk1"/>
                </a:solidFill>
              </a:rPr>
              <a:t>Assembly</a:t>
            </a:r>
            <a:endParaRPr sz="1000" i="0" u="none" strike="noStrike" cap="none">
              <a:solidFill>
                <a:srgbClr val="000000"/>
              </a:solidFill>
            </a:endParaRPr>
          </a:p>
        </p:txBody>
      </p:sp>
      <p:sp>
        <p:nvSpPr>
          <p:cNvPr id="550" name="Google Shape;550;p30"/>
          <p:cNvSpPr txBox="1"/>
          <p:nvPr/>
        </p:nvSpPr>
        <p:spPr>
          <a:xfrm>
            <a:off x="0" y="296700"/>
            <a:ext cx="9144000" cy="631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900" b="1">
                <a:solidFill>
                  <a:srgbClr val="002060"/>
                </a:solidFill>
                <a:latin typeface="Verdana"/>
                <a:ea typeface="Verdana"/>
                <a:cs typeface="Verdana"/>
                <a:sym typeface="Verdana"/>
              </a:rPr>
              <a:t>The Assembly Problem:</a:t>
            </a:r>
            <a:endParaRPr b="1">
              <a:solidFill>
                <a:srgbClr val="002060"/>
              </a:solidFill>
              <a:latin typeface="Verdana"/>
              <a:ea typeface="Verdana"/>
              <a:cs typeface="Verdana"/>
              <a:sym typeface="Verdana"/>
            </a:endParaRPr>
          </a:p>
        </p:txBody>
      </p:sp>
      <p:sp>
        <p:nvSpPr>
          <p:cNvPr id="551" name="Google Shape;551;p30"/>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pic>
        <p:nvPicPr>
          <p:cNvPr id="556" name="Google Shape;556;p31"/>
          <p:cNvPicPr preferRelativeResize="0"/>
          <p:nvPr/>
        </p:nvPicPr>
        <p:blipFill>
          <a:blip r:embed="rId3">
            <a:alphaModFix/>
          </a:blip>
          <a:stretch>
            <a:fillRect/>
          </a:stretch>
        </p:blipFill>
        <p:spPr>
          <a:xfrm>
            <a:off x="1923163" y="268325"/>
            <a:ext cx="5297666" cy="3973250"/>
          </a:xfrm>
          <a:prstGeom prst="rect">
            <a:avLst/>
          </a:prstGeom>
          <a:noFill/>
          <a:ln>
            <a:noFill/>
          </a:ln>
        </p:spPr>
      </p:pic>
      <p:sp>
        <p:nvSpPr>
          <p:cNvPr id="557" name="Google Shape;557;p31"/>
          <p:cNvSpPr txBox="1"/>
          <p:nvPr/>
        </p:nvSpPr>
        <p:spPr>
          <a:xfrm>
            <a:off x="0" y="435277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rgbClr val="002060"/>
                </a:solidFill>
              </a:rPr>
              <a:t>Repetitive content makes the reconstruction more difficult</a:t>
            </a:r>
            <a:endParaRPr sz="2000" b="1">
              <a:solidFill>
                <a:srgbClr val="002060"/>
              </a:solidFill>
            </a:endParaRPr>
          </a:p>
        </p:txBody>
      </p:sp>
      <p:sp>
        <p:nvSpPr>
          <p:cNvPr id="558" name="Google Shape;558;p31"/>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32"/>
          <p:cNvSpPr txBox="1"/>
          <p:nvPr/>
        </p:nvSpPr>
        <p:spPr>
          <a:xfrm>
            <a:off x="0" y="4298125"/>
            <a:ext cx="91440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1800" b="1">
              <a:solidFill>
                <a:srgbClr val="002060"/>
              </a:solidFill>
            </a:endParaRPr>
          </a:p>
          <a:p>
            <a:pPr marL="0" lvl="0" indent="0" algn="ctr" rtl="0">
              <a:spcBef>
                <a:spcPts val="0"/>
              </a:spcBef>
              <a:spcAft>
                <a:spcPts val="0"/>
              </a:spcAft>
              <a:buNone/>
            </a:pPr>
            <a:endParaRPr sz="1800" b="1">
              <a:solidFill>
                <a:srgbClr val="002060"/>
              </a:solidFill>
            </a:endParaRPr>
          </a:p>
        </p:txBody>
      </p:sp>
      <p:pic>
        <p:nvPicPr>
          <p:cNvPr id="564" name="Google Shape;564;p32"/>
          <p:cNvPicPr preferRelativeResize="0"/>
          <p:nvPr/>
        </p:nvPicPr>
        <p:blipFill>
          <a:blip r:embed="rId3">
            <a:alphaModFix/>
          </a:blip>
          <a:stretch>
            <a:fillRect/>
          </a:stretch>
        </p:blipFill>
        <p:spPr>
          <a:xfrm>
            <a:off x="2036625" y="607350"/>
            <a:ext cx="5070750" cy="3429100"/>
          </a:xfrm>
          <a:prstGeom prst="rect">
            <a:avLst/>
          </a:prstGeom>
          <a:noFill/>
          <a:ln>
            <a:noFill/>
          </a:ln>
        </p:spPr>
      </p:pic>
      <p:sp>
        <p:nvSpPr>
          <p:cNvPr id="565" name="Google Shape;565;p32"/>
          <p:cNvSpPr txBox="1"/>
          <p:nvPr/>
        </p:nvSpPr>
        <p:spPr>
          <a:xfrm>
            <a:off x="0" y="42981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rgbClr val="002060"/>
                </a:solidFill>
              </a:rPr>
              <a:t>Misprints or damaged fragments make reconstruction more difficult</a:t>
            </a:r>
            <a:endParaRPr sz="2000" b="1">
              <a:solidFill>
                <a:srgbClr val="002060"/>
              </a:solidFill>
            </a:endParaRPr>
          </a:p>
        </p:txBody>
      </p:sp>
      <p:sp>
        <p:nvSpPr>
          <p:cNvPr id="566" name="Google Shape;566;p32"/>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571" name="Google Shape;571;p33"/>
          <p:cNvPicPr preferRelativeResize="0"/>
          <p:nvPr/>
        </p:nvPicPr>
        <p:blipFill>
          <a:blip r:embed="rId3">
            <a:alphaModFix/>
          </a:blip>
          <a:stretch>
            <a:fillRect/>
          </a:stretch>
        </p:blipFill>
        <p:spPr>
          <a:xfrm>
            <a:off x="1968775" y="0"/>
            <a:ext cx="801350" cy="801350"/>
          </a:xfrm>
          <a:prstGeom prst="rect">
            <a:avLst/>
          </a:prstGeom>
          <a:noFill/>
          <a:ln>
            <a:noFill/>
          </a:ln>
        </p:spPr>
      </p:pic>
      <p:sp>
        <p:nvSpPr>
          <p:cNvPr id="572" name="Google Shape;572;p33"/>
          <p:cNvSpPr txBox="1"/>
          <p:nvPr/>
        </p:nvSpPr>
        <p:spPr>
          <a:xfrm>
            <a:off x="0" y="4298125"/>
            <a:ext cx="91440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1800" b="1">
              <a:solidFill>
                <a:srgbClr val="002060"/>
              </a:solidFill>
            </a:endParaRPr>
          </a:p>
          <a:p>
            <a:pPr marL="0" lvl="0" indent="0" algn="ctr" rtl="0">
              <a:spcBef>
                <a:spcPts val="0"/>
              </a:spcBef>
              <a:spcAft>
                <a:spcPts val="0"/>
              </a:spcAft>
              <a:buNone/>
            </a:pPr>
            <a:endParaRPr sz="1800" b="1">
              <a:solidFill>
                <a:srgbClr val="002060"/>
              </a:solidFill>
            </a:endParaRPr>
          </a:p>
        </p:txBody>
      </p:sp>
      <p:pic>
        <p:nvPicPr>
          <p:cNvPr id="573" name="Google Shape;573;p33"/>
          <p:cNvPicPr preferRelativeResize="0"/>
          <p:nvPr/>
        </p:nvPicPr>
        <p:blipFill>
          <a:blip r:embed="rId4">
            <a:alphaModFix/>
          </a:blip>
          <a:stretch>
            <a:fillRect/>
          </a:stretch>
        </p:blipFill>
        <p:spPr>
          <a:xfrm>
            <a:off x="4685480" y="738900"/>
            <a:ext cx="2341146" cy="3390996"/>
          </a:xfrm>
          <a:prstGeom prst="rect">
            <a:avLst/>
          </a:prstGeom>
          <a:noFill/>
          <a:ln>
            <a:noFill/>
          </a:ln>
        </p:spPr>
      </p:pic>
      <p:pic>
        <p:nvPicPr>
          <p:cNvPr id="574" name="Google Shape;574;p33"/>
          <p:cNvPicPr preferRelativeResize="0"/>
          <p:nvPr/>
        </p:nvPicPr>
        <p:blipFill>
          <a:blip r:embed="rId5">
            <a:alphaModFix/>
          </a:blip>
          <a:stretch>
            <a:fillRect/>
          </a:stretch>
        </p:blipFill>
        <p:spPr>
          <a:xfrm>
            <a:off x="2031225" y="738900"/>
            <a:ext cx="2425575" cy="3391001"/>
          </a:xfrm>
          <a:prstGeom prst="rect">
            <a:avLst/>
          </a:prstGeom>
          <a:noFill/>
          <a:ln>
            <a:noFill/>
          </a:ln>
        </p:spPr>
      </p:pic>
      <p:sp>
        <p:nvSpPr>
          <p:cNvPr id="575" name="Google Shape;575;p33"/>
          <p:cNvSpPr txBox="1"/>
          <p:nvPr/>
        </p:nvSpPr>
        <p:spPr>
          <a:xfrm>
            <a:off x="0" y="42981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rgbClr val="002060"/>
                </a:solidFill>
              </a:rPr>
              <a:t>Rare books are difficult or impossible to reconstruct</a:t>
            </a:r>
            <a:endParaRPr sz="2000" b="1">
              <a:solidFill>
                <a:srgbClr val="002060"/>
              </a:solidFill>
            </a:endParaRPr>
          </a:p>
        </p:txBody>
      </p:sp>
      <p:sp>
        <p:nvSpPr>
          <p:cNvPr id="576" name="Google Shape;576;p33"/>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34"/>
          <p:cNvSpPr/>
          <p:nvPr/>
        </p:nvSpPr>
        <p:spPr>
          <a:xfrm>
            <a:off x="998325" y="1151675"/>
            <a:ext cx="7263000" cy="2847900"/>
          </a:xfrm>
          <a:prstGeom prst="rect">
            <a:avLst/>
          </a:prstGeom>
          <a:solidFill>
            <a:srgbClr val="0022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2" name="Google Shape;582;p34"/>
          <p:cNvSpPr/>
          <p:nvPr/>
        </p:nvSpPr>
        <p:spPr>
          <a:xfrm>
            <a:off x="3265050" y="1199125"/>
            <a:ext cx="2989800" cy="2486100"/>
          </a:xfrm>
          <a:prstGeom prst="bracePair">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u="sng"/>
          </a:p>
        </p:txBody>
      </p:sp>
      <p:sp>
        <p:nvSpPr>
          <p:cNvPr id="583" name="Google Shape;583;p34"/>
          <p:cNvSpPr txBox="1"/>
          <p:nvPr/>
        </p:nvSpPr>
        <p:spPr>
          <a:xfrm>
            <a:off x="1881675" y="3661050"/>
            <a:ext cx="1019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rgbClr val="FF9900"/>
                </a:solidFill>
                <a:latin typeface="Roboto Mono"/>
                <a:ea typeface="Roboto Mono"/>
                <a:cs typeface="Roboto Mono"/>
                <a:sym typeface="Roboto Mono"/>
              </a:rPr>
              <a:t>Genome:  </a:t>
            </a:r>
            <a:endParaRPr sz="1500">
              <a:solidFill>
                <a:srgbClr val="FF9900"/>
              </a:solidFill>
              <a:latin typeface="Roboto Mono"/>
              <a:ea typeface="Roboto Mono"/>
              <a:cs typeface="Roboto Mono"/>
              <a:sym typeface="Roboto Mono"/>
            </a:endParaRPr>
          </a:p>
        </p:txBody>
      </p:sp>
      <p:cxnSp>
        <p:nvCxnSpPr>
          <p:cNvPr id="584" name="Google Shape;584;p34"/>
          <p:cNvCxnSpPr/>
          <p:nvPr/>
        </p:nvCxnSpPr>
        <p:spPr>
          <a:xfrm rot="10800000">
            <a:off x="5819550" y="3868800"/>
            <a:ext cx="585000" cy="0"/>
          </a:xfrm>
          <a:prstGeom prst="straightConnector1">
            <a:avLst/>
          </a:prstGeom>
          <a:noFill/>
          <a:ln w="9525" cap="flat" cmpd="sng">
            <a:solidFill>
              <a:schemeClr val="lt1"/>
            </a:solidFill>
            <a:prstDash val="dot"/>
            <a:round/>
            <a:headEnd type="none" w="med" len="med"/>
            <a:tailEnd type="triangle" w="med" len="med"/>
          </a:ln>
        </p:spPr>
      </p:cxnSp>
      <p:sp>
        <p:nvSpPr>
          <p:cNvPr id="585" name="Google Shape;585;p34"/>
          <p:cNvSpPr txBox="1"/>
          <p:nvPr/>
        </p:nvSpPr>
        <p:spPr>
          <a:xfrm>
            <a:off x="6404550" y="3560150"/>
            <a:ext cx="1882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lt1"/>
                </a:solidFill>
                <a:latin typeface="Helvetica Neue"/>
                <a:ea typeface="Helvetica Neue"/>
                <a:cs typeface="Helvetica Neue"/>
                <a:sym typeface="Helvetica Neue"/>
              </a:rPr>
              <a:t>reconstruct this</a:t>
            </a:r>
            <a:endParaRPr sz="1800">
              <a:solidFill>
                <a:schemeClr val="lt1"/>
              </a:solidFill>
              <a:latin typeface="Helvetica Neue"/>
              <a:ea typeface="Helvetica Neue"/>
              <a:cs typeface="Helvetica Neue"/>
              <a:sym typeface="Helvetica Neue"/>
            </a:endParaRPr>
          </a:p>
        </p:txBody>
      </p:sp>
      <p:sp>
        <p:nvSpPr>
          <p:cNvPr id="586" name="Google Shape;586;p34"/>
          <p:cNvSpPr txBox="1"/>
          <p:nvPr/>
        </p:nvSpPr>
        <p:spPr>
          <a:xfrm>
            <a:off x="6404550" y="2049900"/>
            <a:ext cx="18828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lt1"/>
                </a:solidFill>
                <a:latin typeface="Helvetica Neue"/>
                <a:ea typeface="Helvetica Neue"/>
                <a:cs typeface="Helvetica Neue"/>
                <a:sym typeface="Helvetica Neue"/>
              </a:rPr>
              <a:t>From these</a:t>
            </a:r>
            <a:endParaRPr sz="1800" dirty="0">
              <a:solidFill>
                <a:schemeClr val="lt1"/>
              </a:solidFill>
              <a:latin typeface="Helvetica Neue"/>
              <a:ea typeface="Helvetica Neue"/>
              <a:cs typeface="Helvetica Neue"/>
              <a:sym typeface="Helvetica Neue"/>
            </a:endParaRPr>
          </a:p>
          <a:p>
            <a:pPr marL="0" lvl="0" indent="0" algn="l" rtl="0">
              <a:spcBef>
                <a:spcPts val="0"/>
              </a:spcBef>
              <a:spcAft>
                <a:spcPts val="0"/>
              </a:spcAft>
              <a:buNone/>
            </a:pPr>
            <a:r>
              <a:rPr lang="en" sz="1800" dirty="0">
                <a:solidFill>
                  <a:schemeClr val="lt1"/>
                </a:solidFill>
                <a:latin typeface="Helvetica Neue"/>
                <a:ea typeface="Helvetica Neue"/>
                <a:cs typeface="Helvetica Neue"/>
                <a:sym typeface="Helvetica Neue"/>
              </a:rPr>
              <a:t>short reads…</a:t>
            </a:r>
            <a:endParaRPr sz="1800" dirty="0">
              <a:solidFill>
                <a:schemeClr val="lt1"/>
              </a:solidFill>
              <a:latin typeface="Helvetica Neue"/>
              <a:ea typeface="Helvetica Neue"/>
              <a:cs typeface="Helvetica Neue"/>
              <a:sym typeface="Helvetica Neue"/>
            </a:endParaRPr>
          </a:p>
        </p:txBody>
      </p:sp>
      <p:cxnSp>
        <p:nvCxnSpPr>
          <p:cNvPr id="587" name="Google Shape;587;p34"/>
          <p:cNvCxnSpPr/>
          <p:nvPr/>
        </p:nvCxnSpPr>
        <p:spPr>
          <a:xfrm>
            <a:off x="6404550" y="2442175"/>
            <a:ext cx="0" cy="1422300"/>
          </a:xfrm>
          <a:prstGeom prst="straightConnector1">
            <a:avLst/>
          </a:prstGeom>
          <a:noFill/>
          <a:ln w="9525" cap="flat" cmpd="sng">
            <a:solidFill>
              <a:schemeClr val="lt1"/>
            </a:solidFill>
            <a:prstDash val="dot"/>
            <a:round/>
            <a:headEnd type="none" w="med" len="med"/>
            <a:tailEnd type="none" w="med" len="med"/>
          </a:ln>
        </p:spPr>
      </p:cxnSp>
      <p:cxnSp>
        <p:nvCxnSpPr>
          <p:cNvPr id="588" name="Google Shape;588;p34"/>
          <p:cNvCxnSpPr/>
          <p:nvPr/>
        </p:nvCxnSpPr>
        <p:spPr>
          <a:xfrm>
            <a:off x="6254850" y="2442175"/>
            <a:ext cx="149700" cy="0"/>
          </a:xfrm>
          <a:prstGeom prst="straightConnector1">
            <a:avLst/>
          </a:prstGeom>
          <a:noFill/>
          <a:ln w="9525" cap="flat" cmpd="sng">
            <a:solidFill>
              <a:schemeClr val="lt1"/>
            </a:solidFill>
            <a:prstDash val="solid"/>
            <a:round/>
            <a:headEnd type="none" w="med" len="med"/>
            <a:tailEnd type="none" w="med" len="med"/>
          </a:ln>
        </p:spPr>
      </p:cxnSp>
      <p:pic>
        <p:nvPicPr>
          <p:cNvPr id="589" name="Google Shape;589;p34"/>
          <p:cNvPicPr preferRelativeResize="0"/>
          <p:nvPr/>
        </p:nvPicPr>
        <p:blipFill rotWithShape="1">
          <a:blip r:embed="rId3">
            <a:alphaModFix/>
          </a:blip>
          <a:srcRect b="1078"/>
          <a:stretch/>
        </p:blipFill>
        <p:spPr>
          <a:xfrm>
            <a:off x="2807325" y="1182425"/>
            <a:ext cx="2951051" cy="2817150"/>
          </a:xfrm>
          <a:prstGeom prst="rect">
            <a:avLst/>
          </a:prstGeom>
          <a:noFill/>
          <a:ln>
            <a:noFill/>
          </a:ln>
        </p:spPr>
      </p:pic>
      <p:sp>
        <p:nvSpPr>
          <p:cNvPr id="590" name="Google Shape;590;p34"/>
          <p:cNvSpPr txBox="1"/>
          <p:nvPr/>
        </p:nvSpPr>
        <p:spPr>
          <a:xfrm>
            <a:off x="0" y="285150"/>
            <a:ext cx="91440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solidFill>
                  <a:srgbClr val="002060"/>
                </a:solidFill>
              </a:rPr>
              <a:t>Back to DNA sequences…</a:t>
            </a:r>
            <a:endParaRPr sz="2500" b="1">
              <a:solidFill>
                <a:srgbClr val="002060"/>
              </a:solidFill>
            </a:endParaRPr>
          </a:p>
        </p:txBody>
      </p:sp>
      <p:sp>
        <p:nvSpPr>
          <p:cNvPr id="591" name="Google Shape;59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65"/>
          <p:cNvSpPr/>
          <p:nvPr/>
        </p:nvSpPr>
        <p:spPr>
          <a:xfrm>
            <a:off x="-50" y="184700"/>
            <a:ext cx="9144000" cy="646500"/>
          </a:xfrm>
          <a:prstGeom prst="rect">
            <a:avLst/>
          </a:prstGeom>
          <a:solidFill>
            <a:srgbClr val="0022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15" name="Google Shape;1115;p65"/>
          <p:cNvPicPr preferRelativeResize="0"/>
          <p:nvPr/>
        </p:nvPicPr>
        <p:blipFill>
          <a:blip r:embed="rId3">
            <a:alphaModFix/>
          </a:blip>
          <a:stretch>
            <a:fillRect/>
          </a:stretch>
        </p:blipFill>
        <p:spPr>
          <a:xfrm>
            <a:off x="1393613" y="1242775"/>
            <a:ext cx="6356775" cy="2903900"/>
          </a:xfrm>
          <a:prstGeom prst="rect">
            <a:avLst/>
          </a:prstGeom>
          <a:noFill/>
          <a:ln>
            <a:noFill/>
          </a:ln>
        </p:spPr>
      </p:pic>
      <p:sp>
        <p:nvSpPr>
          <p:cNvPr id="1116" name="Google Shape;1116;p65"/>
          <p:cNvSpPr txBox="1"/>
          <p:nvPr/>
        </p:nvSpPr>
        <p:spPr>
          <a:xfrm>
            <a:off x="75" y="215450"/>
            <a:ext cx="91440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b="1" dirty="0">
                <a:solidFill>
                  <a:schemeClr val="lt1"/>
                </a:solidFill>
              </a:rPr>
              <a:t>Modern short-read assemblers use the de Bruijn graph</a:t>
            </a:r>
            <a:endParaRPr sz="2600" b="1" dirty="0">
              <a:solidFill>
                <a:schemeClr val="lt1"/>
              </a:solidFill>
            </a:endParaRPr>
          </a:p>
        </p:txBody>
      </p:sp>
      <p:sp>
        <p:nvSpPr>
          <p:cNvPr id="1117" name="Google Shape;1117;p65"/>
          <p:cNvSpPr txBox="1"/>
          <p:nvPr/>
        </p:nvSpPr>
        <p:spPr>
          <a:xfrm>
            <a:off x="1763900" y="4434575"/>
            <a:ext cx="6057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rgbClr val="002060"/>
                </a:solidFill>
              </a:rPr>
              <a:t>k-mers are nodes and k-1 overlaps are edges</a:t>
            </a:r>
            <a:endParaRPr sz="2000" b="1">
              <a:solidFill>
                <a:srgbClr val="002060"/>
              </a:solidFill>
            </a:endParaRPr>
          </a:p>
        </p:txBody>
      </p:sp>
      <p:sp>
        <p:nvSpPr>
          <p:cNvPr id="1118" name="Google Shape;1118;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pic>
        <p:nvPicPr>
          <p:cNvPr id="1149" name="Google Shape;1149;p69"/>
          <p:cNvPicPr preferRelativeResize="0"/>
          <p:nvPr/>
        </p:nvPicPr>
        <p:blipFill rotWithShape="1">
          <a:blip r:embed="rId3">
            <a:alphaModFix/>
          </a:blip>
          <a:srcRect l="58277"/>
          <a:stretch/>
        </p:blipFill>
        <p:spPr>
          <a:xfrm>
            <a:off x="1085137" y="1534822"/>
            <a:ext cx="2652151" cy="2903900"/>
          </a:xfrm>
          <a:prstGeom prst="rect">
            <a:avLst/>
          </a:prstGeom>
          <a:noFill/>
          <a:ln>
            <a:noFill/>
          </a:ln>
        </p:spPr>
      </p:pic>
      <p:sp>
        <p:nvSpPr>
          <p:cNvPr id="2" name="Title 1">
            <a:extLst>
              <a:ext uri="{FF2B5EF4-FFF2-40B4-BE49-F238E27FC236}">
                <a16:creationId xmlns:a16="http://schemas.microsoft.com/office/drawing/2014/main" id="{E217594E-63E8-0C15-A37B-876A7848D524}"/>
              </a:ext>
            </a:extLst>
          </p:cNvPr>
          <p:cNvSpPr>
            <a:spLocks noGrp="1"/>
          </p:cNvSpPr>
          <p:nvPr>
            <p:ph type="title"/>
          </p:nvPr>
        </p:nvSpPr>
        <p:spPr>
          <a:xfrm>
            <a:off x="490902" y="19788"/>
            <a:ext cx="8442796" cy="791650"/>
          </a:xfrm>
        </p:spPr>
        <p:txBody>
          <a:bodyPr/>
          <a:lstStyle/>
          <a:p>
            <a:r>
              <a:rPr lang="en-US" dirty="0"/>
              <a:t>Linear vs cyclic De Bruijn graphs</a:t>
            </a:r>
            <a:endParaRPr lang="en-NL" dirty="0"/>
          </a:p>
        </p:txBody>
      </p:sp>
      <p:pic>
        <p:nvPicPr>
          <p:cNvPr id="3" name="Google Shape;1141;p68">
            <a:extLst>
              <a:ext uri="{FF2B5EF4-FFF2-40B4-BE49-F238E27FC236}">
                <a16:creationId xmlns:a16="http://schemas.microsoft.com/office/drawing/2014/main" id="{181283B6-6CA4-7677-ECC4-B6C369165FBD}"/>
              </a:ext>
            </a:extLst>
          </p:cNvPr>
          <p:cNvPicPr preferRelativeResize="0"/>
          <p:nvPr/>
        </p:nvPicPr>
        <p:blipFill rotWithShape="1">
          <a:blip r:embed="rId4">
            <a:alphaModFix/>
          </a:blip>
          <a:srcRect l="1107" t="13876" r="50206" b="3394"/>
          <a:stretch>
            <a:fillRect/>
          </a:stretch>
        </p:blipFill>
        <p:spPr>
          <a:xfrm>
            <a:off x="4384713" y="1251314"/>
            <a:ext cx="3674150" cy="3598888"/>
          </a:xfrm>
          <a:prstGeom prst="rect">
            <a:avLst/>
          </a:prstGeom>
          <a:noFill/>
          <a:ln>
            <a:noFill/>
          </a:ln>
        </p:spPr>
      </p:pic>
      <p:sp>
        <p:nvSpPr>
          <p:cNvPr id="4" name="Google Shape;586;p34">
            <a:extLst>
              <a:ext uri="{FF2B5EF4-FFF2-40B4-BE49-F238E27FC236}">
                <a16:creationId xmlns:a16="http://schemas.microsoft.com/office/drawing/2014/main" id="{BB3102A9-70A4-EA29-D37E-4CF56D79AD33}"/>
              </a:ext>
            </a:extLst>
          </p:cNvPr>
          <p:cNvSpPr txBox="1"/>
          <p:nvPr/>
        </p:nvSpPr>
        <p:spPr>
          <a:xfrm>
            <a:off x="3534832" y="704778"/>
            <a:ext cx="7285568"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solidFill>
                  <a:schemeClr val="tx1"/>
                </a:solidFill>
                <a:latin typeface="Helvetica Neue"/>
                <a:ea typeface="Helvetica Neue"/>
                <a:cs typeface="Helvetica Neue"/>
                <a:sym typeface="Helvetica Neue"/>
              </a:rPr>
              <a:t>Repetitive sequences cause assembly problems</a:t>
            </a:r>
            <a:endParaRPr sz="1800" dirty="0">
              <a:solidFill>
                <a:schemeClr val="tx1"/>
              </a:solidFill>
              <a:latin typeface="Helvetica Neue"/>
              <a:ea typeface="Helvetica Neue"/>
              <a:cs typeface="Helvetica Neue"/>
              <a:sym typeface="Helvetica Neue"/>
            </a:endParaRPr>
          </a:p>
        </p:txBody>
      </p:sp>
      <p:sp>
        <p:nvSpPr>
          <p:cNvPr id="5" name="Google Shape;586;p34">
            <a:extLst>
              <a:ext uri="{FF2B5EF4-FFF2-40B4-BE49-F238E27FC236}">
                <a16:creationId xmlns:a16="http://schemas.microsoft.com/office/drawing/2014/main" id="{878F2EB4-62B0-B12A-1270-2DE3C978EEF7}"/>
              </a:ext>
            </a:extLst>
          </p:cNvPr>
          <p:cNvSpPr txBox="1"/>
          <p:nvPr/>
        </p:nvSpPr>
        <p:spPr>
          <a:xfrm>
            <a:off x="3737288" y="4442604"/>
            <a:ext cx="1303903"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solidFill>
                  <a:schemeClr val="tx1"/>
                </a:solidFill>
                <a:latin typeface="Helvetica Neue"/>
                <a:ea typeface="Helvetica Neue"/>
                <a:cs typeface="Helvetica Neue"/>
                <a:sym typeface="Helvetica Neue"/>
              </a:rPr>
              <a:t>Solutions?</a:t>
            </a:r>
            <a:endParaRPr sz="1800" dirty="0">
              <a:solidFill>
                <a:schemeClr val="tx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45"/>
          <p:cNvSpPr/>
          <p:nvPr/>
        </p:nvSpPr>
        <p:spPr>
          <a:xfrm>
            <a:off x="0" y="0"/>
            <a:ext cx="9144000" cy="5143500"/>
          </a:xfrm>
          <a:prstGeom prst="rect">
            <a:avLst/>
          </a:prstGeom>
          <a:solidFill>
            <a:srgbClr val="0022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40" name="Google Shape;740;p45"/>
          <p:cNvGrpSpPr/>
          <p:nvPr/>
        </p:nvGrpSpPr>
        <p:grpSpPr>
          <a:xfrm>
            <a:off x="2455481" y="768145"/>
            <a:ext cx="2773552" cy="4030768"/>
            <a:chOff x="2534325" y="261175"/>
            <a:chExt cx="3116350" cy="4468700"/>
          </a:xfrm>
        </p:grpSpPr>
        <p:pic>
          <p:nvPicPr>
            <p:cNvPr id="741" name="Google Shape;741;p45"/>
            <p:cNvPicPr preferRelativeResize="0"/>
            <p:nvPr/>
          </p:nvPicPr>
          <p:blipFill rotWithShape="1">
            <a:blip r:embed="rId3">
              <a:alphaModFix/>
            </a:blip>
            <a:srcRect l="776" t="1538" r="982" b="519"/>
            <a:stretch/>
          </p:blipFill>
          <p:spPr>
            <a:xfrm>
              <a:off x="2534325" y="261175"/>
              <a:ext cx="3116350" cy="3424825"/>
            </a:xfrm>
            <a:prstGeom prst="rect">
              <a:avLst/>
            </a:prstGeom>
            <a:noFill/>
            <a:ln>
              <a:noFill/>
            </a:ln>
          </p:spPr>
        </p:pic>
        <p:pic>
          <p:nvPicPr>
            <p:cNvPr id="742" name="Google Shape;742;p45"/>
            <p:cNvPicPr preferRelativeResize="0"/>
            <p:nvPr/>
          </p:nvPicPr>
          <p:blipFill rotWithShape="1">
            <a:blip r:embed="rId4">
              <a:alphaModFix/>
            </a:blip>
            <a:srcRect l="773" t="2621" r="1360" b="18905"/>
            <a:stretch/>
          </p:blipFill>
          <p:spPr>
            <a:xfrm>
              <a:off x="2534325" y="3686000"/>
              <a:ext cx="3116349" cy="1043875"/>
            </a:xfrm>
            <a:prstGeom prst="rect">
              <a:avLst/>
            </a:prstGeom>
            <a:noFill/>
            <a:ln>
              <a:noFill/>
            </a:ln>
          </p:spPr>
        </p:pic>
      </p:grpSp>
      <p:sp>
        <p:nvSpPr>
          <p:cNvPr id="743" name="Google Shape;743;p45"/>
          <p:cNvSpPr txBox="1"/>
          <p:nvPr/>
        </p:nvSpPr>
        <p:spPr>
          <a:xfrm>
            <a:off x="0" y="0"/>
            <a:ext cx="9144000" cy="615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2800" b="1">
                <a:solidFill>
                  <a:schemeClr val="lt1"/>
                </a:solidFill>
              </a:rPr>
              <a:t>More coverage leads to more and longer overlaps</a:t>
            </a:r>
            <a:endParaRPr sz="2800" b="1">
              <a:solidFill>
                <a:schemeClr val="lt1"/>
              </a:solidFill>
            </a:endParaRPr>
          </a:p>
        </p:txBody>
      </p:sp>
      <p:sp>
        <p:nvSpPr>
          <p:cNvPr id="744" name="Google Shape;744;p45"/>
          <p:cNvSpPr txBox="1"/>
          <p:nvPr/>
        </p:nvSpPr>
        <p:spPr>
          <a:xfrm>
            <a:off x="1435775" y="3544575"/>
            <a:ext cx="1019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rgbClr val="FF9900"/>
                </a:solidFill>
                <a:latin typeface="Roboto Mono"/>
                <a:ea typeface="Roboto Mono"/>
                <a:cs typeface="Roboto Mono"/>
                <a:sym typeface="Roboto Mono"/>
              </a:rPr>
              <a:t>Genome:  </a:t>
            </a:r>
            <a:endParaRPr sz="1500">
              <a:solidFill>
                <a:srgbClr val="FF9900"/>
              </a:solidFill>
              <a:latin typeface="Roboto Mono"/>
              <a:ea typeface="Roboto Mono"/>
              <a:cs typeface="Roboto Mono"/>
              <a:sym typeface="Roboto Mono"/>
            </a:endParaRPr>
          </a:p>
        </p:txBody>
      </p:sp>
      <p:cxnSp>
        <p:nvCxnSpPr>
          <p:cNvPr id="745" name="Google Shape;745;p45"/>
          <p:cNvCxnSpPr/>
          <p:nvPr/>
        </p:nvCxnSpPr>
        <p:spPr>
          <a:xfrm>
            <a:off x="5469175" y="783500"/>
            <a:ext cx="0" cy="2849700"/>
          </a:xfrm>
          <a:prstGeom prst="straightConnector1">
            <a:avLst/>
          </a:prstGeom>
          <a:noFill/>
          <a:ln w="9525" cap="flat" cmpd="sng">
            <a:solidFill>
              <a:schemeClr val="lt1"/>
            </a:solidFill>
            <a:prstDash val="solid"/>
            <a:round/>
            <a:headEnd type="none" w="med" len="med"/>
            <a:tailEnd type="none" w="med" len="med"/>
          </a:ln>
        </p:spPr>
      </p:cxnSp>
      <p:cxnSp>
        <p:nvCxnSpPr>
          <p:cNvPr id="746" name="Google Shape;746;p45"/>
          <p:cNvCxnSpPr/>
          <p:nvPr/>
        </p:nvCxnSpPr>
        <p:spPr>
          <a:xfrm flipH="1">
            <a:off x="5461375" y="3960075"/>
            <a:ext cx="7800" cy="871500"/>
          </a:xfrm>
          <a:prstGeom prst="straightConnector1">
            <a:avLst/>
          </a:prstGeom>
          <a:noFill/>
          <a:ln w="9525" cap="flat" cmpd="sng">
            <a:solidFill>
              <a:schemeClr val="lt1"/>
            </a:solidFill>
            <a:prstDash val="solid"/>
            <a:round/>
            <a:headEnd type="none" w="med" len="med"/>
            <a:tailEnd type="none" w="med" len="med"/>
          </a:ln>
        </p:spPr>
      </p:cxnSp>
      <p:sp>
        <p:nvSpPr>
          <p:cNvPr id="747" name="Google Shape;747;p45"/>
          <p:cNvSpPr txBox="1"/>
          <p:nvPr/>
        </p:nvSpPr>
        <p:spPr>
          <a:xfrm>
            <a:off x="5753425" y="1939100"/>
            <a:ext cx="24351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lt1"/>
                </a:solidFill>
              </a:rPr>
              <a:t>Average coverage: 207/35 ≈ </a:t>
            </a:r>
            <a:r>
              <a:rPr lang="en" sz="1800" b="1">
                <a:solidFill>
                  <a:schemeClr val="lt1"/>
                </a:solidFill>
              </a:rPr>
              <a:t>6-fold</a:t>
            </a:r>
            <a:r>
              <a:rPr lang="en" sz="1800">
                <a:solidFill>
                  <a:schemeClr val="lt1"/>
                </a:solidFill>
              </a:rPr>
              <a:t> </a:t>
            </a:r>
            <a:endParaRPr sz="1800">
              <a:solidFill>
                <a:schemeClr val="lt1"/>
              </a:solidFill>
            </a:endParaRPr>
          </a:p>
        </p:txBody>
      </p:sp>
      <p:sp>
        <p:nvSpPr>
          <p:cNvPr id="748" name="Google Shape;748;p45"/>
          <p:cNvSpPr txBox="1"/>
          <p:nvPr/>
        </p:nvSpPr>
        <p:spPr>
          <a:xfrm>
            <a:off x="5701525" y="4001500"/>
            <a:ext cx="23487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lt1"/>
                </a:solidFill>
              </a:rPr>
              <a:t>Average coverage: 70/35 = </a:t>
            </a:r>
            <a:r>
              <a:rPr lang="en" sz="1800" b="1">
                <a:solidFill>
                  <a:schemeClr val="lt1"/>
                </a:solidFill>
              </a:rPr>
              <a:t>2-fold</a:t>
            </a:r>
            <a:r>
              <a:rPr lang="en" sz="1800">
                <a:solidFill>
                  <a:schemeClr val="lt1"/>
                </a:solidFill>
              </a:rPr>
              <a:t> </a:t>
            </a:r>
            <a:endParaRPr sz="1800">
              <a:solidFill>
                <a:schemeClr val="lt1"/>
              </a:solidFill>
            </a:endParaRPr>
          </a:p>
        </p:txBody>
      </p:sp>
      <p:sp>
        <p:nvSpPr>
          <p:cNvPr id="749" name="Google Shape;749;p45"/>
          <p:cNvSpPr/>
          <p:nvPr/>
        </p:nvSpPr>
        <p:spPr>
          <a:xfrm>
            <a:off x="3556525" y="1720650"/>
            <a:ext cx="99900" cy="15669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0" name="Google Shape;750;p45"/>
          <p:cNvSpPr/>
          <p:nvPr/>
        </p:nvSpPr>
        <p:spPr>
          <a:xfrm>
            <a:off x="3556525" y="4011075"/>
            <a:ext cx="99900" cy="6156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1" name="Google Shape;751;p45"/>
          <p:cNvSpPr txBox="1"/>
          <p:nvPr/>
        </p:nvSpPr>
        <p:spPr>
          <a:xfrm>
            <a:off x="3709225" y="3121325"/>
            <a:ext cx="1599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C00000"/>
                </a:solidFill>
              </a:rPr>
              <a:t>Coverage=8</a:t>
            </a:r>
            <a:endParaRPr sz="1800">
              <a:solidFill>
                <a:srgbClr val="C00000"/>
              </a:solidFill>
            </a:endParaRPr>
          </a:p>
        </p:txBody>
      </p:sp>
      <p:sp>
        <p:nvSpPr>
          <p:cNvPr id="752" name="Google Shape;752;p45"/>
          <p:cNvSpPr txBox="1"/>
          <p:nvPr/>
        </p:nvSpPr>
        <p:spPr>
          <a:xfrm>
            <a:off x="3709225" y="4626675"/>
            <a:ext cx="1599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C00000"/>
                </a:solidFill>
              </a:rPr>
              <a:t>Coverage=3</a:t>
            </a:r>
            <a:endParaRPr sz="1800">
              <a:solidFill>
                <a:srgbClr val="C00000"/>
              </a:solidFill>
            </a:endParaRPr>
          </a:p>
        </p:txBody>
      </p:sp>
      <p:sp>
        <p:nvSpPr>
          <p:cNvPr id="753" name="Google Shape;753;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pic>
        <p:nvPicPr>
          <p:cNvPr id="1141" name="Google Shape;1141;p68"/>
          <p:cNvPicPr preferRelativeResize="0"/>
          <p:nvPr/>
        </p:nvPicPr>
        <p:blipFill rotWithShape="1">
          <a:blip r:embed="rId3">
            <a:alphaModFix/>
          </a:blip>
          <a:srcRect l="1107" t="3095" r="921" b="3394"/>
          <a:stretch/>
        </p:blipFill>
        <p:spPr>
          <a:xfrm>
            <a:off x="897850" y="480775"/>
            <a:ext cx="7393425" cy="4067850"/>
          </a:xfrm>
          <a:prstGeom prst="rect">
            <a:avLst/>
          </a:prstGeom>
          <a:noFill/>
          <a:ln>
            <a:noFill/>
          </a:ln>
        </p:spPr>
      </p:pic>
      <p:cxnSp>
        <p:nvCxnSpPr>
          <p:cNvPr id="1142" name="Google Shape;1142;p68"/>
          <p:cNvCxnSpPr/>
          <p:nvPr/>
        </p:nvCxnSpPr>
        <p:spPr>
          <a:xfrm>
            <a:off x="4594563" y="480775"/>
            <a:ext cx="0" cy="4227300"/>
          </a:xfrm>
          <a:prstGeom prst="straightConnector1">
            <a:avLst/>
          </a:prstGeom>
          <a:noFill/>
          <a:ln w="19050" cap="flat" cmpd="sng">
            <a:solidFill>
              <a:srgbClr val="002060"/>
            </a:solidFill>
            <a:prstDash val="solid"/>
            <a:round/>
            <a:headEnd type="none" w="med" len="med"/>
            <a:tailEnd type="none" w="med" len="med"/>
          </a:ln>
        </p:spPr>
      </p:cxnSp>
      <p:sp>
        <p:nvSpPr>
          <p:cNvPr id="1143" name="Google Shape;1143;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40">
          <a:extLst>
            <a:ext uri="{FF2B5EF4-FFF2-40B4-BE49-F238E27FC236}">
              <a16:creationId xmlns:a16="http://schemas.microsoft.com/office/drawing/2014/main" id="{B9423D58-7674-848A-65CA-570473148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B1F51B-61E9-394A-CBCE-CA3B5DA16DA6}"/>
              </a:ext>
            </a:extLst>
          </p:cNvPr>
          <p:cNvSpPr>
            <a:spLocks noGrp="1"/>
          </p:cNvSpPr>
          <p:nvPr>
            <p:ph type="title"/>
          </p:nvPr>
        </p:nvSpPr>
        <p:spPr>
          <a:xfrm>
            <a:off x="515392" y="87312"/>
            <a:ext cx="8442796" cy="1304548"/>
          </a:xfrm>
        </p:spPr>
        <p:txBody>
          <a:bodyPr/>
          <a:lstStyle/>
          <a:p>
            <a:r>
              <a:rPr lang="en-NL" sz="2600" dirty="0"/>
              <a:t>Yet in complex metagenomes, many contig breaks are also due to lack of coverage</a:t>
            </a:r>
          </a:p>
        </p:txBody>
      </p:sp>
      <p:sp>
        <p:nvSpPr>
          <p:cNvPr id="4" name="TextBox 3">
            <a:extLst>
              <a:ext uri="{FF2B5EF4-FFF2-40B4-BE49-F238E27FC236}">
                <a16:creationId xmlns:a16="http://schemas.microsoft.com/office/drawing/2014/main" id="{B56C1A99-19A4-F1FA-AB98-BF92C10B295A}"/>
              </a:ext>
            </a:extLst>
          </p:cNvPr>
          <p:cNvSpPr txBox="1"/>
          <p:nvPr/>
        </p:nvSpPr>
        <p:spPr>
          <a:xfrm>
            <a:off x="0" y="4928056"/>
            <a:ext cx="4595750" cy="215444"/>
          </a:xfrm>
          <a:prstGeom prst="rect">
            <a:avLst/>
          </a:prstGeom>
          <a:solidFill>
            <a:schemeClr val="accent3"/>
          </a:solidFill>
        </p:spPr>
        <p:txBody>
          <a:bodyPr wrap="square">
            <a:spAutoFit/>
          </a:bodyPr>
          <a:lstStyle/>
          <a:p>
            <a:r>
              <a:rPr lang="en-NL" sz="800" dirty="0"/>
              <a:t>https://tylerbarnum.com/2018/02/26/how-to-use-assembly-graphs-with-metagenomic-datasets/</a:t>
            </a:r>
          </a:p>
        </p:txBody>
      </p:sp>
      <p:pic>
        <p:nvPicPr>
          <p:cNvPr id="6146" name="Picture 2" descr="graph-color-all">
            <a:extLst>
              <a:ext uri="{FF2B5EF4-FFF2-40B4-BE49-F238E27FC236}">
                <a16:creationId xmlns:a16="http://schemas.microsoft.com/office/drawing/2014/main" id="{865F8FA8-AE48-A6DE-3E3A-E9BBE966B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241638"/>
            <a:ext cx="3411572" cy="3505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9646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68"/>
        <p:cNvGrpSpPr/>
        <p:nvPr/>
      </p:nvGrpSpPr>
      <p:grpSpPr>
        <a:xfrm>
          <a:off x="0" y="0"/>
          <a:ext cx="0" cy="0"/>
          <a:chOff x="0" y="0"/>
          <a:chExt cx="0" cy="0"/>
        </a:xfrm>
      </p:grpSpPr>
      <p:sp>
        <p:nvSpPr>
          <p:cNvPr id="1969" name="Google Shape;1969;p86"/>
          <p:cNvSpPr txBox="1">
            <a:spLocks noGrp="1"/>
          </p:cNvSpPr>
          <p:nvPr>
            <p:ph type="title"/>
          </p:nvPr>
        </p:nvSpPr>
        <p:spPr>
          <a:xfrm>
            <a:off x="506882" y="1864282"/>
            <a:ext cx="8442796" cy="79165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dirty="0"/>
              <a:t>Binning procedure</a:t>
            </a:r>
            <a:endParaRPr dirty="0"/>
          </a:p>
        </p:txBody>
      </p:sp>
      <p:sp>
        <p:nvSpPr>
          <p:cNvPr id="1975" name="Google Shape;1975;p86"/>
          <p:cNvSpPr txBox="1">
            <a:spLocks noGrp="1"/>
          </p:cNvSpPr>
          <p:nvPr>
            <p:ph type="sldNum" idx="4294967295"/>
          </p:nvPr>
        </p:nvSpPr>
        <p:spPr>
          <a:xfrm>
            <a:off x="7010400" y="4833539"/>
            <a:ext cx="2057400" cy="274637"/>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28</a:t>
            </a:fld>
            <a:endParaRPr dirty="0"/>
          </a:p>
        </p:txBody>
      </p:sp>
      <p:pic>
        <p:nvPicPr>
          <p:cNvPr id="1970" name="Google Shape;1970;p86"/>
          <p:cNvPicPr preferRelativeResize="0"/>
          <p:nvPr/>
        </p:nvPicPr>
        <p:blipFill rotWithShape="1">
          <a:blip r:embed="rId3">
            <a:alphaModFix/>
          </a:blip>
          <a:srcRect r="39371"/>
          <a:stretch/>
        </p:blipFill>
        <p:spPr>
          <a:xfrm>
            <a:off x="4093324" y="146437"/>
            <a:ext cx="4410595" cy="482442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68">
          <a:extLst>
            <a:ext uri="{FF2B5EF4-FFF2-40B4-BE49-F238E27FC236}">
              <a16:creationId xmlns:a16="http://schemas.microsoft.com/office/drawing/2014/main" id="{6A719A77-26D6-603A-ED63-341A3CB19A09}"/>
            </a:ext>
          </a:extLst>
        </p:cNvPr>
        <p:cNvGrpSpPr/>
        <p:nvPr/>
      </p:nvGrpSpPr>
      <p:grpSpPr>
        <a:xfrm>
          <a:off x="0" y="0"/>
          <a:ext cx="0" cy="0"/>
          <a:chOff x="0" y="0"/>
          <a:chExt cx="0" cy="0"/>
        </a:xfrm>
      </p:grpSpPr>
      <p:sp>
        <p:nvSpPr>
          <p:cNvPr id="1969" name="Google Shape;1969;p86">
            <a:extLst>
              <a:ext uri="{FF2B5EF4-FFF2-40B4-BE49-F238E27FC236}">
                <a16:creationId xmlns:a16="http://schemas.microsoft.com/office/drawing/2014/main" id="{D3AF7F38-CBA4-93EF-7B3B-8A2F1CD17C5D}"/>
              </a:ext>
            </a:extLst>
          </p:cNvPr>
          <p:cNvSpPr txBox="1">
            <a:spLocks noGrp="1"/>
          </p:cNvSpPr>
          <p:nvPr>
            <p:ph type="title"/>
          </p:nvPr>
        </p:nvSpPr>
        <p:spPr>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Automatic tools for binning </a:t>
            </a:r>
            <a:endParaRPr/>
          </a:p>
        </p:txBody>
      </p:sp>
      <p:sp>
        <p:nvSpPr>
          <p:cNvPr id="1975" name="Google Shape;1975;p86">
            <a:extLst>
              <a:ext uri="{FF2B5EF4-FFF2-40B4-BE49-F238E27FC236}">
                <a16:creationId xmlns:a16="http://schemas.microsoft.com/office/drawing/2014/main" id="{0041CAD2-6201-6422-87FA-618FA5C99A87}"/>
              </a:ext>
            </a:extLst>
          </p:cNvPr>
          <p:cNvSpPr txBox="1">
            <a:spLocks noGrp="1"/>
          </p:cNvSpPr>
          <p:nvPr>
            <p:ph type="sldNum" idx="4294967295"/>
          </p:nvPr>
        </p:nvSpPr>
        <p:spPr>
          <a:xfrm>
            <a:off x="7086600" y="4767263"/>
            <a:ext cx="2057400" cy="274637"/>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29</a:t>
            </a:fld>
            <a:endParaRPr/>
          </a:p>
        </p:txBody>
      </p:sp>
      <p:pic>
        <p:nvPicPr>
          <p:cNvPr id="1970" name="Google Shape;1970;p86">
            <a:extLst>
              <a:ext uri="{FF2B5EF4-FFF2-40B4-BE49-F238E27FC236}">
                <a16:creationId xmlns:a16="http://schemas.microsoft.com/office/drawing/2014/main" id="{E6FD99D2-24FA-3B71-D467-6C18D3928683}"/>
              </a:ext>
            </a:extLst>
          </p:cNvPr>
          <p:cNvPicPr preferRelativeResize="0"/>
          <p:nvPr/>
        </p:nvPicPr>
        <p:blipFill rotWithShape="1">
          <a:blip r:embed="rId3">
            <a:alphaModFix/>
          </a:blip>
          <a:srcRect r="39371"/>
          <a:stretch/>
        </p:blipFill>
        <p:spPr>
          <a:xfrm>
            <a:off x="5312525" y="1268050"/>
            <a:ext cx="3202824" cy="3319325"/>
          </a:xfrm>
          <a:prstGeom prst="rect">
            <a:avLst/>
          </a:prstGeom>
          <a:noFill/>
          <a:ln>
            <a:noFill/>
          </a:ln>
        </p:spPr>
      </p:pic>
      <p:sp>
        <p:nvSpPr>
          <p:cNvPr id="1971" name="Google Shape;1971;p86">
            <a:extLst>
              <a:ext uri="{FF2B5EF4-FFF2-40B4-BE49-F238E27FC236}">
                <a16:creationId xmlns:a16="http://schemas.microsoft.com/office/drawing/2014/main" id="{4CF56AB7-BC37-6FBD-BCEF-5F043568275F}"/>
              </a:ext>
            </a:extLst>
          </p:cNvPr>
          <p:cNvSpPr txBox="1"/>
          <p:nvPr/>
        </p:nvSpPr>
        <p:spPr>
          <a:xfrm>
            <a:off x="688225" y="1238850"/>
            <a:ext cx="48084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bg2"/>
                </a:solidFill>
              </a:rPr>
              <a:t>Tools:</a:t>
            </a:r>
            <a:endParaRPr sz="1800" b="1" dirty="0">
              <a:solidFill>
                <a:schemeClr val="bg2"/>
              </a:solidFill>
            </a:endParaRPr>
          </a:p>
          <a:p>
            <a:pPr marL="0" lvl="0" indent="0" algn="l" rtl="0">
              <a:spcBef>
                <a:spcPts val="0"/>
              </a:spcBef>
              <a:spcAft>
                <a:spcPts val="0"/>
              </a:spcAft>
              <a:buNone/>
            </a:pPr>
            <a:r>
              <a:rPr lang="en" sz="1800" dirty="0">
                <a:solidFill>
                  <a:schemeClr val="bg2"/>
                </a:solidFill>
              </a:rPr>
              <a:t>MetaBAT2</a:t>
            </a:r>
            <a:endParaRPr sz="1800" dirty="0">
              <a:solidFill>
                <a:schemeClr val="bg2"/>
              </a:solidFill>
            </a:endParaRPr>
          </a:p>
          <a:p>
            <a:pPr marL="0" lvl="0" indent="0" algn="l" rtl="0">
              <a:spcBef>
                <a:spcPts val="0"/>
              </a:spcBef>
              <a:spcAft>
                <a:spcPts val="0"/>
              </a:spcAft>
              <a:buClr>
                <a:schemeClr val="dk1"/>
              </a:buClr>
              <a:buSzPts val="1100"/>
              <a:buFont typeface="Arial"/>
              <a:buNone/>
            </a:pPr>
            <a:r>
              <a:rPr lang="en" sz="1800" dirty="0">
                <a:solidFill>
                  <a:schemeClr val="bg2"/>
                </a:solidFill>
              </a:rPr>
              <a:t>Maxbin2</a:t>
            </a:r>
            <a:endParaRPr sz="1800" dirty="0">
              <a:solidFill>
                <a:schemeClr val="bg2"/>
              </a:solidFill>
            </a:endParaRPr>
          </a:p>
          <a:p>
            <a:pPr marL="0" lvl="0" indent="0" algn="l" rtl="0">
              <a:spcBef>
                <a:spcPts val="0"/>
              </a:spcBef>
              <a:spcAft>
                <a:spcPts val="0"/>
              </a:spcAft>
              <a:buNone/>
            </a:pPr>
            <a:r>
              <a:rPr lang="en" sz="1800" dirty="0">
                <a:solidFill>
                  <a:schemeClr val="bg2"/>
                </a:solidFill>
              </a:rPr>
              <a:t>CONCOCT</a:t>
            </a:r>
            <a:endParaRPr sz="1800" dirty="0">
              <a:solidFill>
                <a:schemeClr val="bg2"/>
              </a:solidFill>
            </a:endParaRPr>
          </a:p>
          <a:p>
            <a:pPr marL="0" lvl="0" indent="0" algn="l" rtl="0">
              <a:spcBef>
                <a:spcPts val="0"/>
              </a:spcBef>
              <a:spcAft>
                <a:spcPts val="0"/>
              </a:spcAft>
              <a:buClr>
                <a:schemeClr val="dk1"/>
              </a:buClr>
              <a:buSzPts val="1100"/>
              <a:buFont typeface="Arial"/>
              <a:buNone/>
            </a:pPr>
            <a:endParaRPr sz="1800" dirty="0">
              <a:solidFill>
                <a:schemeClr val="bg2"/>
              </a:solidFill>
            </a:endParaRPr>
          </a:p>
          <a:p>
            <a:pPr marL="0" lvl="0" indent="0" algn="l" rtl="0">
              <a:spcBef>
                <a:spcPts val="0"/>
              </a:spcBef>
              <a:spcAft>
                <a:spcPts val="0"/>
              </a:spcAft>
              <a:buNone/>
            </a:pPr>
            <a:r>
              <a:rPr lang="en" sz="1800" b="1" dirty="0">
                <a:solidFill>
                  <a:schemeClr val="bg2"/>
                </a:solidFill>
              </a:rPr>
              <a:t>Aggregate multiple binning results:</a:t>
            </a:r>
            <a:endParaRPr sz="1800" b="1" dirty="0">
              <a:solidFill>
                <a:schemeClr val="bg2"/>
              </a:solidFill>
            </a:endParaRPr>
          </a:p>
          <a:p>
            <a:pPr marL="0" lvl="0" indent="0" algn="l" rtl="0">
              <a:spcBef>
                <a:spcPts val="0"/>
              </a:spcBef>
              <a:spcAft>
                <a:spcPts val="0"/>
              </a:spcAft>
              <a:buNone/>
            </a:pPr>
            <a:r>
              <a:rPr lang="en" sz="1800" dirty="0" err="1">
                <a:solidFill>
                  <a:schemeClr val="bg2"/>
                </a:solidFill>
              </a:rPr>
              <a:t>e.i.</a:t>
            </a:r>
            <a:r>
              <a:rPr lang="en" sz="1800" dirty="0">
                <a:solidFill>
                  <a:schemeClr val="bg2"/>
                </a:solidFill>
              </a:rPr>
              <a:t> </a:t>
            </a:r>
            <a:r>
              <a:rPr lang="en" sz="1800" dirty="0" err="1">
                <a:solidFill>
                  <a:schemeClr val="bg2"/>
                </a:solidFill>
              </a:rPr>
              <a:t>DASTool</a:t>
            </a:r>
            <a:endParaRPr sz="1800" dirty="0">
              <a:solidFill>
                <a:schemeClr val="bg2"/>
              </a:solidFill>
            </a:endParaRPr>
          </a:p>
        </p:txBody>
      </p:sp>
      <p:sp>
        <p:nvSpPr>
          <p:cNvPr id="1972" name="Google Shape;1972;p86">
            <a:extLst>
              <a:ext uri="{FF2B5EF4-FFF2-40B4-BE49-F238E27FC236}">
                <a16:creationId xmlns:a16="http://schemas.microsoft.com/office/drawing/2014/main" id="{17419A14-C034-1371-A36C-B84203896ED0}"/>
              </a:ext>
            </a:extLst>
          </p:cNvPr>
          <p:cNvSpPr txBox="1"/>
          <p:nvPr/>
        </p:nvSpPr>
        <p:spPr>
          <a:xfrm>
            <a:off x="1132675" y="2433350"/>
            <a:ext cx="120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
        <p:nvSpPr>
          <p:cNvPr id="1973" name="Google Shape;1973;p86">
            <a:extLst>
              <a:ext uri="{FF2B5EF4-FFF2-40B4-BE49-F238E27FC236}">
                <a16:creationId xmlns:a16="http://schemas.microsoft.com/office/drawing/2014/main" id="{BB5D0B6D-3B22-FC57-720D-5DACC53D43B0}"/>
              </a:ext>
            </a:extLst>
          </p:cNvPr>
          <p:cNvSpPr txBox="1"/>
          <p:nvPr/>
        </p:nvSpPr>
        <p:spPr>
          <a:xfrm>
            <a:off x="688225" y="3447725"/>
            <a:ext cx="36321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bg2"/>
                </a:solidFill>
              </a:rPr>
              <a:t>New kids in the playground:</a:t>
            </a:r>
            <a:endParaRPr sz="1800" b="1" dirty="0">
              <a:solidFill>
                <a:schemeClr val="bg2"/>
              </a:solidFill>
            </a:endParaRPr>
          </a:p>
          <a:p>
            <a:pPr marL="0" lvl="0" indent="0" algn="l" rtl="0">
              <a:spcBef>
                <a:spcPts val="0"/>
              </a:spcBef>
              <a:spcAft>
                <a:spcPts val="0"/>
              </a:spcAft>
              <a:buNone/>
            </a:pPr>
            <a:r>
              <a:rPr lang="en-US" sz="1800" dirty="0">
                <a:solidFill>
                  <a:schemeClr val="bg2"/>
                </a:solidFill>
              </a:rPr>
              <a:t>VAMB</a:t>
            </a:r>
            <a:endParaRPr sz="1800" dirty="0">
              <a:solidFill>
                <a:schemeClr val="bg2"/>
              </a:solidFill>
            </a:endParaRPr>
          </a:p>
          <a:p>
            <a:pPr marL="0" lvl="0" indent="0" algn="l" rtl="0">
              <a:spcBef>
                <a:spcPts val="0"/>
              </a:spcBef>
              <a:spcAft>
                <a:spcPts val="0"/>
              </a:spcAft>
              <a:buNone/>
            </a:pPr>
            <a:r>
              <a:rPr lang="en" sz="1800" dirty="0" err="1">
                <a:solidFill>
                  <a:schemeClr val="bg2"/>
                </a:solidFill>
              </a:rPr>
              <a:t>SemiBin</a:t>
            </a:r>
            <a:endParaRPr sz="1800" dirty="0">
              <a:solidFill>
                <a:schemeClr val="bg2"/>
              </a:solidFill>
            </a:endParaRPr>
          </a:p>
          <a:p>
            <a:pPr marL="0" lvl="0" indent="0" algn="l" rtl="0">
              <a:spcBef>
                <a:spcPts val="0"/>
              </a:spcBef>
              <a:spcAft>
                <a:spcPts val="0"/>
              </a:spcAft>
              <a:buNone/>
            </a:pPr>
            <a:r>
              <a:rPr lang="en" sz="1800" dirty="0" err="1">
                <a:solidFill>
                  <a:schemeClr val="bg2"/>
                </a:solidFill>
              </a:rPr>
              <a:t>MetaDecoder</a:t>
            </a:r>
            <a:endParaRPr sz="1800" dirty="0">
              <a:solidFill>
                <a:schemeClr val="bg2"/>
              </a:solidFill>
            </a:endParaRPr>
          </a:p>
        </p:txBody>
      </p:sp>
      <p:sp>
        <p:nvSpPr>
          <p:cNvPr id="1974" name="Google Shape;1974;p86">
            <a:extLst>
              <a:ext uri="{FF2B5EF4-FFF2-40B4-BE49-F238E27FC236}">
                <a16:creationId xmlns:a16="http://schemas.microsoft.com/office/drawing/2014/main" id="{6A76818C-0F98-4DA4-BB46-9C7F4B944BE0}"/>
              </a:ext>
            </a:extLst>
          </p:cNvPr>
          <p:cNvSpPr txBox="1"/>
          <p:nvPr/>
        </p:nvSpPr>
        <p:spPr>
          <a:xfrm>
            <a:off x="5818100" y="4602550"/>
            <a:ext cx="3418200" cy="682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1100" b="1" dirty="0">
                <a:solidFill>
                  <a:schemeClr val="dk1"/>
                </a:solidFill>
              </a:rPr>
              <a:t>Overview of the MetaBAT pipeline.</a:t>
            </a:r>
            <a:endParaRPr sz="1100" b="1" dirty="0">
              <a:solidFill>
                <a:schemeClr val="dk1"/>
              </a:solidFill>
            </a:endParaRPr>
          </a:p>
          <a:p>
            <a:pPr marL="0" lvl="0" indent="0" algn="l" rtl="0">
              <a:spcBef>
                <a:spcPts val="200"/>
              </a:spcBef>
              <a:spcAft>
                <a:spcPts val="0"/>
              </a:spcAft>
              <a:buNone/>
            </a:pPr>
            <a:endParaRPr sz="1800" dirty="0">
              <a:solidFill>
                <a:schemeClr val="dk2"/>
              </a:solidFill>
            </a:endParaRPr>
          </a:p>
        </p:txBody>
      </p:sp>
    </p:spTree>
    <p:extLst>
      <p:ext uri="{BB962C8B-B14F-4D97-AF65-F5344CB8AC3E}">
        <p14:creationId xmlns:p14="http://schemas.microsoft.com/office/powerpoint/2010/main" val="3452734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79"/>
        <p:cNvGrpSpPr/>
        <p:nvPr/>
      </p:nvGrpSpPr>
      <p:grpSpPr>
        <a:xfrm>
          <a:off x="0" y="0"/>
          <a:ext cx="0" cy="0"/>
          <a:chOff x="0" y="0"/>
          <a:chExt cx="0" cy="0"/>
        </a:xfrm>
      </p:grpSpPr>
      <p:grpSp>
        <p:nvGrpSpPr>
          <p:cNvPr id="1980" name="Google Shape;1980;p87"/>
          <p:cNvGrpSpPr/>
          <p:nvPr/>
        </p:nvGrpSpPr>
        <p:grpSpPr>
          <a:xfrm>
            <a:off x="229350" y="705650"/>
            <a:ext cx="2891499" cy="2891499"/>
            <a:chOff x="229350" y="1391450"/>
            <a:chExt cx="2891499" cy="2891499"/>
          </a:xfrm>
        </p:grpSpPr>
        <p:pic>
          <p:nvPicPr>
            <p:cNvPr id="1981" name="Google Shape;1981;p87"/>
            <p:cNvPicPr preferRelativeResize="0"/>
            <p:nvPr/>
          </p:nvPicPr>
          <p:blipFill>
            <a:blip r:embed="rId3">
              <a:alphaModFix/>
            </a:blip>
            <a:stretch>
              <a:fillRect/>
            </a:stretch>
          </p:blipFill>
          <p:spPr>
            <a:xfrm>
              <a:off x="229350" y="1391450"/>
              <a:ext cx="2891499" cy="2891499"/>
            </a:xfrm>
            <a:prstGeom prst="rect">
              <a:avLst/>
            </a:prstGeom>
            <a:noFill/>
            <a:ln>
              <a:noFill/>
            </a:ln>
          </p:spPr>
        </p:pic>
        <p:sp>
          <p:nvSpPr>
            <p:cNvPr id="1982" name="Google Shape;1982;p87"/>
            <p:cNvSpPr/>
            <p:nvPr/>
          </p:nvSpPr>
          <p:spPr>
            <a:xfrm>
              <a:off x="1403525" y="2713825"/>
              <a:ext cx="505800" cy="274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983" name="Google Shape;1983;p87"/>
          <p:cNvSpPr txBox="1">
            <a:spLocks noGrp="1"/>
          </p:cNvSpPr>
          <p:nvPr>
            <p:ph type="title"/>
          </p:nvPr>
        </p:nvSpPr>
        <p:spPr>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(Semi)Automatic pipelines</a:t>
            </a:r>
            <a:endParaRPr/>
          </a:p>
        </p:txBody>
      </p:sp>
      <p:sp>
        <p:nvSpPr>
          <p:cNvPr id="1992" name="Google Shape;1992;p87"/>
          <p:cNvSpPr txBox="1">
            <a:spLocks noGrp="1"/>
          </p:cNvSpPr>
          <p:nvPr>
            <p:ph type="sldNum" idx="4294967295"/>
          </p:nvPr>
        </p:nvSpPr>
        <p:spPr>
          <a:xfrm>
            <a:off x="7086600" y="4767263"/>
            <a:ext cx="2057400" cy="274637"/>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30</a:t>
            </a:fld>
            <a:endParaRPr/>
          </a:p>
        </p:txBody>
      </p:sp>
      <p:pic>
        <p:nvPicPr>
          <p:cNvPr id="1984" name="Google Shape;1984;p87"/>
          <p:cNvPicPr preferRelativeResize="0"/>
          <p:nvPr/>
        </p:nvPicPr>
        <p:blipFill>
          <a:blip r:embed="rId4">
            <a:alphaModFix/>
          </a:blip>
          <a:stretch>
            <a:fillRect/>
          </a:stretch>
        </p:blipFill>
        <p:spPr>
          <a:xfrm>
            <a:off x="3516900" y="3241677"/>
            <a:ext cx="1606076" cy="665125"/>
          </a:xfrm>
          <a:prstGeom prst="rect">
            <a:avLst/>
          </a:prstGeom>
          <a:noFill/>
          <a:ln>
            <a:noFill/>
          </a:ln>
        </p:spPr>
      </p:pic>
      <p:pic>
        <p:nvPicPr>
          <p:cNvPr id="1985" name="Google Shape;1985;p87"/>
          <p:cNvPicPr preferRelativeResize="0"/>
          <p:nvPr/>
        </p:nvPicPr>
        <p:blipFill>
          <a:blip r:embed="rId5">
            <a:alphaModFix/>
          </a:blip>
          <a:stretch>
            <a:fillRect/>
          </a:stretch>
        </p:blipFill>
        <p:spPr>
          <a:xfrm>
            <a:off x="4305000" y="1689876"/>
            <a:ext cx="1306850" cy="734800"/>
          </a:xfrm>
          <a:prstGeom prst="rect">
            <a:avLst/>
          </a:prstGeom>
          <a:noFill/>
          <a:ln>
            <a:noFill/>
          </a:ln>
        </p:spPr>
      </p:pic>
      <p:sp>
        <p:nvSpPr>
          <p:cNvPr id="1986" name="Google Shape;1986;p87"/>
          <p:cNvSpPr txBox="1"/>
          <p:nvPr/>
        </p:nvSpPr>
        <p:spPr>
          <a:xfrm>
            <a:off x="4249775" y="1250400"/>
            <a:ext cx="1606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dk1"/>
                </a:solidFill>
              </a:rPr>
              <a:t>MetaErg</a:t>
            </a:r>
            <a:endParaRPr sz="2400" b="1">
              <a:solidFill>
                <a:schemeClr val="dk1"/>
              </a:solidFill>
            </a:endParaRPr>
          </a:p>
        </p:txBody>
      </p:sp>
      <p:sp>
        <p:nvSpPr>
          <p:cNvPr id="1987" name="Google Shape;1987;p87"/>
          <p:cNvSpPr txBox="1"/>
          <p:nvPr/>
        </p:nvSpPr>
        <p:spPr>
          <a:xfrm>
            <a:off x="3440650" y="2851550"/>
            <a:ext cx="1925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dk1"/>
                </a:solidFill>
              </a:rPr>
              <a:t>MetaWRAP</a:t>
            </a:r>
            <a:endParaRPr sz="2400" b="1">
              <a:solidFill>
                <a:schemeClr val="dk1"/>
              </a:solidFill>
            </a:endParaRPr>
          </a:p>
        </p:txBody>
      </p:sp>
      <p:pic>
        <p:nvPicPr>
          <p:cNvPr id="1988" name="Google Shape;1988;p87"/>
          <p:cNvPicPr preferRelativeResize="0"/>
          <p:nvPr/>
        </p:nvPicPr>
        <p:blipFill>
          <a:blip r:embed="rId6">
            <a:alphaModFix/>
          </a:blip>
          <a:stretch>
            <a:fillRect/>
          </a:stretch>
        </p:blipFill>
        <p:spPr>
          <a:xfrm>
            <a:off x="6522075" y="2114552"/>
            <a:ext cx="2006798" cy="1128824"/>
          </a:xfrm>
          <a:prstGeom prst="rect">
            <a:avLst/>
          </a:prstGeom>
          <a:noFill/>
          <a:ln>
            <a:noFill/>
          </a:ln>
        </p:spPr>
      </p:pic>
      <p:sp>
        <p:nvSpPr>
          <p:cNvPr id="1989" name="Google Shape;1989;p87"/>
          <p:cNvSpPr txBox="1"/>
          <p:nvPr/>
        </p:nvSpPr>
        <p:spPr>
          <a:xfrm>
            <a:off x="6412824" y="1278705"/>
            <a:ext cx="2406900" cy="96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Clr>
                <a:schemeClr val="dk1"/>
              </a:buClr>
              <a:buSzPts val="1100"/>
              <a:buFont typeface="Arial"/>
              <a:buNone/>
            </a:pPr>
            <a:r>
              <a:rPr lang="en" sz="2400" b="1">
                <a:solidFill>
                  <a:schemeClr val="dk1"/>
                </a:solidFill>
                <a:latin typeface="Roboto Mono"/>
                <a:ea typeface="Roboto Mono"/>
                <a:cs typeface="Roboto Mono"/>
                <a:sym typeface="Roboto Mono"/>
              </a:rPr>
              <a:t>metaGEM</a:t>
            </a:r>
            <a:endParaRPr sz="2400" b="1">
              <a:solidFill>
                <a:schemeClr val="dk1"/>
              </a:solidFill>
              <a:latin typeface="Roboto Mono"/>
              <a:ea typeface="Roboto Mono"/>
              <a:cs typeface="Roboto Mono"/>
              <a:sym typeface="Roboto Mono"/>
            </a:endParaRPr>
          </a:p>
          <a:p>
            <a:pPr marL="0" lvl="0" indent="0" algn="l" rtl="0">
              <a:spcBef>
                <a:spcPts val="600"/>
              </a:spcBef>
              <a:spcAft>
                <a:spcPts val="0"/>
              </a:spcAft>
              <a:buNone/>
            </a:pPr>
            <a:endParaRPr sz="1800">
              <a:solidFill>
                <a:schemeClr val="dk2"/>
              </a:solidFill>
            </a:endParaRPr>
          </a:p>
        </p:txBody>
      </p:sp>
      <p:sp>
        <p:nvSpPr>
          <p:cNvPr id="1990" name="Google Shape;1990;p87"/>
          <p:cNvSpPr txBox="1"/>
          <p:nvPr/>
        </p:nvSpPr>
        <p:spPr>
          <a:xfrm>
            <a:off x="510300" y="1196575"/>
            <a:ext cx="1170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dk1"/>
                </a:solidFill>
              </a:rPr>
              <a:t>Atlas</a:t>
            </a:r>
            <a:endParaRPr sz="2400" b="1">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97"/>
        <p:cNvGrpSpPr/>
        <p:nvPr/>
      </p:nvGrpSpPr>
      <p:grpSpPr>
        <a:xfrm>
          <a:off x="0" y="0"/>
          <a:ext cx="0" cy="0"/>
          <a:chOff x="0" y="0"/>
          <a:chExt cx="0" cy="0"/>
        </a:xfrm>
      </p:grpSpPr>
      <p:cxnSp>
        <p:nvCxnSpPr>
          <p:cNvPr id="1998" name="Google Shape;1998;p88"/>
          <p:cNvCxnSpPr/>
          <p:nvPr/>
        </p:nvCxnSpPr>
        <p:spPr>
          <a:xfrm>
            <a:off x="358140" y="727710"/>
            <a:ext cx="8427900" cy="23100"/>
          </a:xfrm>
          <a:prstGeom prst="straightConnector1">
            <a:avLst/>
          </a:prstGeom>
          <a:noFill/>
          <a:ln w="57150" cap="flat" cmpd="sng">
            <a:solidFill>
              <a:schemeClr val="dk1"/>
            </a:solidFill>
            <a:prstDash val="solid"/>
            <a:miter lim="800000"/>
            <a:headEnd type="triangle" w="med" len="med"/>
            <a:tailEnd type="triangle" w="med" len="med"/>
          </a:ln>
        </p:spPr>
      </p:cxnSp>
      <p:sp>
        <p:nvSpPr>
          <p:cNvPr id="1999" name="Google Shape;1999;p88"/>
          <p:cNvSpPr txBox="1"/>
          <p:nvPr/>
        </p:nvSpPr>
        <p:spPr>
          <a:xfrm>
            <a:off x="335756" y="972026"/>
            <a:ext cx="1203900" cy="715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Manually </a:t>
            </a:r>
            <a:endParaRPr sz="2100" b="0" i="0" u="none" strike="noStrike" cap="none">
              <a:solidFill>
                <a:schemeClr val="dk1"/>
              </a:solidFill>
              <a:latin typeface="Calibri"/>
              <a:ea typeface="Calibri"/>
              <a:cs typeface="Calibri"/>
              <a:sym typeface="Calibri"/>
            </a:endParaRPr>
          </a:p>
        </p:txBody>
      </p:sp>
      <p:sp>
        <p:nvSpPr>
          <p:cNvPr id="2000" name="Google Shape;2000;p88"/>
          <p:cNvSpPr txBox="1"/>
          <p:nvPr/>
        </p:nvSpPr>
        <p:spPr>
          <a:xfrm>
            <a:off x="3543775" y="53816"/>
            <a:ext cx="20574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Arial"/>
                <a:ea typeface="Arial"/>
                <a:cs typeface="Arial"/>
                <a:sym typeface="Arial"/>
              </a:rPr>
              <a:t>In practice</a:t>
            </a:r>
            <a:endParaRPr sz="1100" b="0" i="0" u="none" strike="noStrike" cap="none">
              <a:solidFill>
                <a:srgbClr val="000000"/>
              </a:solidFill>
              <a:latin typeface="Arial"/>
              <a:ea typeface="Arial"/>
              <a:cs typeface="Arial"/>
              <a:sym typeface="Arial"/>
            </a:endParaRPr>
          </a:p>
        </p:txBody>
      </p:sp>
      <p:sp>
        <p:nvSpPr>
          <p:cNvPr id="2001" name="Google Shape;2001;p88"/>
          <p:cNvSpPr txBox="1"/>
          <p:nvPr/>
        </p:nvSpPr>
        <p:spPr>
          <a:xfrm>
            <a:off x="7429976" y="972026"/>
            <a:ext cx="2057400" cy="392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Automated</a:t>
            </a:r>
            <a:endParaRPr sz="1400" b="0" i="0" u="none" strike="noStrike" cap="none">
              <a:solidFill>
                <a:schemeClr val="dk1"/>
              </a:solidFill>
              <a:latin typeface="Calibri"/>
              <a:ea typeface="Calibri"/>
              <a:cs typeface="Calibri"/>
              <a:sym typeface="Calibri"/>
            </a:endParaRPr>
          </a:p>
        </p:txBody>
      </p:sp>
      <p:grpSp>
        <p:nvGrpSpPr>
          <p:cNvPr id="2002" name="Google Shape;2002;p88"/>
          <p:cNvGrpSpPr/>
          <p:nvPr/>
        </p:nvGrpSpPr>
        <p:grpSpPr>
          <a:xfrm>
            <a:off x="4595813" y="1781775"/>
            <a:ext cx="1517900" cy="2745000"/>
            <a:chOff x="6127750" y="2375700"/>
            <a:chExt cx="2023866" cy="3660000"/>
          </a:xfrm>
        </p:grpSpPr>
        <p:sp>
          <p:nvSpPr>
            <p:cNvPr id="2003" name="Google Shape;2003;p88"/>
            <p:cNvSpPr txBox="1"/>
            <p:nvPr/>
          </p:nvSpPr>
          <p:spPr>
            <a:xfrm>
              <a:off x="6127750" y="3598070"/>
              <a:ext cx="1483500" cy="954300"/>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Calibri"/>
                  <a:ea typeface="Calibri"/>
                  <a:cs typeface="Calibri"/>
                  <a:sym typeface="Calibri"/>
                </a:rPr>
                <a:t>Aggregation</a:t>
              </a:r>
              <a:r>
                <a:rPr lang="en" sz="1400" b="0" i="0" u="none" strike="noStrike" cap="none">
                  <a:solidFill>
                    <a:schemeClr val="dk1"/>
                  </a:solidFill>
                  <a:latin typeface="Calibri"/>
                  <a:ea typeface="Calibri"/>
                  <a:cs typeface="Calibri"/>
                  <a:sym typeface="Calibri"/>
                </a:rPr>
                <a:t>:</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DAS Tools</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MetaWRAP</a:t>
              </a:r>
              <a:endParaRPr sz="1400" b="0" i="0" u="none" strike="noStrike" cap="none">
                <a:solidFill>
                  <a:schemeClr val="dk1"/>
                </a:solidFill>
                <a:latin typeface="Calibri"/>
                <a:ea typeface="Calibri"/>
                <a:cs typeface="Calibri"/>
                <a:sym typeface="Calibri"/>
              </a:endParaRPr>
            </a:p>
          </p:txBody>
        </p:sp>
        <p:sp>
          <p:nvSpPr>
            <p:cNvPr id="2004" name="Google Shape;2004;p88"/>
            <p:cNvSpPr/>
            <p:nvPr/>
          </p:nvSpPr>
          <p:spPr>
            <a:xfrm>
              <a:off x="7694416" y="2375700"/>
              <a:ext cx="457200" cy="3660000"/>
            </a:xfrm>
            <a:prstGeom prst="lef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grpSp>
      <p:grpSp>
        <p:nvGrpSpPr>
          <p:cNvPr id="2005" name="Google Shape;2005;p88"/>
          <p:cNvGrpSpPr/>
          <p:nvPr/>
        </p:nvGrpSpPr>
        <p:grpSpPr>
          <a:xfrm>
            <a:off x="3952874" y="972026"/>
            <a:ext cx="1112625" cy="3688956"/>
            <a:chOff x="5270499" y="1296035"/>
            <a:chExt cx="1483500" cy="4918609"/>
          </a:xfrm>
        </p:grpSpPr>
        <p:sp>
          <p:nvSpPr>
            <p:cNvPr id="2006" name="Google Shape;2006;p88"/>
            <p:cNvSpPr txBox="1"/>
            <p:nvPr/>
          </p:nvSpPr>
          <p:spPr>
            <a:xfrm>
              <a:off x="5304153" y="1296035"/>
              <a:ext cx="1249800" cy="523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Mixed</a:t>
              </a:r>
              <a:endParaRPr sz="1100" b="0" i="0" u="none" strike="noStrike" cap="none">
                <a:solidFill>
                  <a:srgbClr val="000000"/>
                </a:solidFill>
                <a:latin typeface="Arial"/>
                <a:ea typeface="Arial"/>
                <a:cs typeface="Arial"/>
                <a:sym typeface="Arial"/>
              </a:endParaRPr>
            </a:p>
          </p:txBody>
        </p:sp>
        <p:cxnSp>
          <p:nvCxnSpPr>
            <p:cNvPr id="2007" name="Google Shape;2007;p88"/>
            <p:cNvCxnSpPr/>
            <p:nvPr/>
          </p:nvCxnSpPr>
          <p:spPr>
            <a:xfrm>
              <a:off x="5692775" y="1969135"/>
              <a:ext cx="40500" cy="2855100"/>
            </a:xfrm>
            <a:prstGeom prst="straightConnector1">
              <a:avLst/>
            </a:prstGeom>
            <a:noFill/>
            <a:ln w="57150" cap="flat" cmpd="sng">
              <a:solidFill>
                <a:schemeClr val="dk1"/>
              </a:solidFill>
              <a:prstDash val="solid"/>
              <a:miter lim="800000"/>
              <a:headEnd type="none" w="sm" len="sm"/>
              <a:tailEnd type="triangle" w="med" len="med"/>
            </a:ln>
          </p:spPr>
        </p:cxnSp>
        <p:cxnSp>
          <p:nvCxnSpPr>
            <p:cNvPr id="2008" name="Google Shape;2008;p88"/>
            <p:cNvCxnSpPr/>
            <p:nvPr/>
          </p:nvCxnSpPr>
          <p:spPr>
            <a:xfrm rot="10800000" flipH="1">
              <a:off x="5693410" y="3778130"/>
              <a:ext cx="435900" cy="183000"/>
            </a:xfrm>
            <a:prstGeom prst="straightConnector1">
              <a:avLst/>
            </a:prstGeom>
            <a:noFill/>
            <a:ln w="57150" cap="flat" cmpd="sng">
              <a:solidFill>
                <a:schemeClr val="dk1"/>
              </a:solidFill>
              <a:prstDash val="solid"/>
              <a:miter lim="800000"/>
              <a:headEnd type="none" w="sm" len="sm"/>
              <a:tailEnd type="none" w="sm" len="sm"/>
            </a:ln>
          </p:spPr>
        </p:cxnSp>
        <p:sp>
          <p:nvSpPr>
            <p:cNvPr id="2009" name="Google Shape;2009;p88"/>
            <p:cNvSpPr txBox="1"/>
            <p:nvPr/>
          </p:nvSpPr>
          <p:spPr>
            <a:xfrm>
              <a:off x="5270499" y="4973319"/>
              <a:ext cx="1483500" cy="1241325"/>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dirty="0">
                  <a:solidFill>
                    <a:schemeClr val="dk1"/>
                  </a:solidFill>
                  <a:latin typeface="Calibri"/>
                  <a:ea typeface="Calibri"/>
                  <a:cs typeface="Calibri"/>
                  <a:sym typeface="Calibri"/>
                </a:rPr>
                <a:t>Refinement:</a:t>
              </a:r>
              <a:endParaRPr sz="14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dirty="0" err="1">
                  <a:solidFill>
                    <a:schemeClr val="dk1"/>
                  </a:solidFill>
                  <a:latin typeface="Calibri"/>
                  <a:ea typeface="Calibri"/>
                  <a:cs typeface="Calibri"/>
                  <a:sym typeface="Calibri"/>
                </a:rPr>
                <a:t>Anvi’o</a:t>
              </a:r>
              <a:endParaRPr sz="1400" b="1"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r>
                <a:rPr lang="en-GB" sz="1400" b="1" dirty="0">
                  <a:solidFill>
                    <a:schemeClr val="dk1"/>
                  </a:solidFill>
                  <a:latin typeface="Calibri"/>
                  <a:ea typeface="Calibri"/>
                  <a:cs typeface="Calibri"/>
                  <a:sym typeface="Calibri"/>
                </a:rPr>
                <a:t>M</a:t>
              </a:r>
              <a:r>
                <a:rPr lang="en" sz="1400" b="1" dirty="0" err="1">
                  <a:solidFill>
                    <a:schemeClr val="dk1"/>
                  </a:solidFill>
                  <a:latin typeface="Calibri"/>
                  <a:ea typeface="Calibri"/>
                  <a:cs typeface="Calibri"/>
                  <a:sym typeface="Calibri"/>
                </a:rPr>
                <a:t>dmcleaner</a:t>
              </a:r>
              <a:endParaRPr lang="en" sz="14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r>
                <a:rPr lang="en" sz="1400" b="1" dirty="0" err="1">
                  <a:solidFill>
                    <a:schemeClr val="dk1"/>
                  </a:solidFill>
                  <a:latin typeface="Calibri"/>
                  <a:ea typeface="Calibri"/>
                  <a:cs typeface="Calibri"/>
                  <a:sym typeface="Calibri"/>
                </a:rPr>
                <a:t>MAGpurify</a:t>
              </a:r>
              <a:endParaRPr sz="1400" b="1" dirty="0">
                <a:solidFill>
                  <a:schemeClr val="dk1"/>
                </a:solidFill>
                <a:latin typeface="Calibri"/>
                <a:ea typeface="Calibri"/>
                <a:cs typeface="Calibri"/>
                <a:sym typeface="Calibri"/>
              </a:endParaRPr>
            </a:p>
          </p:txBody>
        </p:sp>
      </p:grpSp>
      <p:sp>
        <p:nvSpPr>
          <p:cNvPr id="2010" name="Google Shape;2010;p88"/>
          <p:cNvSpPr txBox="1"/>
          <p:nvPr/>
        </p:nvSpPr>
        <p:spPr>
          <a:xfrm>
            <a:off x="336549" y="1622425"/>
            <a:ext cx="2976000" cy="1038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rgbClr val="385623"/>
                </a:solidFill>
                <a:latin typeface="Calibri"/>
                <a:ea typeface="Calibri"/>
                <a:cs typeface="Calibri"/>
                <a:sym typeface="Calibri"/>
              </a:rPr>
              <a:t>High sensitivity</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rgbClr val="C00000"/>
                </a:solidFill>
                <a:latin typeface="Calibri"/>
                <a:ea typeface="Calibri"/>
                <a:cs typeface="Calibri"/>
                <a:sym typeface="Calibri"/>
              </a:rPr>
              <a:t>High specialization</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rgbClr val="C00000"/>
                </a:solidFill>
                <a:latin typeface="Calibri"/>
                <a:ea typeface="Calibri"/>
                <a:cs typeface="Calibri"/>
                <a:sym typeface="Calibri"/>
              </a:rPr>
              <a:t>High time consumption</a:t>
            </a:r>
            <a:endParaRPr sz="1100" b="0" i="0" u="none" strike="noStrike" cap="none">
              <a:solidFill>
                <a:srgbClr val="000000"/>
              </a:solidFill>
              <a:latin typeface="Arial"/>
              <a:ea typeface="Arial"/>
              <a:cs typeface="Arial"/>
              <a:sym typeface="Arial"/>
            </a:endParaRPr>
          </a:p>
        </p:txBody>
      </p:sp>
      <p:sp>
        <p:nvSpPr>
          <p:cNvPr id="2011" name="Google Shape;2011;p88"/>
          <p:cNvSpPr txBox="1"/>
          <p:nvPr/>
        </p:nvSpPr>
        <p:spPr>
          <a:xfrm>
            <a:off x="701674" y="3622674"/>
            <a:ext cx="3097200" cy="1038900"/>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Clr>
                <a:srgbClr val="000000"/>
              </a:buClr>
              <a:buSzPts val="2100"/>
              <a:buFont typeface="Arial"/>
              <a:buNone/>
            </a:pPr>
            <a:r>
              <a:rPr lang="en" sz="2100" b="0" i="0" u="none" strike="noStrike" cap="none" dirty="0">
                <a:solidFill>
                  <a:srgbClr val="385623"/>
                </a:solidFill>
                <a:latin typeface="Calibri"/>
                <a:ea typeface="Calibri"/>
                <a:cs typeface="Calibri"/>
                <a:sym typeface="Calibri"/>
              </a:rPr>
              <a:t>Good sensitivity</a:t>
            </a:r>
            <a:endParaRPr sz="11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100"/>
              <a:buFont typeface="Arial"/>
              <a:buNone/>
            </a:pPr>
            <a:r>
              <a:rPr lang="en" sz="2100" b="0" i="0" u="none" strike="noStrike" cap="none" dirty="0">
                <a:solidFill>
                  <a:srgbClr val="EF8600"/>
                </a:solidFill>
                <a:latin typeface="Calibri"/>
                <a:ea typeface="Calibri"/>
                <a:cs typeface="Calibri"/>
                <a:sym typeface="Calibri"/>
              </a:rPr>
              <a:t>Medium specialization</a:t>
            </a:r>
            <a:endParaRPr sz="1400" b="0" i="0" u="none" strike="noStrike" cap="none" dirty="0">
              <a:solidFill>
                <a:srgbClr val="EF8600"/>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2100"/>
              <a:buFont typeface="Arial"/>
              <a:buNone/>
            </a:pPr>
            <a:r>
              <a:rPr lang="en" sz="2100" b="0" i="0" u="none" strike="noStrike" cap="none" dirty="0">
                <a:solidFill>
                  <a:srgbClr val="EF8600"/>
                </a:solidFill>
                <a:latin typeface="Calibri"/>
                <a:ea typeface="Calibri"/>
                <a:cs typeface="Calibri"/>
                <a:sym typeface="Calibri"/>
              </a:rPr>
              <a:t>Medium time consumption</a:t>
            </a:r>
            <a:endParaRPr sz="1400" b="0" i="0" u="none" strike="noStrike" cap="none" dirty="0">
              <a:solidFill>
                <a:srgbClr val="EF8600"/>
              </a:solidFill>
              <a:latin typeface="Calibri"/>
              <a:ea typeface="Calibri"/>
              <a:cs typeface="Calibri"/>
              <a:sym typeface="Calibri"/>
            </a:endParaRPr>
          </a:p>
        </p:txBody>
      </p:sp>
      <p:sp>
        <p:nvSpPr>
          <p:cNvPr id="2012" name="Google Shape;2012;p88"/>
          <p:cNvSpPr txBox="1"/>
          <p:nvPr/>
        </p:nvSpPr>
        <p:spPr>
          <a:xfrm>
            <a:off x="6648523" y="1548217"/>
            <a:ext cx="1994100" cy="1038900"/>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Clr>
                <a:srgbClr val="000000"/>
              </a:buClr>
              <a:buSzPts val="2100"/>
              <a:buFont typeface="Arial"/>
              <a:buNone/>
            </a:pPr>
            <a:r>
              <a:rPr lang="en" sz="2100" b="0" i="0" u="none" strike="noStrike" cap="none">
                <a:solidFill>
                  <a:srgbClr val="C00000"/>
                </a:solidFill>
                <a:latin typeface="Calibri"/>
                <a:ea typeface="Calibri"/>
                <a:cs typeface="Calibri"/>
                <a:sym typeface="Calibri"/>
              </a:rPr>
              <a:t>Bad sensitivity</a:t>
            </a:r>
            <a:endParaRPr sz="11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100"/>
              <a:buFont typeface="Arial"/>
              <a:buNone/>
            </a:pPr>
            <a:r>
              <a:rPr lang="en" sz="2100" b="0" i="0" u="none" strike="noStrike" cap="none">
                <a:solidFill>
                  <a:srgbClr val="385623"/>
                </a:solidFill>
                <a:latin typeface="Calibri"/>
                <a:ea typeface="Calibri"/>
                <a:cs typeface="Calibri"/>
                <a:sym typeface="Calibri"/>
              </a:rPr>
              <a:t>Easy to use</a:t>
            </a:r>
            <a:endParaRPr sz="11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100"/>
              <a:buFont typeface="Arial"/>
              <a:buNone/>
            </a:pPr>
            <a:r>
              <a:rPr lang="en" sz="2100" b="0" i="0" u="none" strike="noStrike" cap="none">
                <a:solidFill>
                  <a:srgbClr val="385623"/>
                </a:solidFill>
                <a:latin typeface="Calibri"/>
                <a:ea typeface="Calibri"/>
                <a:cs typeface="Calibri"/>
                <a:sym typeface="Calibri"/>
              </a:rPr>
              <a:t>Fast results</a:t>
            </a:r>
            <a:endParaRPr sz="1400" b="0" i="0" u="none" strike="noStrike" cap="none">
              <a:solidFill>
                <a:srgbClr val="385623"/>
              </a:solidFill>
              <a:latin typeface="Calibri"/>
              <a:ea typeface="Calibri"/>
              <a:cs typeface="Calibri"/>
              <a:sym typeface="Calibri"/>
            </a:endParaRPr>
          </a:p>
        </p:txBody>
      </p:sp>
      <p:sp>
        <p:nvSpPr>
          <p:cNvPr id="2014" name="Google Shape;2014;p88"/>
          <p:cNvSpPr txBox="1">
            <a:spLocks noGrp="1"/>
          </p:cNvSpPr>
          <p:nvPr>
            <p:ph type="sldNum" idx="4294967295"/>
          </p:nvPr>
        </p:nvSpPr>
        <p:spPr>
          <a:xfrm>
            <a:off x="7086600" y="4767263"/>
            <a:ext cx="2057400" cy="274637"/>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31</a:t>
            </a:fld>
            <a:endParaRPr/>
          </a:p>
        </p:txBody>
      </p:sp>
      <p:pic>
        <p:nvPicPr>
          <p:cNvPr id="2015" name="Google Shape;2015;p88" descr="Programmer female with solid fill"/>
          <p:cNvPicPr preferRelativeResize="0"/>
          <p:nvPr/>
        </p:nvPicPr>
        <p:blipFill rotWithShape="1">
          <a:blip r:embed="rId3">
            <a:alphaModFix/>
          </a:blip>
          <a:srcRect/>
          <a:stretch/>
        </p:blipFill>
        <p:spPr>
          <a:xfrm>
            <a:off x="1448100" y="824850"/>
            <a:ext cx="685800" cy="685800"/>
          </a:xfrm>
          <a:prstGeom prst="rect">
            <a:avLst/>
          </a:prstGeom>
          <a:noFill/>
          <a:ln>
            <a:noFill/>
          </a:ln>
        </p:spPr>
      </p:pic>
      <p:pic>
        <p:nvPicPr>
          <p:cNvPr id="2016" name="Google Shape;2016;p88" descr="Computer with solid fill"/>
          <p:cNvPicPr preferRelativeResize="0"/>
          <p:nvPr/>
        </p:nvPicPr>
        <p:blipFill rotWithShape="1">
          <a:blip r:embed="rId4">
            <a:alphaModFix/>
          </a:blip>
          <a:srcRect/>
          <a:stretch/>
        </p:blipFill>
        <p:spPr>
          <a:xfrm>
            <a:off x="6677100" y="865350"/>
            <a:ext cx="685800" cy="685800"/>
          </a:xfrm>
          <a:prstGeom prst="rect">
            <a:avLst/>
          </a:prstGeom>
          <a:noFill/>
          <a:ln>
            <a:noFill/>
          </a:ln>
        </p:spPr>
      </p:pic>
      <p:pic>
        <p:nvPicPr>
          <p:cNvPr id="2017" name="Google Shape;2017;p88" descr="Magic Wand Auto outline"/>
          <p:cNvPicPr preferRelativeResize="0"/>
          <p:nvPr/>
        </p:nvPicPr>
        <p:blipFill rotWithShape="1">
          <a:blip r:embed="rId5">
            <a:alphaModFix/>
          </a:blip>
          <a:srcRect/>
          <a:stretch/>
        </p:blipFill>
        <p:spPr>
          <a:xfrm>
            <a:off x="6263100" y="973350"/>
            <a:ext cx="465300" cy="465300"/>
          </a:xfrm>
          <a:prstGeom prst="rect">
            <a:avLst/>
          </a:prstGeom>
          <a:noFill/>
          <a:ln>
            <a:noFill/>
          </a:ln>
        </p:spPr>
      </p:pic>
      <p:grpSp>
        <p:nvGrpSpPr>
          <p:cNvPr id="2018" name="Google Shape;2018;p88"/>
          <p:cNvGrpSpPr/>
          <p:nvPr/>
        </p:nvGrpSpPr>
        <p:grpSpPr>
          <a:xfrm>
            <a:off x="6029099" y="1754100"/>
            <a:ext cx="1072801" cy="2812050"/>
            <a:chOff x="8038799" y="2338800"/>
            <a:chExt cx="1430401" cy="3749400"/>
          </a:xfrm>
        </p:grpSpPr>
        <p:pic>
          <p:nvPicPr>
            <p:cNvPr id="2019" name="Google Shape;2019;p88" descr="Bar chart with solid fill"/>
            <p:cNvPicPr preferRelativeResize="0"/>
            <p:nvPr/>
          </p:nvPicPr>
          <p:blipFill rotWithShape="1">
            <a:blip r:embed="rId6">
              <a:alphaModFix/>
            </a:blip>
            <a:srcRect/>
            <a:stretch/>
          </p:blipFill>
          <p:spPr>
            <a:xfrm>
              <a:off x="8296800" y="5173800"/>
              <a:ext cx="914400" cy="914400"/>
            </a:xfrm>
            <a:prstGeom prst="rect">
              <a:avLst/>
            </a:prstGeom>
            <a:noFill/>
            <a:ln>
              <a:noFill/>
            </a:ln>
          </p:spPr>
        </p:pic>
        <p:pic>
          <p:nvPicPr>
            <p:cNvPr id="2020" name="Google Shape;2020;p88" descr="DNA with solid fill"/>
            <p:cNvPicPr preferRelativeResize="0"/>
            <p:nvPr/>
          </p:nvPicPr>
          <p:blipFill rotWithShape="1">
            <a:blip r:embed="rId7">
              <a:alphaModFix/>
            </a:blip>
            <a:srcRect/>
            <a:stretch/>
          </p:blipFill>
          <p:spPr>
            <a:xfrm>
              <a:off x="8326800" y="2338800"/>
              <a:ext cx="716400" cy="716400"/>
            </a:xfrm>
            <a:prstGeom prst="rect">
              <a:avLst/>
            </a:prstGeom>
            <a:noFill/>
            <a:ln>
              <a:noFill/>
            </a:ln>
          </p:spPr>
        </p:pic>
        <p:pic>
          <p:nvPicPr>
            <p:cNvPr id="2021" name="Google Shape;2021;p88" descr="DNA with solid fill"/>
            <p:cNvPicPr preferRelativeResize="0"/>
            <p:nvPr/>
          </p:nvPicPr>
          <p:blipFill rotWithShape="1">
            <a:blip r:embed="rId7">
              <a:alphaModFix/>
            </a:blip>
            <a:srcRect/>
            <a:stretch/>
          </p:blipFill>
          <p:spPr>
            <a:xfrm>
              <a:off x="8038799" y="3820799"/>
              <a:ext cx="716400" cy="716400"/>
            </a:xfrm>
            <a:prstGeom prst="rect">
              <a:avLst/>
            </a:prstGeom>
            <a:noFill/>
            <a:ln>
              <a:noFill/>
            </a:ln>
          </p:spPr>
        </p:pic>
        <p:pic>
          <p:nvPicPr>
            <p:cNvPr id="2022" name="Google Shape;2022;p88" descr="Bar chart with solid fill"/>
            <p:cNvPicPr preferRelativeResize="0"/>
            <p:nvPr/>
          </p:nvPicPr>
          <p:blipFill rotWithShape="1">
            <a:blip r:embed="rId6">
              <a:alphaModFix/>
            </a:blip>
            <a:srcRect/>
            <a:stretch/>
          </p:blipFill>
          <p:spPr>
            <a:xfrm>
              <a:off x="8554800" y="3715800"/>
              <a:ext cx="914400" cy="914400"/>
            </a:xfrm>
            <a:prstGeom prst="rect">
              <a:avLst/>
            </a:prstGeom>
            <a:noFill/>
            <a:ln>
              <a:noFill/>
            </a:ln>
          </p:spPr>
        </p:pic>
      </p:grpSp>
      <p:sp>
        <p:nvSpPr>
          <p:cNvPr id="2023" name="Google Shape;2023;p88"/>
          <p:cNvSpPr txBox="1"/>
          <p:nvPr/>
        </p:nvSpPr>
        <p:spPr>
          <a:xfrm>
            <a:off x="7429975" y="2770925"/>
            <a:ext cx="1112700" cy="1146600"/>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b="1">
                <a:solidFill>
                  <a:schemeClr val="dk1"/>
                </a:solidFill>
                <a:latin typeface="Calibri"/>
                <a:ea typeface="Calibri"/>
                <a:cs typeface="Calibri"/>
                <a:sym typeface="Calibri"/>
              </a:rPr>
              <a:t>Binners</a:t>
            </a:r>
            <a:r>
              <a:rPr lang="en" sz="1400" b="0" i="0" u="none" strike="noStrike" cap="none">
                <a:solidFill>
                  <a:schemeClr val="dk1"/>
                </a:solidFill>
                <a:latin typeface="Calibri"/>
                <a:ea typeface="Calibri"/>
                <a:cs typeface="Calibri"/>
                <a:sym typeface="Calibri"/>
              </a:rPr>
              <a:t>:</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Calibri"/>
                <a:ea typeface="Calibri"/>
                <a:cs typeface="Calibri"/>
                <a:sym typeface="Calibri"/>
              </a:rPr>
              <a:t>MetaBAT2</a:t>
            </a:r>
            <a:endParaRPr>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Calibri"/>
                <a:ea typeface="Calibri"/>
                <a:cs typeface="Calibri"/>
                <a:sym typeface="Calibri"/>
              </a:rPr>
              <a:t>CONCOCT</a:t>
            </a:r>
            <a:endParaRPr>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Calibri"/>
                <a:ea typeface="Calibri"/>
                <a:cs typeface="Calibri"/>
                <a:sym typeface="Calibri"/>
              </a:rPr>
              <a:t>MaxBin2</a:t>
            </a:r>
            <a:endParaRPr>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ABF01-AF09-6EB2-C7B4-FDF2D4F8F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0C5170-DCCE-FB3D-37B7-CD5A3076A6A0}"/>
              </a:ext>
            </a:extLst>
          </p:cNvPr>
          <p:cNvSpPr>
            <a:spLocks noGrp="1"/>
          </p:cNvSpPr>
          <p:nvPr>
            <p:ph type="title"/>
          </p:nvPr>
        </p:nvSpPr>
        <p:spPr>
          <a:xfrm>
            <a:off x="219588" y="172642"/>
            <a:ext cx="8714850" cy="767669"/>
          </a:xfrm>
        </p:spPr>
        <p:txBody>
          <a:bodyPr/>
          <a:lstStyle/>
          <a:p>
            <a:r>
              <a:rPr lang="en-NL" sz="2100" dirty="0"/>
              <a:t>Metagenome data input quality determines data output quality</a:t>
            </a:r>
          </a:p>
        </p:txBody>
      </p:sp>
      <p:sp>
        <p:nvSpPr>
          <p:cNvPr id="3" name="Text Placeholder 2">
            <a:extLst>
              <a:ext uri="{FF2B5EF4-FFF2-40B4-BE49-F238E27FC236}">
                <a16:creationId xmlns:a16="http://schemas.microsoft.com/office/drawing/2014/main" id="{92120EAC-90AD-5EE6-2403-B34C3E90BBE0}"/>
              </a:ext>
            </a:extLst>
          </p:cNvPr>
          <p:cNvSpPr>
            <a:spLocks noGrp="1"/>
          </p:cNvSpPr>
          <p:nvPr>
            <p:ph type="body" sz="quarter" idx="10"/>
          </p:nvPr>
        </p:nvSpPr>
        <p:spPr/>
        <p:txBody>
          <a:bodyPr/>
          <a:lstStyle/>
          <a:p>
            <a:endParaRPr lang="en-NL"/>
          </a:p>
        </p:txBody>
      </p:sp>
      <p:pic>
        <p:nvPicPr>
          <p:cNvPr id="1026" name="Picture 2" descr="Slide Deck: Slide Deck: Hands-on: Hands-on: Genome Assembly Quality Control  / Assembly">
            <a:extLst>
              <a:ext uri="{FF2B5EF4-FFF2-40B4-BE49-F238E27FC236}">
                <a16:creationId xmlns:a16="http://schemas.microsoft.com/office/drawing/2014/main" id="{981FD45B-97C5-5450-B7D4-0CE99FD826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588" y="1376437"/>
            <a:ext cx="8727848" cy="2597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2105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sz="2200" dirty="0">
                <a:latin typeface="Calibri" panose="020F0502020204030204" pitchFamily="34" charset="0"/>
                <a:ea typeface="Arial Unicode MS" panose="020B0604020202020204" pitchFamily="34" charset="-128"/>
                <a:cs typeface="Calibri" panose="020F0502020204030204" pitchFamily="34" charset="0"/>
              </a:rPr>
              <a:t>CheckM2 uses single-copy orthologs to assess completeness</a:t>
            </a:r>
            <a:endParaRPr lang="en-GB" sz="2200" dirty="0">
              <a:latin typeface="Calibri" panose="020F0502020204030204" pitchFamily="34" charset="0"/>
              <a:ea typeface="Arial Unicode MS" panose="020B0604020202020204" pitchFamily="34" charset="-128"/>
              <a:cs typeface="Calibri" panose="020F0502020204030204" pitchFamily="34" charset="0"/>
            </a:endParaRPr>
          </a:p>
        </p:txBody>
      </p:sp>
      <p:sp>
        <p:nvSpPr>
          <p:cNvPr id="5" name="Text Placeholder 2"/>
          <p:cNvSpPr>
            <a:spLocks noGrp="1"/>
          </p:cNvSpPr>
          <p:nvPr>
            <p:ph type="body" sz="quarter" idx="10"/>
          </p:nvPr>
        </p:nvSpPr>
        <p:spPr/>
        <p:txBody>
          <a:bodyPr/>
          <a:lstStyle/>
          <a:p>
            <a:pPr>
              <a:lnSpc>
                <a:spcPct val="100000"/>
              </a:lnSpc>
              <a:spcAft>
                <a:spcPts val="375"/>
              </a:spcAft>
            </a:pPr>
            <a:r>
              <a:rPr lang="en-US" sz="1350" dirty="0"/>
              <a:t>~100% found: complete genome</a:t>
            </a:r>
          </a:p>
          <a:p>
            <a:pPr>
              <a:lnSpc>
                <a:spcPct val="100000"/>
              </a:lnSpc>
              <a:spcAft>
                <a:spcPts val="375"/>
              </a:spcAft>
            </a:pPr>
            <a:r>
              <a:rPr lang="en-US" sz="1350" dirty="0"/>
              <a:t>&lt;&lt;100% found: incomplete genome</a:t>
            </a:r>
          </a:p>
          <a:p>
            <a:pPr>
              <a:lnSpc>
                <a:spcPct val="100000"/>
              </a:lnSpc>
              <a:spcAft>
                <a:spcPts val="375"/>
              </a:spcAft>
            </a:pPr>
            <a:r>
              <a:rPr lang="en-US" sz="1350" dirty="0"/>
              <a:t>&gt;&gt;100% found: contamination</a:t>
            </a:r>
          </a:p>
          <a:p>
            <a:pPr>
              <a:lnSpc>
                <a:spcPct val="100000"/>
              </a:lnSpc>
              <a:spcAft>
                <a:spcPts val="375"/>
              </a:spcAft>
            </a:pPr>
            <a:endParaRPr lang="en-US" sz="1350" dirty="0"/>
          </a:p>
        </p:txBody>
      </p:sp>
      <p:pic>
        <p:nvPicPr>
          <p:cNvPr id="3" name="Picture 2" descr="Assess Genome Quality with CheckM - v1.0.18 | KBase App">
            <a:extLst>
              <a:ext uri="{FF2B5EF4-FFF2-40B4-BE49-F238E27FC236}">
                <a16:creationId xmlns:a16="http://schemas.microsoft.com/office/drawing/2014/main" id="{315A9F2D-F309-25C8-D915-54554E64C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6909" y="2673131"/>
            <a:ext cx="6555179" cy="2297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0892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2200" dirty="0"/>
              <a:t>Metagenome bins are of varying quality</a:t>
            </a:r>
          </a:p>
        </p:txBody>
      </p:sp>
      <p:pic>
        <p:nvPicPr>
          <p:cNvPr id="2" name="Picture 1"/>
          <p:cNvPicPr>
            <a:picLocks noChangeAspect="1"/>
          </p:cNvPicPr>
          <p:nvPr/>
        </p:nvPicPr>
        <p:blipFill>
          <a:blip r:embed="rId3"/>
          <a:srcRect l="1" r="40915"/>
          <a:stretch>
            <a:fillRect/>
          </a:stretch>
        </p:blipFill>
        <p:spPr>
          <a:xfrm>
            <a:off x="2491179" y="964292"/>
            <a:ext cx="3841888" cy="3877774"/>
          </a:xfrm>
          <a:prstGeom prst="rect">
            <a:avLst/>
          </a:prstGeom>
        </p:spPr>
      </p:pic>
      <p:sp>
        <p:nvSpPr>
          <p:cNvPr id="5" name="Rectangle 4"/>
          <p:cNvSpPr/>
          <p:nvPr/>
        </p:nvSpPr>
        <p:spPr>
          <a:xfrm>
            <a:off x="5940152" y="4891697"/>
            <a:ext cx="3090911" cy="276999"/>
          </a:xfrm>
          <a:prstGeom prst="rect">
            <a:avLst/>
          </a:prstGeom>
        </p:spPr>
        <p:txBody>
          <a:bodyPr wrap="none">
            <a:spAutoFit/>
          </a:bodyPr>
          <a:lstStyle/>
          <a:p>
            <a:r>
              <a:rPr lang="en-US" sz="1200" dirty="0"/>
              <a:t>https://</a:t>
            </a:r>
            <a:r>
              <a:rPr lang="en-US" sz="1200" dirty="0" err="1"/>
              <a:t>doi.org</a:t>
            </a:r>
            <a:r>
              <a:rPr lang="en-US" sz="1200" dirty="0"/>
              <a:t>/10.1038/s41564-017-0012-7</a:t>
            </a:r>
          </a:p>
        </p:txBody>
      </p:sp>
    </p:spTree>
    <p:extLst>
      <p:ext uri="{BB962C8B-B14F-4D97-AF65-F5344CB8AC3E}">
        <p14:creationId xmlns:p14="http://schemas.microsoft.com/office/powerpoint/2010/main" val="25233438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sz="2200" dirty="0">
                <a:latin typeface="Calibri" panose="020F0502020204030204" pitchFamily="34" charset="0"/>
                <a:ea typeface="Arial Unicode MS" panose="020B0604020202020204" pitchFamily="34" charset="-128"/>
                <a:cs typeface="Calibri" panose="020F0502020204030204" pitchFamily="34" charset="0"/>
              </a:rPr>
              <a:t>Ways to identify contamination</a:t>
            </a:r>
            <a:endParaRPr lang="en-GB" sz="2200" dirty="0">
              <a:latin typeface="Calibri" panose="020F0502020204030204" pitchFamily="34" charset="0"/>
              <a:ea typeface="Arial Unicode MS" panose="020B0604020202020204" pitchFamily="34" charset="-128"/>
              <a:cs typeface="Calibri" panose="020F0502020204030204" pitchFamily="34" charset="0"/>
            </a:endParaRPr>
          </a:p>
        </p:txBody>
      </p:sp>
      <p:sp>
        <p:nvSpPr>
          <p:cNvPr id="4" name="Text Placeholder 2">
            <a:extLst>
              <a:ext uri="{FF2B5EF4-FFF2-40B4-BE49-F238E27FC236}">
                <a16:creationId xmlns:a16="http://schemas.microsoft.com/office/drawing/2014/main" id="{F8CB1099-2ECC-604D-BC7A-B9C5BACB4DAD}"/>
              </a:ext>
            </a:extLst>
          </p:cNvPr>
          <p:cNvSpPr>
            <a:spLocks noGrp="1"/>
          </p:cNvSpPr>
          <p:nvPr>
            <p:ph type="body" sz="quarter" idx="10"/>
          </p:nvPr>
        </p:nvSpPr>
        <p:spPr>
          <a:xfrm>
            <a:off x="421201" y="1376437"/>
            <a:ext cx="4150800" cy="3067200"/>
          </a:xfrm>
        </p:spPr>
        <p:txBody>
          <a:bodyPr/>
          <a:lstStyle/>
          <a:p>
            <a:pPr>
              <a:lnSpc>
                <a:spcPct val="100000"/>
              </a:lnSpc>
              <a:spcAft>
                <a:spcPts val="375"/>
              </a:spcAft>
            </a:pPr>
            <a:r>
              <a:rPr lang="en-US" sz="1350" dirty="0"/>
              <a:t>Is my genome overcomplete? </a:t>
            </a:r>
            <a:r>
              <a:rPr lang="en-US" sz="900" dirty="0"/>
              <a:t>(e.g., &gt;&gt; 100% completeness)</a:t>
            </a:r>
          </a:p>
          <a:p>
            <a:pPr>
              <a:lnSpc>
                <a:spcPct val="100000"/>
              </a:lnSpc>
              <a:spcAft>
                <a:spcPts val="375"/>
              </a:spcAft>
            </a:pPr>
            <a:r>
              <a:rPr lang="en-US" sz="1350" dirty="0"/>
              <a:t>Anomalies found in GC % distribution? </a:t>
            </a:r>
            <a:r>
              <a:rPr lang="en-US" sz="900" dirty="0"/>
              <a:t>(e.g., a bimodal distribution)</a:t>
            </a:r>
          </a:p>
          <a:p>
            <a:pPr>
              <a:lnSpc>
                <a:spcPct val="100000"/>
              </a:lnSpc>
              <a:spcAft>
                <a:spcPts val="375"/>
              </a:spcAft>
            </a:pPr>
            <a:r>
              <a:rPr lang="en-US" sz="1350" dirty="0"/>
              <a:t>Anomalies found in tetranucleotide profile?</a:t>
            </a:r>
          </a:p>
        </p:txBody>
      </p:sp>
      <p:pic>
        <p:nvPicPr>
          <p:cNvPr id="3" name="Google Shape;1807;p82" descr="Chart&#10;&#10;Description automatically generated">
            <a:extLst>
              <a:ext uri="{FF2B5EF4-FFF2-40B4-BE49-F238E27FC236}">
                <a16:creationId xmlns:a16="http://schemas.microsoft.com/office/drawing/2014/main" id="{52D6D48A-9E76-9F76-AE12-F22F2542048A}"/>
              </a:ext>
            </a:extLst>
          </p:cNvPr>
          <p:cNvPicPr preferRelativeResize="0"/>
          <p:nvPr/>
        </p:nvPicPr>
        <p:blipFill rotWithShape="1">
          <a:blip r:embed="rId3">
            <a:alphaModFix/>
          </a:blip>
          <a:srcRect/>
          <a:stretch/>
        </p:blipFill>
        <p:spPr>
          <a:xfrm>
            <a:off x="1433518" y="2688584"/>
            <a:ext cx="1923521" cy="2024866"/>
          </a:xfrm>
          <a:prstGeom prst="rect">
            <a:avLst/>
          </a:prstGeom>
          <a:noFill/>
          <a:ln>
            <a:noFill/>
          </a:ln>
        </p:spPr>
      </p:pic>
      <p:sp>
        <p:nvSpPr>
          <p:cNvPr id="5" name="Google Shape;1808;p82">
            <a:extLst>
              <a:ext uri="{FF2B5EF4-FFF2-40B4-BE49-F238E27FC236}">
                <a16:creationId xmlns:a16="http://schemas.microsoft.com/office/drawing/2014/main" id="{1037C092-2433-23DE-4351-E97D2172FCCA}"/>
              </a:ext>
            </a:extLst>
          </p:cNvPr>
          <p:cNvSpPr txBox="1"/>
          <p:nvPr/>
        </p:nvSpPr>
        <p:spPr>
          <a:xfrm>
            <a:off x="1659131" y="4713450"/>
            <a:ext cx="1862442" cy="28466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Calibri"/>
                <a:ea typeface="Calibri"/>
                <a:cs typeface="Calibri"/>
                <a:sym typeface="Calibri"/>
              </a:rPr>
              <a:t>Tyson et al. 2004</a:t>
            </a:r>
            <a:endParaRPr sz="1400" b="0" i="0" u="none" strike="noStrike" cap="none" dirty="0">
              <a:solidFill>
                <a:schemeClr val="dk1"/>
              </a:solidFill>
              <a:latin typeface="Calibri"/>
              <a:ea typeface="Calibri"/>
              <a:cs typeface="Calibri"/>
              <a:sym typeface="Calibri"/>
            </a:endParaRPr>
          </a:p>
        </p:txBody>
      </p:sp>
      <p:pic>
        <p:nvPicPr>
          <p:cNvPr id="7" name="Google Shape;1854;p83" descr="Map&#10;&#10;Description automatically generated">
            <a:extLst>
              <a:ext uri="{FF2B5EF4-FFF2-40B4-BE49-F238E27FC236}">
                <a16:creationId xmlns:a16="http://schemas.microsoft.com/office/drawing/2014/main" id="{5E6A097A-A173-238A-2514-CAB3E10279AE}"/>
              </a:ext>
            </a:extLst>
          </p:cNvPr>
          <p:cNvPicPr preferRelativeResize="0"/>
          <p:nvPr/>
        </p:nvPicPr>
        <p:blipFill rotWithShape="1">
          <a:blip r:embed="rId4">
            <a:alphaModFix/>
          </a:blip>
          <a:srcRect/>
          <a:stretch/>
        </p:blipFill>
        <p:spPr>
          <a:xfrm>
            <a:off x="4713040" y="838060"/>
            <a:ext cx="4457701" cy="3191797"/>
          </a:xfrm>
          <a:prstGeom prst="rect">
            <a:avLst/>
          </a:prstGeom>
          <a:noFill/>
          <a:ln>
            <a:noFill/>
          </a:ln>
        </p:spPr>
      </p:pic>
      <p:sp>
        <p:nvSpPr>
          <p:cNvPr id="8" name="Google Shape;1855;p83">
            <a:extLst>
              <a:ext uri="{FF2B5EF4-FFF2-40B4-BE49-F238E27FC236}">
                <a16:creationId xmlns:a16="http://schemas.microsoft.com/office/drawing/2014/main" id="{9BF1286A-4293-B297-3778-A8E2B78FA0A0}"/>
              </a:ext>
            </a:extLst>
          </p:cNvPr>
          <p:cNvSpPr txBox="1"/>
          <p:nvPr/>
        </p:nvSpPr>
        <p:spPr>
          <a:xfrm>
            <a:off x="6729322" y="4029857"/>
            <a:ext cx="18999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Calibri"/>
                <a:ea typeface="Calibri"/>
                <a:cs typeface="Calibri"/>
                <a:sym typeface="Calibri"/>
              </a:rPr>
              <a:t>Weber et al. 2011</a:t>
            </a:r>
            <a:endParaRPr sz="1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32640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713F4-0394-B474-E3C4-7D3C9270E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4724E-DD58-8261-7BD8-1715747E2D72}"/>
              </a:ext>
            </a:extLst>
          </p:cNvPr>
          <p:cNvSpPr>
            <a:spLocks noGrp="1"/>
          </p:cNvSpPr>
          <p:nvPr>
            <p:ph type="title"/>
          </p:nvPr>
        </p:nvSpPr>
        <p:spPr/>
        <p:txBody>
          <a:bodyPr/>
          <a:lstStyle/>
          <a:p>
            <a:r>
              <a:rPr lang="is-IS" sz="2200" dirty="0">
                <a:latin typeface="Calibri" panose="020F0502020204030204" pitchFamily="34" charset="0"/>
                <a:ea typeface="Arial Unicode MS" panose="020B0604020202020204" pitchFamily="34" charset="-128"/>
                <a:cs typeface="Calibri" panose="020F0502020204030204" pitchFamily="34" charset="0"/>
              </a:rPr>
              <a:t>Ways to identify contamination</a:t>
            </a:r>
            <a:endParaRPr lang="en-GB" sz="2200" dirty="0">
              <a:latin typeface="Calibri" panose="020F0502020204030204" pitchFamily="34" charset="0"/>
              <a:ea typeface="Arial Unicode MS" panose="020B0604020202020204" pitchFamily="34" charset="-128"/>
              <a:cs typeface="Calibri" panose="020F0502020204030204" pitchFamily="34" charset="0"/>
            </a:endParaRPr>
          </a:p>
        </p:txBody>
      </p:sp>
      <p:sp>
        <p:nvSpPr>
          <p:cNvPr id="4" name="Text Placeholder 2">
            <a:extLst>
              <a:ext uri="{FF2B5EF4-FFF2-40B4-BE49-F238E27FC236}">
                <a16:creationId xmlns:a16="http://schemas.microsoft.com/office/drawing/2014/main" id="{D49964E8-83A0-00F6-1290-277688F3B0BB}"/>
              </a:ext>
            </a:extLst>
          </p:cNvPr>
          <p:cNvSpPr>
            <a:spLocks noGrp="1"/>
          </p:cNvSpPr>
          <p:nvPr>
            <p:ph type="body" sz="quarter" idx="10"/>
          </p:nvPr>
        </p:nvSpPr>
        <p:spPr>
          <a:xfrm>
            <a:off x="421200" y="1376437"/>
            <a:ext cx="5640933" cy="3067200"/>
          </a:xfrm>
        </p:spPr>
        <p:txBody>
          <a:bodyPr/>
          <a:lstStyle/>
          <a:p>
            <a:pPr>
              <a:lnSpc>
                <a:spcPct val="100000"/>
              </a:lnSpc>
              <a:spcAft>
                <a:spcPts val="375"/>
              </a:spcAft>
            </a:pPr>
            <a:r>
              <a:rPr lang="en-US" sz="1350" dirty="0"/>
              <a:t>Is my genome overcomplete? </a:t>
            </a:r>
            <a:r>
              <a:rPr lang="en-US" sz="900" dirty="0"/>
              <a:t>(e.g., &gt;&gt; 100% completeness)</a:t>
            </a:r>
          </a:p>
          <a:p>
            <a:pPr>
              <a:lnSpc>
                <a:spcPct val="100000"/>
              </a:lnSpc>
              <a:spcAft>
                <a:spcPts val="375"/>
              </a:spcAft>
            </a:pPr>
            <a:r>
              <a:rPr lang="en-US" sz="1350" dirty="0"/>
              <a:t>Anomalies found in GC % distribution? </a:t>
            </a:r>
            <a:r>
              <a:rPr lang="en-US" sz="2100" dirty="0"/>
              <a:t> </a:t>
            </a:r>
            <a:r>
              <a:rPr lang="en-US" sz="900" dirty="0"/>
              <a:t>(e.g., a bimodal distribution)</a:t>
            </a:r>
          </a:p>
          <a:p>
            <a:pPr>
              <a:lnSpc>
                <a:spcPct val="100000"/>
              </a:lnSpc>
              <a:spcAft>
                <a:spcPts val="375"/>
              </a:spcAft>
            </a:pPr>
            <a:r>
              <a:rPr lang="en-US" sz="1350" dirty="0"/>
              <a:t>Anomalies found in tetranucleotide profile?</a:t>
            </a:r>
          </a:p>
          <a:p>
            <a:pPr>
              <a:lnSpc>
                <a:spcPct val="100000"/>
              </a:lnSpc>
              <a:spcAft>
                <a:spcPts val="375"/>
              </a:spcAft>
            </a:pPr>
            <a:r>
              <a:rPr lang="en-US" sz="1350" dirty="0"/>
              <a:t>Is taxonomic assignment consistent at contig-level? </a:t>
            </a:r>
            <a:r>
              <a:rPr lang="en-US" sz="900" dirty="0"/>
              <a:t>(e.g., </a:t>
            </a:r>
            <a:r>
              <a:rPr lang="en-US" sz="900" i="1" dirty="0"/>
              <a:t>Homo sapiens </a:t>
            </a:r>
            <a:r>
              <a:rPr lang="en-US" sz="900" dirty="0"/>
              <a:t>contigs in a bacterial genome)</a:t>
            </a:r>
          </a:p>
          <a:p>
            <a:pPr>
              <a:lnSpc>
                <a:spcPct val="100000"/>
              </a:lnSpc>
              <a:spcAft>
                <a:spcPts val="375"/>
              </a:spcAft>
            </a:pPr>
            <a:endParaRPr lang="en-US" sz="1350" dirty="0"/>
          </a:p>
          <a:p>
            <a:pPr marL="0" indent="0">
              <a:lnSpc>
                <a:spcPct val="100000"/>
              </a:lnSpc>
              <a:spcAft>
                <a:spcPts val="375"/>
              </a:spcAft>
              <a:buNone/>
            </a:pPr>
            <a:r>
              <a:rPr lang="en-US" sz="1350" dirty="0"/>
              <a:t>What to do if contamination found?</a:t>
            </a:r>
          </a:p>
          <a:p>
            <a:pPr>
              <a:lnSpc>
                <a:spcPct val="100000"/>
              </a:lnSpc>
              <a:spcAft>
                <a:spcPts val="375"/>
              </a:spcAft>
            </a:pPr>
            <a:r>
              <a:rPr lang="en-US" sz="1350" dirty="0"/>
              <a:t>Decontaminate, manually or automatically                                                                      (e.g., </a:t>
            </a:r>
            <a:r>
              <a:rPr lang="en-US" sz="1350" dirty="0" err="1"/>
              <a:t>MDMcleaner</a:t>
            </a:r>
            <a:r>
              <a:rPr lang="en-US" sz="1350" dirty="0"/>
              <a:t>, </a:t>
            </a:r>
            <a:r>
              <a:rPr lang="en-US" sz="1350" dirty="0" err="1"/>
              <a:t>ProDeGe</a:t>
            </a:r>
            <a:r>
              <a:rPr lang="en-US" sz="1350" dirty="0"/>
              <a:t> or </a:t>
            </a:r>
            <a:r>
              <a:rPr lang="en-US" sz="1350" dirty="0" err="1"/>
              <a:t>MAGpurify</a:t>
            </a:r>
            <a:r>
              <a:rPr lang="en-US" sz="1350" dirty="0"/>
              <a:t>)</a:t>
            </a:r>
          </a:p>
        </p:txBody>
      </p:sp>
      <p:pic>
        <p:nvPicPr>
          <p:cNvPr id="6" name="Picture 5">
            <a:extLst>
              <a:ext uri="{FF2B5EF4-FFF2-40B4-BE49-F238E27FC236}">
                <a16:creationId xmlns:a16="http://schemas.microsoft.com/office/drawing/2014/main" id="{AC355920-DA24-96E8-AD73-C0859339DD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9921" y="2910037"/>
            <a:ext cx="3077216" cy="2024866"/>
          </a:xfrm>
          <a:prstGeom prst="rect">
            <a:avLst/>
          </a:prstGeom>
        </p:spPr>
      </p:pic>
    </p:spTree>
    <p:extLst>
      <p:ext uri="{BB962C8B-B14F-4D97-AF65-F5344CB8AC3E}">
        <p14:creationId xmlns:p14="http://schemas.microsoft.com/office/powerpoint/2010/main" val="8860431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70"/>
          <p:cNvSpPr/>
          <p:nvPr/>
        </p:nvSpPr>
        <p:spPr>
          <a:xfrm>
            <a:off x="-50" y="184700"/>
            <a:ext cx="9144000" cy="646500"/>
          </a:xfrm>
          <a:prstGeom prst="rect">
            <a:avLst/>
          </a:prstGeom>
          <a:solidFill>
            <a:srgbClr val="0022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9" name="Google Shape;1159;p70"/>
          <p:cNvSpPr txBox="1"/>
          <p:nvPr/>
        </p:nvSpPr>
        <p:spPr>
          <a:xfrm>
            <a:off x="75" y="215450"/>
            <a:ext cx="91440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b="1" dirty="0">
                <a:solidFill>
                  <a:schemeClr val="lt1"/>
                </a:solidFill>
              </a:rPr>
              <a:t>Assessing other assembly quality metrics</a:t>
            </a:r>
            <a:endParaRPr sz="2600" b="1" dirty="0">
              <a:solidFill>
                <a:schemeClr val="lt1"/>
              </a:solidFill>
            </a:endParaRPr>
          </a:p>
        </p:txBody>
      </p:sp>
      <p:sp>
        <p:nvSpPr>
          <p:cNvPr id="1160" name="Google Shape;1160;p70"/>
          <p:cNvSpPr txBox="1"/>
          <p:nvPr/>
        </p:nvSpPr>
        <p:spPr>
          <a:xfrm>
            <a:off x="376175" y="1099625"/>
            <a:ext cx="8413500" cy="29553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rgbClr val="002240"/>
              </a:buClr>
              <a:buSzPts val="1800"/>
              <a:buChar char="●"/>
            </a:pPr>
            <a:r>
              <a:rPr lang="en" sz="1800" b="1" dirty="0">
                <a:solidFill>
                  <a:srgbClr val="002240"/>
                </a:solidFill>
              </a:rPr>
              <a:t>Number</a:t>
            </a:r>
            <a:r>
              <a:rPr lang="en" sz="1800" dirty="0">
                <a:solidFill>
                  <a:srgbClr val="002240"/>
                </a:solidFill>
              </a:rPr>
              <a:t> of contigs</a:t>
            </a:r>
            <a:endParaRPr sz="1800" dirty="0">
              <a:solidFill>
                <a:srgbClr val="002240"/>
              </a:solidFill>
            </a:endParaRPr>
          </a:p>
          <a:p>
            <a:pPr marL="457200" lvl="0" indent="-342900" algn="l" rtl="0">
              <a:lnSpc>
                <a:spcPct val="150000"/>
              </a:lnSpc>
              <a:spcBef>
                <a:spcPts val="0"/>
              </a:spcBef>
              <a:spcAft>
                <a:spcPts val="0"/>
              </a:spcAft>
              <a:buClr>
                <a:srgbClr val="002240"/>
              </a:buClr>
              <a:buSzPts val="1800"/>
              <a:buChar char="●"/>
            </a:pPr>
            <a:r>
              <a:rPr lang="en" sz="1800" b="1" dirty="0">
                <a:solidFill>
                  <a:srgbClr val="002240"/>
                </a:solidFill>
              </a:rPr>
              <a:t>Average/median</a:t>
            </a:r>
            <a:r>
              <a:rPr lang="en" sz="1800" dirty="0">
                <a:solidFill>
                  <a:srgbClr val="002240"/>
                </a:solidFill>
              </a:rPr>
              <a:t> contig length</a:t>
            </a:r>
            <a:endParaRPr sz="1800" dirty="0">
              <a:solidFill>
                <a:srgbClr val="002240"/>
              </a:solidFill>
            </a:endParaRPr>
          </a:p>
          <a:p>
            <a:pPr marL="457200" lvl="0" indent="-342900" algn="l" rtl="0">
              <a:lnSpc>
                <a:spcPct val="150000"/>
              </a:lnSpc>
              <a:spcBef>
                <a:spcPts val="0"/>
              </a:spcBef>
              <a:spcAft>
                <a:spcPts val="0"/>
              </a:spcAft>
              <a:buClr>
                <a:srgbClr val="002240"/>
              </a:buClr>
              <a:buSzPts val="1800"/>
              <a:buChar char="●"/>
            </a:pPr>
            <a:r>
              <a:rPr lang="en" sz="1800" b="1" dirty="0">
                <a:solidFill>
                  <a:srgbClr val="002240"/>
                </a:solidFill>
              </a:rPr>
              <a:t>Min/Max </a:t>
            </a:r>
            <a:r>
              <a:rPr lang="en" sz="1800" dirty="0">
                <a:solidFill>
                  <a:srgbClr val="002240"/>
                </a:solidFill>
              </a:rPr>
              <a:t>contig length</a:t>
            </a:r>
            <a:endParaRPr sz="1800" dirty="0">
              <a:solidFill>
                <a:srgbClr val="002240"/>
              </a:solidFill>
            </a:endParaRPr>
          </a:p>
          <a:p>
            <a:pPr marL="457200" lvl="0" indent="-342900" algn="l" rtl="0">
              <a:lnSpc>
                <a:spcPct val="150000"/>
              </a:lnSpc>
              <a:spcBef>
                <a:spcPts val="0"/>
              </a:spcBef>
              <a:spcAft>
                <a:spcPts val="0"/>
              </a:spcAft>
              <a:buClr>
                <a:srgbClr val="002240"/>
              </a:buClr>
              <a:buSzPts val="1800"/>
              <a:buChar char="●"/>
            </a:pPr>
            <a:r>
              <a:rPr lang="en" sz="1800" b="1" dirty="0">
                <a:solidFill>
                  <a:srgbClr val="002240"/>
                </a:solidFill>
              </a:rPr>
              <a:t>N50:</a:t>
            </a:r>
            <a:r>
              <a:rPr lang="en" sz="1800" dirty="0">
                <a:solidFill>
                  <a:srgbClr val="002240"/>
                </a:solidFill>
              </a:rPr>
              <a:t> The length of the contigs which covers 50% of genome</a:t>
            </a:r>
            <a:endParaRPr sz="1800" dirty="0">
              <a:solidFill>
                <a:srgbClr val="002240"/>
              </a:solidFill>
            </a:endParaRPr>
          </a:p>
          <a:p>
            <a:pPr marL="457200" lvl="0" indent="-342900" algn="l" rtl="0">
              <a:lnSpc>
                <a:spcPct val="150000"/>
              </a:lnSpc>
              <a:spcBef>
                <a:spcPts val="0"/>
              </a:spcBef>
              <a:spcAft>
                <a:spcPts val="0"/>
              </a:spcAft>
              <a:buClr>
                <a:srgbClr val="002240"/>
              </a:buClr>
              <a:buSzPts val="1800"/>
              <a:buChar char="●"/>
            </a:pPr>
            <a:r>
              <a:rPr lang="en" sz="1800" b="1" dirty="0">
                <a:solidFill>
                  <a:srgbClr val="002240"/>
                </a:solidFill>
              </a:rPr>
              <a:t>Read recruitment:</a:t>
            </a:r>
            <a:r>
              <a:rPr lang="en" sz="1800" dirty="0">
                <a:solidFill>
                  <a:srgbClr val="002240"/>
                </a:solidFill>
              </a:rPr>
              <a:t> Percentage of all reads mapped back to the assembly</a:t>
            </a:r>
            <a:endParaRPr sz="1800" dirty="0">
              <a:solidFill>
                <a:srgbClr val="002240"/>
              </a:solidFill>
            </a:endParaRPr>
          </a:p>
          <a:p>
            <a:pPr marL="457200" lvl="0" indent="-342900" algn="l" rtl="0">
              <a:lnSpc>
                <a:spcPct val="150000"/>
              </a:lnSpc>
              <a:spcBef>
                <a:spcPts val="0"/>
              </a:spcBef>
              <a:spcAft>
                <a:spcPts val="0"/>
              </a:spcAft>
              <a:buClr>
                <a:srgbClr val="002240"/>
              </a:buClr>
              <a:buSzPts val="1800"/>
              <a:buChar char="●"/>
            </a:pPr>
            <a:r>
              <a:rPr lang="en" sz="1800" b="1" dirty="0">
                <a:solidFill>
                  <a:srgbClr val="002240"/>
                </a:solidFill>
              </a:rPr>
              <a:t>Evenness in depth along contig</a:t>
            </a:r>
            <a:br>
              <a:rPr lang="en" sz="1800" dirty="0">
                <a:solidFill>
                  <a:srgbClr val="002240"/>
                </a:solidFill>
              </a:rPr>
            </a:br>
            <a:endParaRPr sz="1800" dirty="0">
              <a:solidFill>
                <a:srgbClr val="002240"/>
              </a:solidFill>
            </a:endParaRPr>
          </a:p>
        </p:txBody>
      </p:sp>
      <p:sp>
        <p:nvSpPr>
          <p:cNvPr id="1161" name="Google Shape;1161;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37</a:t>
            </a:fld>
            <a:endParaRPr/>
          </a:p>
        </p:txBody>
      </p:sp>
      <p:pic>
        <p:nvPicPr>
          <p:cNvPr id="1162" name="Google Shape;1162;p70"/>
          <p:cNvPicPr preferRelativeResize="0"/>
          <p:nvPr/>
        </p:nvPicPr>
        <p:blipFill>
          <a:blip r:embed="rId3">
            <a:alphaModFix/>
          </a:blip>
          <a:stretch>
            <a:fillRect/>
          </a:stretch>
        </p:blipFill>
        <p:spPr>
          <a:xfrm>
            <a:off x="1016950" y="3753050"/>
            <a:ext cx="7548652" cy="1105750"/>
          </a:xfrm>
          <a:prstGeom prst="rect">
            <a:avLst/>
          </a:prstGeom>
          <a:noFill/>
          <a:ln>
            <a:noFill/>
          </a:ln>
        </p:spPr>
      </p:pic>
      <p:sp>
        <p:nvSpPr>
          <p:cNvPr id="1163" name="Google Shape;1163;p70"/>
          <p:cNvSpPr txBox="1"/>
          <p:nvPr/>
        </p:nvSpPr>
        <p:spPr>
          <a:xfrm>
            <a:off x="6857896" y="4858790"/>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https://merenlab.org</a:t>
            </a:r>
            <a:endParaRPr sz="1100" b="0" i="0" u="none" strike="noStrike" cap="none">
              <a:solidFill>
                <a:srgbClr val="000000"/>
              </a:solidFill>
              <a:latin typeface="Arial"/>
              <a:ea typeface="Arial"/>
              <a:cs typeface="Arial"/>
              <a:sym typeface="Arial"/>
            </a:endParaRPr>
          </a:p>
        </p:txBody>
      </p:sp>
      <p:pic>
        <p:nvPicPr>
          <p:cNvPr id="1164" name="Google Shape;1164;p70"/>
          <p:cNvPicPr preferRelativeResize="0"/>
          <p:nvPr/>
        </p:nvPicPr>
        <p:blipFill>
          <a:blip r:embed="rId4">
            <a:alphaModFix/>
          </a:blip>
          <a:stretch>
            <a:fillRect/>
          </a:stretch>
        </p:blipFill>
        <p:spPr>
          <a:xfrm>
            <a:off x="7367946" y="889998"/>
            <a:ext cx="1705580" cy="585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7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a:latin typeface="Arial"/>
                <a:ea typeface="Arial"/>
                <a:cs typeface="Arial"/>
                <a:sym typeface="Arial"/>
              </a:rPr>
              <a:t>Metagenomics workflow: </a:t>
            </a:r>
            <a:r>
              <a:rPr lang="en"/>
              <a:t>Coverage</a:t>
            </a:r>
            <a:endParaRPr/>
          </a:p>
        </p:txBody>
      </p:sp>
      <p:sp>
        <p:nvSpPr>
          <p:cNvPr id="1281" name="Google Shape;1281;p72"/>
          <p:cNvSpPr/>
          <p:nvPr/>
        </p:nvSpPr>
        <p:spPr>
          <a:xfrm>
            <a:off x="2378028" y="1226624"/>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82" name="Google Shape;1282;p72"/>
          <p:cNvSpPr/>
          <p:nvPr/>
        </p:nvSpPr>
        <p:spPr>
          <a:xfrm>
            <a:off x="2235152" y="1663653"/>
            <a:ext cx="344400" cy="344400"/>
          </a:xfrm>
          <a:prstGeom prst="ellipse">
            <a:avLst/>
          </a:prstGeom>
          <a:solidFill>
            <a:schemeClr val="lt1"/>
          </a:solidFill>
          <a:ln w="571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83" name="Google Shape;1283;p72"/>
          <p:cNvSpPr/>
          <p:nvPr/>
        </p:nvSpPr>
        <p:spPr>
          <a:xfrm>
            <a:off x="2697395" y="1571204"/>
            <a:ext cx="344400" cy="344400"/>
          </a:xfrm>
          <a:prstGeom prst="ellipse">
            <a:avLst/>
          </a:prstGeom>
          <a:solidFill>
            <a:schemeClr val="lt1"/>
          </a:solidFill>
          <a:ln w="5715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84" name="Google Shape;1284;p72"/>
          <p:cNvSpPr/>
          <p:nvPr/>
        </p:nvSpPr>
        <p:spPr>
          <a:xfrm>
            <a:off x="2470476" y="2058661"/>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85" name="Google Shape;1285;p72"/>
          <p:cNvSpPr/>
          <p:nvPr/>
        </p:nvSpPr>
        <p:spPr>
          <a:xfrm>
            <a:off x="3494924" y="17050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1286" name="Google Shape;1286;p72" descr="DNA with solid fill"/>
          <p:cNvPicPr preferRelativeResize="0"/>
          <p:nvPr/>
        </p:nvPicPr>
        <p:blipFill rotWithShape="1">
          <a:blip r:embed="rId3">
            <a:alphaModFix/>
          </a:blip>
          <a:srcRect/>
          <a:stretch/>
        </p:blipFill>
        <p:spPr>
          <a:xfrm>
            <a:off x="4729163" y="1330342"/>
            <a:ext cx="1005167" cy="1013572"/>
          </a:xfrm>
          <a:prstGeom prst="rect">
            <a:avLst/>
          </a:prstGeom>
          <a:noFill/>
          <a:ln>
            <a:noFill/>
          </a:ln>
        </p:spPr>
      </p:pic>
      <p:pic>
        <p:nvPicPr>
          <p:cNvPr id="1287" name="Google Shape;1287;p72" descr="A picture containing electronics, indoor, computer&#10;&#10;Description automatically generated"/>
          <p:cNvPicPr preferRelativeResize="0"/>
          <p:nvPr/>
        </p:nvPicPr>
        <p:blipFill rotWithShape="1">
          <a:blip r:embed="rId4">
            <a:alphaModFix/>
          </a:blip>
          <a:srcRect/>
          <a:stretch/>
        </p:blipFill>
        <p:spPr>
          <a:xfrm>
            <a:off x="5518337" y="1607583"/>
            <a:ext cx="2057400" cy="1407262"/>
          </a:xfrm>
          <a:prstGeom prst="rect">
            <a:avLst/>
          </a:prstGeom>
          <a:noFill/>
          <a:ln>
            <a:noFill/>
          </a:ln>
        </p:spPr>
      </p:pic>
      <p:sp>
        <p:nvSpPr>
          <p:cNvPr id="1288" name="Google Shape;1288;p72"/>
          <p:cNvSpPr txBox="1"/>
          <p:nvPr/>
        </p:nvSpPr>
        <p:spPr>
          <a:xfrm>
            <a:off x="3408830" y="1408580"/>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DNA extraction</a:t>
            </a:r>
            <a:endParaRPr sz="1100" b="0" i="0" u="none" strike="noStrike" cap="none">
              <a:solidFill>
                <a:srgbClr val="000000"/>
              </a:solidFill>
              <a:latin typeface="Arial"/>
              <a:ea typeface="Arial"/>
              <a:cs typeface="Arial"/>
              <a:sym typeface="Arial"/>
            </a:endParaRPr>
          </a:p>
        </p:txBody>
      </p:sp>
      <p:sp>
        <p:nvSpPr>
          <p:cNvPr id="1289" name="Google Shape;1289;p72"/>
          <p:cNvSpPr txBox="1"/>
          <p:nvPr/>
        </p:nvSpPr>
        <p:spPr>
          <a:xfrm>
            <a:off x="6022600" y="1383365"/>
            <a:ext cx="948000" cy="500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Sequencing</a:t>
            </a:r>
            <a:endParaRPr sz="1100" b="0" i="0" u="none" strike="noStrike" cap="none">
              <a:solidFill>
                <a:srgbClr val="000000"/>
              </a:solidFill>
              <a:latin typeface="Arial"/>
              <a:ea typeface="Arial"/>
              <a:cs typeface="Arial"/>
              <a:sym typeface="Arial"/>
            </a:endParaRPr>
          </a:p>
        </p:txBody>
      </p:sp>
      <p:sp>
        <p:nvSpPr>
          <p:cNvPr id="1290" name="Google Shape;1290;p72"/>
          <p:cNvSpPr/>
          <p:nvPr/>
        </p:nvSpPr>
        <p:spPr>
          <a:xfrm>
            <a:off x="6024651" y="1688245"/>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91" name="Google Shape;1291;p72"/>
          <p:cNvSpPr/>
          <p:nvPr/>
        </p:nvSpPr>
        <p:spPr>
          <a:xfrm>
            <a:off x="7597168" y="151237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92" name="Google Shape;1292;p72"/>
          <p:cNvSpPr/>
          <p:nvPr/>
        </p:nvSpPr>
        <p:spPr>
          <a:xfrm>
            <a:off x="7849300" y="176450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93" name="Google Shape;1293;p72"/>
          <p:cNvSpPr/>
          <p:nvPr/>
        </p:nvSpPr>
        <p:spPr>
          <a:xfrm>
            <a:off x="7958557" y="187376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94" name="Google Shape;1294;p72"/>
          <p:cNvSpPr/>
          <p:nvPr/>
        </p:nvSpPr>
        <p:spPr>
          <a:xfrm>
            <a:off x="8345160" y="145354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95" name="Google Shape;1295;p72"/>
          <p:cNvSpPr/>
          <p:nvPr/>
        </p:nvSpPr>
        <p:spPr>
          <a:xfrm>
            <a:off x="7597167" y="2344409"/>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96" name="Google Shape;1296;p72"/>
          <p:cNvSpPr/>
          <p:nvPr/>
        </p:nvSpPr>
        <p:spPr>
          <a:xfrm>
            <a:off x="7983770" y="224355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97" name="Google Shape;1297;p72"/>
          <p:cNvSpPr/>
          <p:nvPr/>
        </p:nvSpPr>
        <p:spPr>
          <a:xfrm>
            <a:off x="8252711" y="215951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98" name="Google Shape;1298;p72"/>
          <p:cNvSpPr/>
          <p:nvPr/>
        </p:nvSpPr>
        <p:spPr>
          <a:xfrm>
            <a:off x="8076219" y="236962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99" name="Google Shape;1299;p72"/>
          <p:cNvSpPr/>
          <p:nvPr/>
        </p:nvSpPr>
        <p:spPr>
          <a:xfrm>
            <a:off x="8143454" y="161322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0" name="Google Shape;1300;p72"/>
          <p:cNvSpPr/>
          <p:nvPr/>
        </p:nvSpPr>
        <p:spPr>
          <a:xfrm>
            <a:off x="8252711" y="172248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1" name="Google Shape;1301;p72"/>
          <p:cNvSpPr/>
          <p:nvPr/>
        </p:nvSpPr>
        <p:spPr>
          <a:xfrm>
            <a:off x="7714828" y="1655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2" name="Google Shape;1302;p72"/>
          <p:cNvSpPr/>
          <p:nvPr/>
        </p:nvSpPr>
        <p:spPr>
          <a:xfrm>
            <a:off x="7529931" y="19409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3" name="Google Shape;1303;p72"/>
          <p:cNvSpPr/>
          <p:nvPr/>
        </p:nvSpPr>
        <p:spPr>
          <a:xfrm>
            <a:off x="8437607" y="202504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4" name="Google Shape;1304;p72"/>
          <p:cNvSpPr/>
          <p:nvPr/>
        </p:nvSpPr>
        <p:spPr>
          <a:xfrm>
            <a:off x="8437607"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5" name="Google Shape;1305;p72"/>
          <p:cNvSpPr/>
          <p:nvPr/>
        </p:nvSpPr>
        <p:spPr>
          <a:xfrm>
            <a:off x="7630783" y="2159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6" name="Google Shape;1306;p72"/>
          <p:cNvSpPr/>
          <p:nvPr/>
        </p:nvSpPr>
        <p:spPr>
          <a:xfrm>
            <a:off x="8034194" y="205025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7" name="Google Shape;1307;p72"/>
          <p:cNvSpPr/>
          <p:nvPr/>
        </p:nvSpPr>
        <p:spPr>
          <a:xfrm>
            <a:off x="7849297" y="24956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08" name="Google Shape;1308;p72"/>
          <p:cNvSpPr txBox="1"/>
          <p:nvPr/>
        </p:nvSpPr>
        <p:spPr>
          <a:xfrm>
            <a:off x="7854762" y="1080806"/>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Reads</a:t>
            </a:r>
            <a:endParaRPr sz="1500" b="1" i="0" u="none" strike="noStrike" cap="none">
              <a:solidFill>
                <a:schemeClr val="dk1"/>
              </a:solidFill>
              <a:latin typeface="Calibri"/>
              <a:ea typeface="Calibri"/>
              <a:cs typeface="Calibri"/>
              <a:sym typeface="Calibri"/>
            </a:endParaRPr>
          </a:p>
        </p:txBody>
      </p:sp>
      <p:sp>
        <p:nvSpPr>
          <p:cNvPr id="1309" name="Google Shape;1309;p72"/>
          <p:cNvSpPr txBox="1"/>
          <p:nvPr/>
        </p:nvSpPr>
        <p:spPr>
          <a:xfrm>
            <a:off x="7669865" y="2618813"/>
            <a:ext cx="948000" cy="500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100-150 bp</a:t>
            </a:r>
            <a:endParaRPr sz="1100" b="0" i="0" u="none" strike="noStrike" cap="none">
              <a:solidFill>
                <a:srgbClr val="000000"/>
              </a:solidFill>
              <a:latin typeface="Arial"/>
              <a:ea typeface="Arial"/>
              <a:cs typeface="Arial"/>
              <a:sym typeface="Arial"/>
            </a:endParaRPr>
          </a:p>
        </p:txBody>
      </p:sp>
      <p:sp>
        <p:nvSpPr>
          <p:cNvPr id="1310" name="Google Shape;1310;p72"/>
          <p:cNvSpPr/>
          <p:nvPr/>
        </p:nvSpPr>
        <p:spPr>
          <a:xfrm rot="5400000">
            <a:off x="7894660" y="3180091"/>
            <a:ext cx="504300" cy="1764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11" name="Google Shape;1311;p72"/>
          <p:cNvSpPr/>
          <p:nvPr/>
        </p:nvSpPr>
        <p:spPr>
          <a:xfrm>
            <a:off x="7706423" y="3865608"/>
            <a:ext cx="1370100" cy="84300"/>
          </a:xfrm>
          <a:prstGeom prst="rect">
            <a:avLst/>
          </a:prstGeom>
          <a:solidFill>
            <a:srgbClr val="38562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12" name="Google Shape;1312;p72"/>
          <p:cNvSpPr/>
          <p:nvPr/>
        </p:nvSpPr>
        <p:spPr>
          <a:xfrm>
            <a:off x="7588761"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13" name="Google Shape;1313;p72"/>
          <p:cNvSpPr/>
          <p:nvPr/>
        </p:nvSpPr>
        <p:spPr>
          <a:xfrm>
            <a:off x="7351526" y="4012301"/>
            <a:ext cx="1337100" cy="84300"/>
          </a:xfrm>
          <a:prstGeom prst="rect">
            <a:avLst/>
          </a:prstGeom>
          <a:solidFill>
            <a:srgbClr val="38562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14" name="Google Shape;1314;p72"/>
          <p:cNvSpPr/>
          <p:nvPr/>
        </p:nvSpPr>
        <p:spPr>
          <a:xfrm>
            <a:off x="7588762" y="4176571"/>
            <a:ext cx="1454100" cy="84300"/>
          </a:xfrm>
          <a:prstGeom prst="rect">
            <a:avLst/>
          </a:prstGeom>
          <a:solidFill>
            <a:srgbClr val="38562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15" name="Google Shape;1315;p72"/>
          <p:cNvSpPr txBox="1"/>
          <p:nvPr/>
        </p:nvSpPr>
        <p:spPr>
          <a:xfrm>
            <a:off x="7888379" y="3526489"/>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Scaffolds</a:t>
            </a:r>
            <a:endParaRPr sz="1400" b="0" i="0" u="none" strike="noStrike" cap="none">
              <a:solidFill>
                <a:schemeClr val="dk1"/>
              </a:solidFill>
              <a:latin typeface="Calibri"/>
              <a:ea typeface="Calibri"/>
              <a:cs typeface="Calibri"/>
              <a:sym typeface="Calibri"/>
            </a:endParaRPr>
          </a:p>
        </p:txBody>
      </p:sp>
      <p:sp>
        <p:nvSpPr>
          <p:cNvPr id="1316" name="Google Shape;1316;p72"/>
          <p:cNvSpPr txBox="1"/>
          <p:nvPr/>
        </p:nvSpPr>
        <p:spPr>
          <a:xfrm>
            <a:off x="7669865" y="4476188"/>
            <a:ext cx="948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1000+ bp</a:t>
            </a:r>
            <a:endParaRPr sz="1100" b="0" i="0" u="none" strike="noStrike" cap="none">
              <a:solidFill>
                <a:srgbClr val="000000"/>
              </a:solidFill>
              <a:latin typeface="Arial"/>
              <a:ea typeface="Arial"/>
              <a:cs typeface="Arial"/>
              <a:sym typeface="Arial"/>
            </a:endParaRPr>
          </a:p>
        </p:txBody>
      </p:sp>
      <p:sp>
        <p:nvSpPr>
          <p:cNvPr id="1317" name="Google Shape;1317;p72"/>
          <p:cNvSpPr txBox="1"/>
          <p:nvPr/>
        </p:nvSpPr>
        <p:spPr>
          <a:xfrm>
            <a:off x="7274297" y="3131483"/>
            <a:ext cx="948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Assembly</a:t>
            </a:r>
            <a:endParaRPr sz="1100" b="0" i="0" u="none" strike="noStrike" cap="none">
              <a:solidFill>
                <a:srgbClr val="000000"/>
              </a:solidFill>
              <a:latin typeface="Arial"/>
              <a:ea typeface="Arial"/>
              <a:cs typeface="Arial"/>
              <a:sym typeface="Arial"/>
            </a:endParaRPr>
          </a:p>
        </p:txBody>
      </p:sp>
      <p:grpSp>
        <p:nvGrpSpPr>
          <p:cNvPr id="1318" name="Google Shape;1318;p72"/>
          <p:cNvGrpSpPr/>
          <p:nvPr/>
        </p:nvGrpSpPr>
        <p:grpSpPr>
          <a:xfrm>
            <a:off x="6024648" y="3192660"/>
            <a:ext cx="1350228" cy="1675880"/>
            <a:chOff x="8032864" y="4256880"/>
            <a:chExt cx="1800304" cy="2234507"/>
          </a:xfrm>
        </p:grpSpPr>
        <p:sp>
          <p:nvSpPr>
            <p:cNvPr id="1319" name="Google Shape;1319;p72"/>
            <p:cNvSpPr txBox="1"/>
            <p:nvPr/>
          </p:nvSpPr>
          <p:spPr>
            <a:xfrm>
              <a:off x="8287868" y="5574410"/>
              <a:ext cx="15453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Function</a:t>
              </a:r>
              <a:endParaRPr sz="1100" b="0" i="0" u="none" strike="noStrike" cap="none">
                <a:solidFill>
                  <a:srgbClr val="000000"/>
                </a:solidFill>
                <a:latin typeface="Arial"/>
                <a:ea typeface="Arial"/>
                <a:cs typeface="Arial"/>
                <a:sym typeface="Arial"/>
              </a:endParaRPr>
            </a:p>
          </p:txBody>
        </p:sp>
        <p:grpSp>
          <p:nvGrpSpPr>
            <p:cNvPr id="1320" name="Google Shape;1320;p72"/>
            <p:cNvGrpSpPr/>
            <p:nvPr/>
          </p:nvGrpSpPr>
          <p:grpSpPr>
            <a:xfrm>
              <a:off x="8032864" y="4256880"/>
              <a:ext cx="1511104" cy="2234507"/>
              <a:chOff x="8032864" y="4256880"/>
              <a:chExt cx="1511104" cy="2234507"/>
            </a:xfrm>
          </p:grpSpPr>
          <p:sp>
            <p:nvSpPr>
              <p:cNvPr id="1321" name="Google Shape;1321;p72"/>
              <p:cNvSpPr/>
              <p:nvPr/>
            </p:nvSpPr>
            <p:spPr>
              <a:xfrm rot="10800000">
                <a:off x="8032866" y="4256880"/>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22" name="Google Shape;1322;p72"/>
              <p:cNvSpPr txBox="1"/>
              <p:nvPr/>
            </p:nvSpPr>
            <p:spPr>
              <a:xfrm>
                <a:off x="8287868" y="4399426"/>
                <a:ext cx="12561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Mapping</a:t>
                </a:r>
                <a:endParaRPr sz="1100" b="0" i="0" u="none" strike="noStrike" cap="none">
                  <a:solidFill>
                    <a:srgbClr val="000000"/>
                  </a:solidFill>
                  <a:latin typeface="Arial"/>
                  <a:ea typeface="Arial"/>
                  <a:cs typeface="Arial"/>
                  <a:sym typeface="Arial"/>
                </a:endParaRPr>
              </a:p>
            </p:txBody>
          </p:sp>
          <p:sp>
            <p:nvSpPr>
              <p:cNvPr id="1323" name="Google Shape;1323;p72"/>
              <p:cNvSpPr/>
              <p:nvPr/>
            </p:nvSpPr>
            <p:spPr>
              <a:xfrm rot="10800000">
                <a:off x="8055277" y="4822607"/>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24" name="Google Shape;1324;p72"/>
              <p:cNvSpPr/>
              <p:nvPr/>
            </p:nvSpPr>
            <p:spPr>
              <a:xfrm rot="10800000">
                <a:off x="8032865" y="5396993"/>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25" name="Google Shape;1325;p72"/>
              <p:cNvSpPr/>
              <p:nvPr/>
            </p:nvSpPr>
            <p:spPr>
              <a:xfrm rot="10800000">
                <a:off x="8032864" y="5971379"/>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26" name="Google Shape;1326;p72"/>
              <p:cNvSpPr txBox="1"/>
              <p:nvPr/>
            </p:nvSpPr>
            <p:spPr>
              <a:xfrm>
                <a:off x="8287868" y="4979549"/>
                <a:ext cx="12561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Taxonomy </a:t>
                </a:r>
                <a:endParaRPr sz="1400" b="0" i="0" u="none" strike="noStrike" cap="none">
                  <a:solidFill>
                    <a:schemeClr val="dk1"/>
                  </a:solidFill>
                  <a:latin typeface="Calibri"/>
                  <a:ea typeface="Calibri"/>
                  <a:cs typeface="Calibri"/>
                  <a:sym typeface="Calibri"/>
                </a:endParaRPr>
              </a:p>
            </p:txBody>
          </p:sp>
          <p:sp>
            <p:nvSpPr>
              <p:cNvPr id="1327" name="Google Shape;1327;p72"/>
              <p:cNvSpPr txBox="1"/>
              <p:nvPr/>
            </p:nvSpPr>
            <p:spPr>
              <a:xfrm>
                <a:off x="8287868" y="6111887"/>
                <a:ext cx="11688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Genome</a:t>
                </a:r>
                <a:endParaRPr sz="1400" b="0" i="0" u="none" strike="noStrike" cap="none">
                  <a:solidFill>
                    <a:schemeClr val="dk1"/>
                  </a:solidFill>
                  <a:latin typeface="Calibri"/>
                  <a:ea typeface="Calibri"/>
                  <a:cs typeface="Calibri"/>
                  <a:sym typeface="Calibri"/>
                </a:endParaRPr>
              </a:p>
            </p:txBody>
          </p:sp>
        </p:grpSp>
      </p:grpSp>
      <p:sp>
        <p:nvSpPr>
          <p:cNvPr id="1328" name="Google Shape;1328;p72"/>
          <p:cNvSpPr/>
          <p:nvPr/>
        </p:nvSpPr>
        <p:spPr>
          <a:xfrm>
            <a:off x="7216752" y="4317613"/>
            <a:ext cx="1857000" cy="84300"/>
          </a:xfrm>
          <a:prstGeom prst="rect">
            <a:avLst/>
          </a:prstGeom>
          <a:solidFill>
            <a:srgbClr val="38562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29" name="Google Shape;1329;p72"/>
          <p:cNvSpPr/>
          <p:nvPr/>
        </p:nvSpPr>
        <p:spPr>
          <a:xfrm>
            <a:off x="5804576" y="3078375"/>
            <a:ext cx="1454100" cy="501900"/>
          </a:xfrm>
          <a:prstGeom prst="rect">
            <a:avLst/>
          </a:prstGeom>
          <a:noFill/>
          <a:ln w="57150" cap="flat" cmpd="sng">
            <a:solidFill>
              <a:srgbClr val="38562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31" name="Google Shape;1331;p7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38</a:t>
            </a:fld>
            <a:endParaRPr/>
          </a:p>
        </p:txBody>
      </p:sp>
      <p:sp>
        <p:nvSpPr>
          <p:cNvPr id="1334" name="Google Shape;1334;p72"/>
          <p:cNvSpPr txBox="1"/>
          <p:nvPr/>
        </p:nvSpPr>
        <p:spPr>
          <a:xfrm>
            <a:off x="3281600" y="3179100"/>
            <a:ext cx="13701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e.g. Bowtie2</a:t>
            </a:r>
            <a:endParaRPr sz="1800">
              <a:solidFill>
                <a:schemeClr val="dk2"/>
              </a:solidFill>
            </a:endParaRPr>
          </a:p>
          <a:p>
            <a:pPr marL="0" lvl="0" indent="0" algn="l" rtl="0">
              <a:spcBef>
                <a:spcPts val="0"/>
              </a:spcBef>
              <a:spcAft>
                <a:spcPts val="0"/>
              </a:spcAft>
              <a:buNone/>
            </a:pPr>
            <a:r>
              <a:rPr lang="en" sz="1800">
                <a:solidFill>
                  <a:schemeClr val="dk2"/>
                </a:solidFill>
              </a:rPr>
              <a:t>BWA</a:t>
            </a:r>
            <a:endParaRPr sz="1800">
              <a:solidFill>
                <a:schemeClr val="dk2"/>
              </a:solidFill>
            </a:endParaRPr>
          </a:p>
          <a:p>
            <a:pPr marL="0" lvl="0" indent="0" algn="l" rtl="0">
              <a:spcBef>
                <a:spcPts val="0"/>
              </a:spcBef>
              <a:spcAft>
                <a:spcPts val="0"/>
              </a:spcAft>
              <a:buNone/>
            </a:pPr>
            <a:r>
              <a:rPr lang="en" sz="1800">
                <a:solidFill>
                  <a:schemeClr val="dk2"/>
                </a:solidFill>
              </a:rPr>
              <a:t>SAMtools</a:t>
            </a:r>
            <a:endParaRPr sz="1800">
              <a:solidFill>
                <a:schemeClr val="dk2"/>
              </a:solidFill>
            </a:endParaRPr>
          </a:p>
          <a:p>
            <a:pPr marL="0" lvl="0" indent="0" algn="l" rtl="0">
              <a:spcBef>
                <a:spcPts val="0"/>
              </a:spcBef>
              <a:spcAft>
                <a:spcPts val="0"/>
              </a:spcAft>
              <a:buNone/>
            </a:pPr>
            <a:r>
              <a:rPr lang="en" sz="1800">
                <a:solidFill>
                  <a:schemeClr val="dk2"/>
                </a:solidFill>
              </a:rPr>
              <a:t>…</a:t>
            </a:r>
            <a:endParaRPr sz="1800">
              <a:solidFill>
                <a:schemeClr val="dk2"/>
              </a:solidFill>
            </a:endParaRPr>
          </a:p>
        </p:txBody>
      </p:sp>
      <p:pic>
        <p:nvPicPr>
          <p:cNvPr id="4" name="Google Shape;111;p16">
            <a:extLst>
              <a:ext uri="{FF2B5EF4-FFF2-40B4-BE49-F238E27FC236}">
                <a16:creationId xmlns:a16="http://schemas.microsoft.com/office/drawing/2014/main" id="{940EAF1E-DC44-3D04-9A84-BF6D239832F5}"/>
              </a:ext>
            </a:extLst>
          </p:cNvPr>
          <p:cNvPicPr preferRelativeResize="0"/>
          <p:nvPr/>
        </p:nvPicPr>
        <p:blipFill rotWithShape="1">
          <a:blip r:embed="rId5">
            <a:alphaModFix/>
          </a:blip>
          <a:srcRect t="44399" r="41038" b="28367"/>
          <a:stretch/>
        </p:blipFill>
        <p:spPr>
          <a:xfrm>
            <a:off x="55129" y="1132205"/>
            <a:ext cx="1866899" cy="14072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73"/>
          <p:cNvSpPr txBox="1"/>
          <p:nvPr/>
        </p:nvSpPr>
        <p:spPr>
          <a:xfrm>
            <a:off x="2131170" y="179608"/>
            <a:ext cx="11067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sng" strike="noStrike" cap="none">
                <a:solidFill>
                  <a:schemeClr val="dk1"/>
                </a:solidFill>
                <a:latin typeface="Calibri"/>
                <a:ea typeface="Calibri"/>
                <a:cs typeface="Calibri"/>
                <a:sym typeface="Calibri"/>
              </a:rPr>
              <a:t>Coverage</a:t>
            </a:r>
            <a:endParaRPr sz="1800" b="1" i="0" u="sng" strike="noStrike" cap="none">
              <a:solidFill>
                <a:schemeClr val="dk1"/>
              </a:solidFill>
              <a:latin typeface="Calibri"/>
              <a:ea typeface="Calibri"/>
              <a:cs typeface="Calibri"/>
              <a:sym typeface="Calibri"/>
            </a:endParaRPr>
          </a:p>
        </p:txBody>
      </p:sp>
      <p:sp>
        <p:nvSpPr>
          <p:cNvPr id="1341" name="Google Shape;1341;p73"/>
          <p:cNvSpPr txBox="1"/>
          <p:nvPr/>
        </p:nvSpPr>
        <p:spPr>
          <a:xfrm rot="-5400000">
            <a:off x="-100952" y="899510"/>
            <a:ext cx="7407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sng" strike="noStrike" cap="none">
                <a:solidFill>
                  <a:srgbClr val="4AAB73"/>
                </a:solidFill>
                <a:latin typeface="Calibri"/>
                <a:ea typeface="Calibri"/>
                <a:cs typeface="Calibri"/>
                <a:sym typeface="Calibri"/>
              </a:rPr>
              <a:t>Depth</a:t>
            </a:r>
            <a:endParaRPr sz="1800" b="1" i="0" u="sng" strike="noStrike" cap="none">
              <a:solidFill>
                <a:srgbClr val="4AAB73"/>
              </a:solidFill>
              <a:latin typeface="Calibri"/>
              <a:ea typeface="Calibri"/>
              <a:cs typeface="Calibri"/>
              <a:sym typeface="Calibri"/>
            </a:endParaRPr>
          </a:p>
        </p:txBody>
      </p:sp>
      <p:sp>
        <p:nvSpPr>
          <p:cNvPr id="1342" name="Google Shape;1342;p73"/>
          <p:cNvSpPr txBox="1"/>
          <p:nvPr/>
        </p:nvSpPr>
        <p:spPr>
          <a:xfrm>
            <a:off x="2282072" y="1817501"/>
            <a:ext cx="949662" cy="34621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sng" strike="noStrike" cap="none" dirty="0">
                <a:solidFill>
                  <a:srgbClr val="E06666"/>
                </a:solidFill>
                <a:latin typeface="Calibri"/>
                <a:ea typeface="Calibri"/>
                <a:cs typeface="Calibri"/>
                <a:sym typeface="Calibri"/>
              </a:rPr>
              <a:t>Breadth</a:t>
            </a:r>
            <a:endParaRPr sz="1800" b="1" i="0" u="sng" strike="noStrike" cap="none" dirty="0">
              <a:solidFill>
                <a:srgbClr val="E06666"/>
              </a:solidFill>
              <a:latin typeface="Calibri"/>
              <a:ea typeface="Calibri"/>
              <a:cs typeface="Calibri"/>
              <a:sym typeface="Calibri"/>
            </a:endParaRPr>
          </a:p>
        </p:txBody>
      </p:sp>
      <p:cxnSp>
        <p:nvCxnSpPr>
          <p:cNvPr id="1343" name="Google Shape;1343;p73"/>
          <p:cNvCxnSpPr/>
          <p:nvPr/>
        </p:nvCxnSpPr>
        <p:spPr>
          <a:xfrm rot="10800000" flipH="1">
            <a:off x="1736258" y="1846364"/>
            <a:ext cx="1893900" cy="2700"/>
          </a:xfrm>
          <a:prstGeom prst="straightConnector1">
            <a:avLst/>
          </a:prstGeom>
          <a:noFill/>
          <a:ln w="28575" cap="flat" cmpd="sng">
            <a:solidFill>
              <a:srgbClr val="E06666"/>
            </a:solidFill>
            <a:prstDash val="solid"/>
            <a:miter lim="800000"/>
            <a:headEnd type="triangle" w="med" len="med"/>
            <a:tailEnd type="triangle" w="med" len="med"/>
          </a:ln>
        </p:spPr>
      </p:cxnSp>
      <p:cxnSp>
        <p:nvCxnSpPr>
          <p:cNvPr id="1344" name="Google Shape;1344;p73"/>
          <p:cNvCxnSpPr/>
          <p:nvPr/>
        </p:nvCxnSpPr>
        <p:spPr>
          <a:xfrm rot="10800000" flipH="1">
            <a:off x="518947" y="655435"/>
            <a:ext cx="3900" cy="827400"/>
          </a:xfrm>
          <a:prstGeom prst="straightConnector1">
            <a:avLst/>
          </a:prstGeom>
          <a:noFill/>
          <a:ln w="28575" cap="flat" cmpd="sng">
            <a:solidFill>
              <a:srgbClr val="4AAB73"/>
            </a:solidFill>
            <a:prstDash val="solid"/>
            <a:miter lim="800000"/>
            <a:headEnd type="triangle" w="med" len="med"/>
            <a:tailEnd type="triangle" w="med" len="med"/>
          </a:ln>
        </p:spPr>
      </p:cxnSp>
      <p:grpSp>
        <p:nvGrpSpPr>
          <p:cNvPr id="1345" name="Google Shape;1345;p73"/>
          <p:cNvGrpSpPr/>
          <p:nvPr/>
        </p:nvGrpSpPr>
        <p:grpSpPr>
          <a:xfrm>
            <a:off x="644627" y="609815"/>
            <a:ext cx="4076892" cy="870422"/>
            <a:chOff x="3039599" y="826025"/>
            <a:chExt cx="5435856" cy="1160563"/>
          </a:xfrm>
        </p:grpSpPr>
        <p:sp>
          <p:nvSpPr>
            <p:cNvPr id="1346" name="Google Shape;1346;p73"/>
            <p:cNvSpPr/>
            <p:nvPr/>
          </p:nvSpPr>
          <p:spPr>
            <a:xfrm>
              <a:off x="4498912" y="826029"/>
              <a:ext cx="24327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47" name="Google Shape;1347;p73"/>
            <p:cNvSpPr/>
            <p:nvPr/>
          </p:nvSpPr>
          <p:spPr>
            <a:xfrm>
              <a:off x="3039599" y="826025"/>
              <a:ext cx="13671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48" name="Google Shape;1348;p73"/>
            <p:cNvSpPr/>
            <p:nvPr/>
          </p:nvSpPr>
          <p:spPr>
            <a:xfrm>
              <a:off x="7108355" y="826028"/>
              <a:ext cx="13671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49" name="Google Shape;1349;p73"/>
            <p:cNvSpPr/>
            <p:nvPr/>
          </p:nvSpPr>
          <p:spPr>
            <a:xfrm>
              <a:off x="3077398" y="1138368"/>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0" name="Google Shape;1350;p73"/>
            <p:cNvSpPr/>
            <p:nvPr/>
          </p:nvSpPr>
          <p:spPr>
            <a:xfrm>
              <a:off x="3484375" y="1311550"/>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1" name="Google Shape;1351;p73"/>
            <p:cNvSpPr/>
            <p:nvPr/>
          </p:nvSpPr>
          <p:spPr>
            <a:xfrm>
              <a:off x="3925988" y="1138367"/>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2" name="Google Shape;1352;p73"/>
            <p:cNvSpPr/>
            <p:nvPr/>
          </p:nvSpPr>
          <p:spPr>
            <a:xfrm>
              <a:off x="7112533" y="1086413"/>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3" name="Google Shape;1353;p73"/>
            <p:cNvSpPr/>
            <p:nvPr/>
          </p:nvSpPr>
          <p:spPr>
            <a:xfrm>
              <a:off x="7259737" y="1233617"/>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4" name="Google Shape;1354;p73"/>
            <p:cNvSpPr/>
            <p:nvPr/>
          </p:nvSpPr>
          <p:spPr>
            <a:xfrm>
              <a:off x="7406942" y="1380821"/>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5" name="Google Shape;1355;p73"/>
            <p:cNvSpPr/>
            <p:nvPr/>
          </p:nvSpPr>
          <p:spPr>
            <a:xfrm>
              <a:off x="7216442" y="1545344"/>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6" name="Google Shape;1356;p73"/>
            <p:cNvSpPr/>
            <p:nvPr/>
          </p:nvSpPr>
          <p:spPr>
            <a:xfrm>
              <a:off x="4523464" y="1134036"/>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7" name="Google Shape;1357;p73"/>
            <p:cNvSpPr/>
            <p:nvPr/>
          </p:nvSpPr>
          <p:spPr>
            <a:xfrm>
              <a:off x="4670668" y="1285571"/>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8" name="Google Shape;1358;p73"/>
            <p:cNvSpPr/>
            <p:nvPr/>
          </p:nvSpPr>
          <p:spPr>
            <a:xfrm>
              <a:off x="4610055" y="1432776"/>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9" name="Google Shape;1359;p73"/>
            <p:cNvSpPr/>
            <p:nvPr/>
          </p:nvSpPr>
          <p:spPr>
            <a:xfrm>
              <a:off x="4965077" y="1579980"/>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0" name="Google Shape;1360;p73"/>
            <p:cNvSpPr/>
            <p:nvPr/>
          </p:nvSpPr>
          <p:spPr>
            <a:xfrm>
              <a:off x="4687987" y="1874388"/>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1" name="Google Shape;1361;p73"/>
            <p:cNvSpPr/>
            <p:nvPr/>
          </p:nvSpPr>
          <p:spPr>
            <a:xfrm>
              <a:off x="5112282" y="1134036"/>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2" name="Google Shape;1362;p73"/>
            <p:cNvSpPr/>
            <p:nvPr/>
          </p:nvSpPr>
          <p:spPr>
            <a:xfrm>
              <a:off x="5553895" y="1865730"/>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3" name="Google Shape;1363;p73"/>
            <p:cNvSpPr/>
            <p:nvPr/>
          </p:nvSpPr>
          <p:spPr>
            <a:xfrm>
              <a:off x="7943805" y="1086411"/>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4" name="Google Shape;1364;p73"/>
            <p:cNvSpPr/>
            <p:nvPr/>
          </p:nvSpPr>
          <p:spPr>
            <a:xfrm>
              <a:off x="5458645" y="1285570"/>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5" name="Google Shape;1365;p73"/>
            <p:cNvSpPr/>
            <p:nvPr/>
          </p:nvSpPr>
          <p:spPr>
            <a:xfrm>
              <a:off x="5605849" y="1432774"/>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6" name="Google Shape;1366;p73"/>
            <p:cNvSpPr/>
            <p:nvPr/>
          </p:nvSpPr>
          <p:spPr>
            <a:xfrm>
              <a:off x="5796349" y="1134036"/>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7" name="Google Shape;1367;p73"/>
            <p:cNvSpPr/>
            <p:nvPr/>
          </p:nvSpPr>
          <p:spPr>
            <a:xfrm>
              <a:off x="6445780" y="1134036"/>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8" name="Google Shape;1368;p73"/>
            <p:cNvSpPr/>
            <p:nvPr/>
          </p:nvSpPr>
          <p:spPr>
            <a:xfrm>
              <a:off x="6160030" y="1579978"/>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69" name="Google Shape;1369;p73"/>
            <p:cNvSpPr/>
            <p:nvPr/>
          </p:nvSpPr>
          <p:spPr>
            <a:xfrm>
              <a:off x="6454439" y="1874387"/>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70" name="Google Shape;1370;p73"/>
            <p:cNvSpPr/>
            <p:nvPr/>
          </p:nvSpPr>
          <p:spPr>
            <a:xfrm>
              <a:off x="6160029" y="1281239"/>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71" name="Google Shape;1371;p73"/>
            <p:cNvSpPr/>
            <p:nvPr/>
          </p:nvSpPr>
          <p:spPr>
            <a:xfrm>
              <a:off x="6489075" y="1428445"/>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72" name="Google Shape;1372;p73"/>
            <p:cNvSpPr/>
            <p:nvPr/>
          </p:nvSpPr>
          <p:spPr>
            <a:xfrm>
              <a:off x="5614508" y="1579978"/>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73" name="Google Shape;1373;p73"/>
            <p:cNvSpPr/>
            <p:nvPr/>
          </p:nvSpPr>
          <p:spPr>
            <a:xfrm>
              <a:off x="5112281" y="1432774"/>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74" name="Google Shape;1374;p73"/>
            <p:cNvSpPr/>
            <p:nvPr/>
          </p:nvSpPr>
          <p:spPr>
            <a:xfrm>
              <a:off x="7362980" y="1691882"/>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75" name="Google Shape;1375;p73"/>
            <p:cNvSpPr/>
            <p:nvPr/>
          </p:nvSpPr>
          <p:spPr>
            <a:xfrm>
              <a:off x="7314133" y="1838420"/>
              <a:ext cx="481800" cy="1122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1376" name="Google Shape;1376;p73"/>
          <p:cNvSpPr txBox="1"/>
          <p:nvPr/>
        </p:nvSpPr>
        <p:spPr>
          <a:xfrm>
            <a:off x="711897" y="3559601"/>
            <a:ext cx="7958700" cy="145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sng" strike="noStrike" cap="none" dirty="0">
                <a:solidFill>
                  <a:srgbClr val="E06666"/>
                </a:solidFill>
                <a:latin typeface="Calibri"/>
                <a:ea typeface="Calibri"/>
                <a:cs typeface="Calibri"/>
                <a:sym typeface="Calibri"/>
              </a:rPr>
              <a:t>Breadth of coverage (covered length)</a:t>
            </a:r>
            <a:endParaRPr sz="1800" b="0" i="0" u="sng" strike="noStrike" cap="none" dirty="0">
              <a:solidFill>
                <a:srgbClr val="E06666"/>
              </a:solidFill>
              <a:latin typeface="Calibri"/>
              <a:ea typeface="Calibri"/>
              <a:cs typeface="Calibri"/>
              <a:sym typeface="Calibri"/>
            </a:endParaRPr>
          </a:p>
          <a:p>
            <a:pPr marL="215900" marR="0" lvl="0" indent="-215900" algn="l" rtl="0">
              <a:lnSpc>
                <a:spcPct val="100000"/>
              </a:lnSpc>
              <a:spcBef>
                <a:spcPts val="0"/>
              </a:spcBef>
              <a:spcAft>
                <a:spcPts val="0"/>
              </a:spcAft>
              <a:buClr>
                <a:schemeClr val="dk1"/>
              </a:buClr>
              <a:buSzPts val="1800"/>
              <a:buFont typeface="Arial"/>
              <a:buChar char="•"/>
            </a:pPr>
            <a:r>
              <a:rPr lang="en" sz="1800" b="0" i="0" u="none" strike="noStrike" cap="none" dirty="0">
                <a:solidFill>
                  <a:schemeClr val="dk1"/>
                </a:solidFill>
                <a:latin typeface="Calibri"/>
                <a:ea typeface="Calibri"/>
                <a:cs typeface="Calibri"/>
                <a:sym typeface="Calibri"/>
              </a:rPr>
              <a:t>Percentage of bases of a targeted genome that are covered with a certain depth</a:t>
            </a:r>
            <a:endParaRPr sz="1100" b="0" i="0" u="none" strike="noStrike" cap="none" dirty="0">
              <a:solidFill>
                <a:srgbClr val="000000"/>
              </a:solidFill>
              <a:latin typeface="Arial"/>
              <a:ea typeface="Arial"/>
              <a:cs typeface="Arial"/>
              <a:sym typeface="Arial"/>
            </a:endParaRPr>
          </a:p>
          <a:p>
            <a:pPr marL="558800" marR="0" lvl="1" indent="-215900" algn="l" rtl="0">
              <a:lnSpc>
                <a:spcPct val="100000"/>
              </a:lnSpc>
              <a:spcBef>
                <a:spcPts val="0"/>
              </a:spcBef>
              <a:spcAft>
                <a:spcPts val="0"/>
              </a:spcAft>
              <a:buClr>
                <a:schemeClr val="dk1"/>
              </a:buClr>
              <a:buSzPts val="1800"/>
              <a:buFont typeface="Arial"/>
              <a:buChar char="•"/>
            </a:pPr>
            <a:r>
              <a:rPr lang="en" sz="1800" b="0" i="0" u="none" strike="noStrike" cap="none" dirty="0">
                <a:solidFill>
                  <a:schemeClr val="dk1"/>
                </a:solidFill>
                <a:latin typeface="Calibri"/>
                <a:ea typeface="Calibri"/>
                <a:cs typeface="Calibri"/>
                <a:sym typeface="Calibri"/>
              </a:rPr>
              <a:t>Metagenomic assembly quality – percentage of data included in the assembly</a:t>
            </a:r>
            <a:endParaRPr sz="1100" b="0" i="0" u="none" strike="noStrike" cap="none" dirty="0">
              <a:solidFill>
                <a:srgbClr val="000000"/>
              </a:solidFill>
              <a:latin typeface="Arial"/>
              <a:ea typeface="Arial"/>
              <a:cs typeface="Arial"/>
              <a:sym typeface="Arial"/>
            </a:endParaRPr>
          </a:p>
          <a:p>
            <a:pPr marL="558800" marR="0" lvl="1" indent="-215900" algn="l" rtl="0">
              <a:lnSpc>
                <a:spcPct val="100000"/>
              </a:lnSpc>
              <a:spcBef>
                <a:spcPts val="0"/>
              </a:spcBef>
              <a:spcAft>
                <a:spcPts val="0"/>
              </a:spcAft>
              <a:buClr>
                <a:schemeClr val="dk1"/>
              </a:buClr>
              <a:buSzPts val="1800"/>
              <a:buFont typeface="Arial"/>
              <a:buChar char="•"/>
            </a:pPr>
            <a:r>
              <a:rPr lang="en" sz="1800" b="0" i="0" u="none" strike="noStrike" cap="none" dirty="0">
                <a:solidFill>
                  <a:schemeClr val="dk1"/>
                </a:solidFill>
                <a:latin typeface="Calibri"/>
                <a:ea typeface="Calibri"/>
                <a:cs typeface="Calibri"/>
                <a:sym typeface="Calibri"/>
              </a:rPr>
              <a:t>Identify chimeric regions </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1377" name="Google Shape;1377;p73"/>
          <p:cNvSpPr txBox="1"/>
          <p:nvPr/>
        </p:nvSpPr>
        <p:spPr>
          <a:xfrm>
            <a:off x="711897" y="2399080"/>
            <a:ext cx="7720206" cy="900216"/>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sng" strike="noStrike" cap="none" dirty="0">
                <a:solidFill>
                  <a:srgbClr val="4AAB73"/>
                </a:solidFill>
                <a:latin typeface="Calibri"/>
                <a:ea typeface="Calibri"/>
                <a:cs typeface="Calibri"/>
                <a:sym typeface="Calibri"/>
              </a:rPr>
              <a:t>Depth of coverage (mapping depth)</a:t>
            </a:r>
            <a:endParaRPr sz="1800" b="0" i="0" u="none" strike="noStrike" cap="none" dirty="0">
              <a:solidFill>
                <a:srgbClr val="4AAB73"/>
              </a:solidFill>
              <a:latin typeface="Calibri"/>
              <a:ea typeface="Calibri"/>
              <a:cs typeface="Calibri"/>
              <a:sym typeface="Calibri"/>
            </a:endParaRPr>
          </a:p>
          <a:p>
            <a:pPr marL="215900" marR="0" lvl="0" indent="-215900" algn="l" rtl="0">
              <a:lnSpc>
                <a:spcPct val="100000"/>
              </a:lnSpc>
              <a:spcBef>
                <a:spcPts val="0"/>
              </a:spcBef>
              <a:spcAft>
                <a:spcPts val="0"/>
              </a:spcAft>
              <a:buClr>
                <a:schemeClr val="dk1"/>
              </a:buClr>
              <a:buSzPts val="1800"/>
              <a:buFont typeface="Arial"/>
              <a:buChar char="•"/>
            </a:pPr>
            <a:r>
              <a:rPr lang="en" sz="1800" b="0" i="0" u="none" strike="noStrike" cap="none" dirty="0">
                <a:solidFill>
                  <a:schemeClr val="dk1"/>
                </a:solidFill>
                <a:latin typeface="Calibri"/>
                <a:ea typeface="Calibri"/>
                <a:cs typeface="Calibri"/>
                <a:sym typeface="Calibri"/>
              </a:rPr>
              <a:t>Average number of times each nucleotide is covered in the assembly</a:t>
            </a:r>
            <a:endParaRPr sz="1100" b="0" i="0" u="none" strike="noStrike" cap="none" dirty="0">
              <a:solidFill>
                <a:srgbClr val="000000"/>
              </a:solidFill>
              <a:latin typeface="Arial"/>
              <a:ea typeface="Arial"/>
              <a:cs typeface="Arial"/>
              <a:sym typeface="Arial"/>
            </a:endParaRPr>
          </a:p>
          <a:p>
            <a:pPr marL="558800" marR="0" lvl="1" indent="-215900" algn="l" rtl="0">
              <a:lnSpc>
                <a:spcPct val="100000"/>
              </a:lnSpc>
              <a:spcBef>
                <a:spcPts val="0"/>
              </a:spcBef>
              <a:spcAft>
                <a:spcPts val="0"/>
              </a:spcAft>
              <a:buClr>
                <a:schemeClr val="dk1"/>
              </a:buClr>
              <a:buSzPts val="1800"/>
              <a:buFont typeface="Arial"/>
              <a:buChar char="•"/>
            </a:pPr>
            <a:r>
              <a:rPr lang="en" sz="1800" b="0" i="0" u="none" strike="noStrike" cap="none" dirty="0">
                <a:solidFill>
                  <a:schemeClr val="dk1"/>
                </a:solidFill>
                <a:latin typeface="Calibri"/>
                <a:ea typeface="Calibri"/>
                <a:cs typeface="Calibri"/>
                <a:sym typeface="Calibri"/>
              </a:rPr>
              <a:t>Estimate to the abundance of a sequence in the sample</a:t>
            </a:r>
            <a:endParaRPr sz="1800" b="0" i="0" u="none" strike="noStrike" cap="none" dirty="0">
              <a:solidFill>
                <a:schemeClr val="dk1"/>
              </a:solidFill>
              <a:latin typeface="Calibri"/>
              <a:ea typeface="Calibri"/>
              <a:cs typeface="Calibri"/>
              <a:sym typeface="Calibri"/>
            </a:endParaRPr>
          </a:p>
        </p:txBody>
      </p:sp>
      <p:sp>
        <p:nvSpPr>
          <p:cNvPr id="1378" name="Google Shape;1378;p73"/>
          <p:cNvSpPr/>
          <p:nvPr/>
        </p:nvSpPr>
        <p:spPr>
          <a:xfrm>
            <a:off x="2644650" y="127992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79" name="Google Shape;1379;p73"/>
          <p:cNvSpPr/>
          <p:nvPr/>
        </p:nvSpPr>
        <p:spPr>
          <a:xfrm>
            <a:off x="2019089" y="129537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80" name="Google Shape;1380;p73"/>
          <p:cNvSpPr/>
          <p:nvPr/>
        </p:nvSpPr>
        <p:spPr>
          <a:xfrm>
            <a:off x="3162089" y="1287650"/>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82" name="Google Shape;1382;p7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39</a:t>
            </a:fld>
            <a:endParaRPr/>
          </a:p>
        </p:txBody>
      </p:sp>
      <p:sp>
        <p:nvSpPr>
          <p:cNvPr id="1383" name="Google Shape;1383;p73"/>
          <p:cNvSpPr/>
          <p:nvPr/>
        </p:nvSpPr>
        <p:spPr>
          <a:xfrm>
            <a:off x="2824758" y="15484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84" name="Google Shape;1384;p73"/>
          <p:cNvSpPr/>
          <p:nvPr/>
        </p:nvSpPr>
        <p:spPr>
          <a:xfrm>
            <a:off x="2215158" y="15484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85" name="Google Shape;1385;p73"/>
          <p:cNvSpPr/>
          <p:nvPr/>
        </p:nvSpPr>
        <p:spPr>
          <a:xfrm>
            <a:off x="3205758" y="15484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86" name="Google Shape;1386;p73"/>
          <p:cNvSpPr/>
          <p:nvPr/>
        </p:nvSpPr>
        <p:spPr>
          <a:xfrm>
            <a:off x="3774328" y="1521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68EA426-CDB3-E953-37E4-8455866C5026}"/>
                  </a:ext>
                </a:extLst>
              </p:cNvPr>
              <p:cNvSpPr txBox="1"/>
              <p:nvPr/>
            </p:nvSpPr>
            <p:spPr>
              <a:xfrm>
                <a:off x="5195371" y="726761"/>
                <a:ext cx="2858282" cy="4473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𝐷𝑒𝑝𝑡h</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𝑟𝑒𝑎𝑑</m:t>
                          </m:r>
                          <m:r>
                            <a:rPr lang="en-US" b="0" i="1" smtClean="0">
                              <a:latin typeface="Cambria Math" panose="02040503050406030204" pitchFamily="18" charset="0"/>
                            </a:rPr>
                            <m:t> </m:t>
                          </m:r>
                          <m:r>
                            <a:rPr lang="en-US" b="0" i="1" smtClean="0">
                              <a:latin typeface="Cambria Math" panose="02040503050406030204" pitchFamily="18" charset="0"/>
                            </a:rPr>
                            <m:t>𝑙𝑒𝑛𝑔𝑡h</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𝑛𝑜</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𝑟𝑒𝑎𝑑𝑠</m:t>
                          </m:r>
                        </m:num>
                        <m:den>
                          <m:r>
                            <a:rPr lang="en-US" b="0" i="1" smtClean="0">
                              <a:latin typeface="Cambria Math" panose="02040503050406030204" pitchFamily="18" charset="0"/>
                            </a:rPr>
                            <m:t>𝑆𝑖𝑧𝑒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𝑐𝑜𝑛𝑡𝑖𝑔</m:t>
                          </m:r>
                          <m:r>
                            <a:rPr lang="en-US" b="0" i="1" smtClean="0">
                              <a:latin typeface="Cambria Math" panose="02040503050406030204" pitchFamily="18" charset="0"/>
                            </a:rPr>
                            <m:t>/</m:t>
                          </m:r>
                          <m:r>
                            <a:rPr lang="en-US" b="0" i="1" smtClean="0">
                              <a:latin typeface="Cambria Math" panose="02040503050406030204" pitchFamily="18" charset="0"/>
                            </a:rPr>
                            <m:t>𝑏𝑖𝑛</m:t>
                          </m:r>
                        </m:den>
                      </m:f>
                    </m:oMath>
                  </m:oMathPara>
                </a14:m>
                <a:endParaRPr lang="nl-NL" dirty="0"/>
              </a:p>
            </p:txBody>
          </p:sp>
        </mc:Choice>
        <mc:Fallback xmlns="">
          <p:sp>
            <p:nvSpPr>
              <p:cNvPr id="2" name="TextBox 1">
                <a:extLst>
                  <a:ext uri="{FF2B5EF4-FFF2-40B4-BE49-F238E27FC236}">
                    <a16:creationId xmlns:a16="http://schemas.microsoft.com/office/drawing/2014/main" id="{F68EA426-CDB3-E953-37E4-8455866C5026}"/>
                  </a:ext>
                </a:extLst>
              </p:cNvPr>
              <p:cNvSpPr txBox="1">
                <a:spLocks noRot="1" noChangeAspect="1" noMove="1" noResize="1" noEditPoints="1" noAdjustHandles="1" noChangeArrowheads="1" noChangeShapeType="1" noTextEdit="1"/>
              </p:cNvSpPr>
              <p:nvPr/>
            </p:nvSpPr>
            <p:spPr>
              <a:xfrm>
                <a:off x="5195371" y="726761"/>
                <a:ext cx="2858282" cy="447302"/>
              </a:xfrm>
              <a:prstGeom prst="rect">
                <a:avLst/>
              </a:prstGeom>
              <a:blipFill>
                <a:blip r:embed="rId3"/>
                <a:stretch>
                  <a:fillRect l="-1493" t="-2703" r="-640" b="-16216"/>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EAD592F-CAFF-27DE-1993-388BE3B1C9C0}"/>
                  </a:ext>
                </a:extLst>
              </p:cNvPr>
              <p:cNvSpPr txBox="1"/>
              <p:nvPr/>
            </p:nvSpPr>
            <p:spPr>
              <a:xfrm>
                <a:off x="4335807" y="1399062"/>
                <a:ext cx="4766754" cy="4473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𝐵𝑟𝑒𝑎𝑑𝑡h</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𝑏𝑎𝑠𝑒𝑠</m:t>
                          </m:r>
                          <m:r>
                            <a:rPr lang="en-US" b="0" i="1" smtClean="0">
                              <a:latin typeface="Cambria Math" panose="02040503050406030204" pitchFamily="18" charset="0"/>
                            </a:rPr>
                            <m:t> </m:t>
                          </m:r>
                          <m:r>
                            <a:rPr lang="en-US" b="0" i="1" smtClean="0">
                              <a:latin typeface="Cambria Math" panose="02040503050406030204" pitchFamily="18" charset="0"/>
                            </a:rPr>
                            <m:t>𝑤𝑖𝑡h</m:t>
                          </m:r>
                          <m:r>
                            <a:rPr lang="en-US" b="0" i="1" smtClean="0">
                              <a:latin typeface="Cambria Math" panose="02040503050406030204" pitchFamily="18" charset="0"/>
                            </a:rPr>
                            <m:t> </m:t>
                          </m:r>
                          <m:r>
                            <a:rPr lang="en-US" b="0" i="1" smtClean="0">
                              <a:latin typeface="Cambria Math" panose="02040503050406030204" pitchFamily="18" charset="0"/>
                            </a:rPr>
                            <m:t>𝑚𝑖𝑛𝑖𝑚𝑢𝑚</m:t>
                          </m:r>
                          <m:r>
                            <a:rPr lang="en-US" b="0" i="1" smtClean="0">
                              <a:latin typeface="Cambria Math" panose="02040503050406030204" pitchFamily="18" charset="0"/>
                            </a:rPr>
                            <m:t> </m:t>
                          </m:r>
                          <m:r>
                            <a:rPr lang="en-US" b="0" i="1" smtClean="0">
                              <a:latin typeface="Cambria Math" panose="02040503050406030204" pitchFamily="18" charset="0"/>
                            </a:rPr>
                            <m:t>𝑑𝑒𝑝𝑡h</m:t>
                          </m:r>
                        </m:num>
                        <m:den>
                          <m:r>
                            <a:rPr lang="en-US" b="0" i="1" smtClean="0">
                              <a:latin typeface="Cambria Math" panose="02040503050406030204" pitchFamily="18" charset="0"/>
                            </a:rPr>
                            <m:t>𝑆𝑖𝑧𝑒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𝑐𝑜𝑛𝑡𝑖𝑔</m:t>
                          </m:r>
                          <m:r>
                            <a:rPr lang="en-US" b="0" i="1" smtClean="0">
                              <a:latin typeface="Cambria Math" panose="02040503050406030204" pitchFamily="18" charset="0"/>
                            </a:rPr>
                            <m:t>/</m:t>
                          </m:r>
                          <m:r>
                            <a:rPr lang="en-US" b="0" i="1" smtClean="0">
                              <a:latin typeface="Cambria Math" panose="02040503050406030204" pitchFamily="18" charset="0"/>
                            </a:rPr>
                            <m:t>𝑏𝑖𝑛</m:t>
                          </m:r>
                        </m:den>
                      </m:f>
                      <m:r>
                        <a:rPr lang="en-US" b="0" i="0" smtClean="0">
                          <a:latin typeface="Cambria Math" panose="02040503050406030204" pitchFamily="18" charset="0"/>
                        </a:rPr>
                        <m:t> </m:t>
                      </m:r>
                      <m:r>
                        <m:rPr>
                          <m:sty m:val="p"/>
                        </m:rPr>
                        <a:rPr lang="en-US" b="0" i="0" smtClean="0">
                          <a:latin typeface="Cambria Math" panose="02040503050406030204" pitchFamily="18" charset="0"/>
                        </a:rPr>
                        <m:t>x</m:t>
                      </m:r>
                      <m:r>
                        <a:rPr lang="en-US" b="0" i="0" smtClean="0">
                          <a:latin typeface="Cambria Math" panose="02040503050406030204" pitchFamily="18" charset="0"/>
                        </a:rPr>
                        <m:t> 100% </m:t>
                      </m:r>
                    </m:oMath>
                  </m:oMathPara>
                </a14:m>
                <a:endParaRPr lang="nl-NL" dirty="0"/>
              </a:p>
            </p:txBody>
          </p:sp>
        </mc:Choice>
        <mc:Fallback xmlns="">
          <p:sp>
            <p:nvSpPr>
              <p:cNvPr id="3" name="TextBox 2">
                <a:extLst>
                  <a:ext uri="{FF2B5EF4-FFF2-40B4-BE49-F238E27FC236}">
                    <a16:creationId xmlns:a16="http://schemas.microsoft.com/office/drawing/2014/main" id="{7EAD592F-CAFF-27DE-1993-388BE3B1C9C0}"/>
                  </a:ext>
                </a:extLst>
              </p:cNvPr>
              <p:cNvSpPr txBox="1">
                <a:spLocks noRot="1" noChangeAspect="1" noMove="1" noResize="1" noEditPoints="1" noAdjustHandles="1" noChangeArrowheads="1" noChangeShapeType="1" noTextEdit="1"/>
              </p:cNvSpPr>
              <p:nvPr/>
            </p:nvSpPr>
            <p:spPr>
              <a:xfrm>
                <a:off x="4335807" y="1399062"/>
                <a:ext cx="4766754" cy="447302"/>
              </a:xfrm>
              <a:prstGeom prst="rect">
                <a:avLst/>
              </a:prstGeom>
              <a:blipFill>
                <a:blip r:embed="rId4"/>
                <a:stretch>
                  <a:fillRect l="-256" t="-2740" b="-16438"/>
                </a:stretch>
              </a:blipFill>
            </p:spPr>
            <p:txBody>
              <a:bodyPr/>
              <a:lstStyle/>
              <a:p>
                <a:r>
                  <a:rPr lang="nl-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7"/>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376"/>
                                        </p:tgtEl>
                                        <p:attrNameLst>
                                          <p:attrName>style.visibility</p:attrName>
                                        </p:attrNameLst>
                                      </p:cBhvr>
                                      <p:to>
                                        <p:strVal val="visible"/>
                                      </p:to>
                                    </p:set>
                                  </p:childTnLst>
                                </p:cTn>
                              </p:par>
                              <p:par>
                                <p:cTn id="14" presetID="10"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90"/>
        <p:cNvGrpSpPr/>
        <p:nvPr/>
      </p:nvGrpSpPr>
      <p:grpSpPr>
        <a:xfrm>
          <a:off x="0" y="0"/>
          <a:ext cx="0" cy="0"/>
          <a:chOff x="0" y="0"/>
          <a:chExt cx="0" cy="0"/>
        </a:xfrm>
      </p:grpSpPr>
      <p:sp>
        <p:nvSpPr>
          <p:cNvPr id="1391" name="Google Shape;1391;p7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a:latin typeface="Arial"/>
                <a:ea typeface="Arial"/>
                <a:cs typeface="Arial"/>
                <a:sym typeface="Arial"/>
              </a:rPr>
              <a:t>Metagenomics workflow: Taxonomy</a:t>
            </a:r>
            <a:endParaRPr/>
          </a:p>
        </p:txBody>
      </p:sp>
      <p:sp>
        <p:nvSpPr>
          <p:cNvPr id="1392" name="Google Shape;1392;p74"/>
          <p:cNvSpPr/>
          <p:nvPr/>
        </p:nvSpPr>
        <p:spPr>
          <a:xfrm>
            <a:off x="2378028" y="1226624"/>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93" name="Google Shape;1393;p74"/>
          <p:cNvSpPr/>
          <p:nvPr/>
        </p:nvSpPr>
        <p:spPr>
          <a:xfrm>
            <a:off x="2235152" y="1663653"/>
            <a:ext cx="344400" cy="344400"/>
          </a:xfrm>
          <a:prstGeom prst="ellipse">
            <a:avLst/>
          </a:prstGeom>
          <a:solidFill>
            <a:schemeClr val="lt1"/>
          </a:solidFill>
          <a:ln w="571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94" name="Google Shape;1394;p74"/>
          <p:cNvSpPr/>
          <p:nvPr/>
        </p:nvSpPr>
        <p:spPr>
          <a:xfrm>
            <a:off x="2697395" y="1571204"/>
            <a:ext cx="344400" cy="344400"/>
          </a:xfrm>
          <a:prstGeom prst="ellipse">
            <a:avLst/>
          </a:prstGeom>
          <a:solidFill>
            <a:schemeClr val="lt1"/>
          </a:solidFill>
          <a:ln w="5715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95" name="Google Shape;1395;p74"/>
          <p:cNvSpPr/>
          <p:nvPr/>
        </p:nvSpPr>
        <p:spPr>
          <a:xfrm>
            <a:off x="2470476" y="2058661"/>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96" name="Google Shape;1396;p74"/>
          <p:cNvSpPr/>
          <p:nvPr/>
        </p:nvSpPr>
        <p:spPr>
          <a:xfrm>
            <a:off x="3494924" y="17050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1397" name="Google Shape;1397;p74" descr="DNA with solid fill"/>
          <p:cNvPicPr preferRelativeResize="0"/>
          <p:nvPr/>
        </p:nvPicPr>
        <p:blipFill rotWithShape="1">
          <a:blip r:embed="rId3">
            <a:alphaModFix/>
          </a:blip>
          <a:srcRect/>
          <a:stretch/>
        </p:blipFill>
        <p:spPr>
          <a:xfrm>
            <a:off x="4729163" y="1330342"/>
            <a:ext cx="1005167" cy="1013572"/>
          </a:xfrm>
          <a:prstGeom prst="rect">
            <a:avLst/>
          </a:prstGeom>
          <a:noFill/>
          <a:ln>
            <a:noFill/>
          </a:ln>
        </p:spPr>
      </p:pic>
      <p:pic>
        <p:nvPicPr>
          <p:cNvPr id="1398" name="Google Shape;1398;p74" descr="A picture containing electronics, indoor, computer&#10;&#10;Description automatically generated"/>
          <p:cNvPicPr preferRelativeResize="0"/>
          <p:nvPr/>
        </p:nvPicPr>
        <p:blipFill rotWithShape="1">
          <a:blip r:embed="rId4">
            <a:alphaModFix/>
          </a:blip>
          <a:srcRect/>
          <a:stretch/>
        </p:blipFill>
        <p:spPr>
          <a:xfrm>
            <a:off x="5518337" y="1607583"/>
            <a:ext cx="2057400" cy="1407262"/>
          </a:xfrm>
          <a:prstGeom prst="rect">
            <a:avLst/>
          </a:prstGeom>
          <a:noFill/>
          <a:ln>
            <a:noFill/>
          </a:ln>
        </p:spPr>
      </p:pic>
      <p:sp>
        <p:nvSpPr>
          <p:cNvPr id="1399" name="Google Shape;1399;p74"/>
          <p:cNvSpPr txBox="1"/>
          <p:nvPr/>
        </p:nvSpPr>
        <p:spPr>
          <a:xfrm>
            <a:off x="3408830" y="1408580"/>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DNA extraction</a:t>
            </a:r>
            <a:endParaRPr sz="1100" b="0" i="0" u="none" strike="noStrike" cap="none">
              <a:solidFill>
                <a:srgbClr val="000000"/>
              </a:solidFill>
              <a:latin typeface="Arial"/>
              <a:ea typeface="Arial"/>
              <a:cs typeface="Arial"/>
              <a:sym typeface="Arial"/>
            </a:endParaRPr>
          </a:p>
        </p:txBody>
      </p:sp>
      <p:sp>
        <p:nvSpPr>
          <p:cNvPr id="1400" name="Google Shape;1400;p74"/>
          <p:cNvSpPr txBox="1"/>
          <p:nvPr/>
        </p:nvSpPr>
        <p:spPr>
          <a:xfrm>
            <a:off x="6022600" y="1383375"/>
            <a:ext cx="10485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Sequencing</a:t>
            </a:r>
            <a:endParaRPr sz="1100" b="0" i="0" u="none" strike="noStrike" cap="none">
              <a:solidFill>
                <a:srgbClr val="000000"/>
              </a:solidFill>
              <a:latin typeface="Arial"/>
              <a:ea typeface="Arial"/>
              <a:cs typeface="Arial"/>
              <a:sym typeface="Arial"/>
            </a:endParaRPr>
          </a:p>
        </p:txBody>
      </p:sp>
      <p:sp>
        <p:nvSpPr>
          <p:cNvPr id="1401" name="Google Shape;1401;p74"/>
          <p:cNvSpPr/>
          <p:nvPr/>
        </p:nvSpPr>
        <p:spPr>
          <a:xfrm>
            <a:off x="6024651" y="1688245"/>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02" name="Google Shape;1402;p74"/>
          <p:cNvSpPr/>
          <p:nvPr/>
        </p:nvSpPr>
        <p:spPr>
          <a:xfrm>
            <a:off x="7597168" y="151237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03" name="Google Shape;1403;p74"/>
          <p:cNvSpPr/>
          <p:nvPr/>
        </p:nvSpPr>
        <p:spPr>
          <a:xfrm>
            <a:off x="7849300" y="176450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04" name="Google Shape;1404;p74"/>
          <p:cNvSpPr/>
          <p:nvPr/>
        </p:nvSpPr>
        <p:spPr>
          <a:xfrm>
            <a:off x="7958557" y="187376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05" name="Google Shape;1405;p74"/>
          <p:cNvSpPr/>
          <p:nvPr/>
        </p:nvSpPr>
        <p:spPr>
          <a:xfrm>
            <a:off x="8345160" y="145354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06" name="Google Shape;1406;p74"/>
          <p:cNvSpPr/>
          <p:nvPr/>
        </p:nvSpPr>
        <p:spPr>
          <a:xfrm>
            <a:off x="7597167" y="2344409"/>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07" name="Google Shape;1407;p74"/>
          <p:cNvSpPr/>
          <p:nvPr/>
        </p:nvSpPr>
        <p:spPr>
          <a:xfrm>
            <a:off x="7983770" y="224355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08" name="Google Shape;1408;p74"/>
          <p:cNvSpPr/>
          <p:nvPr/>
        </p:nvSpPr>
        <p:spPr>
          <a:xfrm>
            <a:off x="8252711" y="215951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09" name="Google Shape;1409;p74"/>
          <p:cNvSpPr/>
          <p:nvPr/>
        </p:nvSpPr>
        <p:spPr>
          <a:xfrm>
            <a:off x="8076219" y="236962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0" name="Google Shape;1410;p74"/>
          <p:cNvSpPr/>
          <p:nvPr/>
        </p:nvSpPr>
        <p:spPr>
          <a:xfrm>
            <a:off x="8143454" y="161322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1" name="Google Shape;1411;p74"/>
          <p:cNvSpPr/>
          <p:nvPr/>
        </p:nvSpPr>
        <p:spPr>
          <a:xfrm>
            <a:off x="8252711" y="172248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2" name="Google Shape;1412;p74"/>
          <p:cNvSpPr/>
          <p:nvPr/>
        </p:nvSpPr>
        <p:spPr>
          <a:xfrm>
            <a:off x="7714828" y="1655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3" name="Google Shape;1413;p74"/>
          <p:cNvSpPr/>
          <p:nvPr/>
        </p:nvSpPr>
        <p:spPr>
          <a:xfrm>
            <a:off x="7529931" y="19409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4" name="Google Shape;1414;p74"/>
          <p:cNvSpPr/>
          <p:nvPr/>
        </p:nvSpPr>
        <p:spPr>
          <a:xfrm>
            <a:off x="8437607" y="202504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5" name="Google Shape;1415;p74"/>
          <p:cNvSpPr/>
          <p:nvPr/>
        </p:nvSpPr>
        <p:spPr>
          <a:xfrm>
            <a:off x="8437607"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6" name="Google Shape;1416;p74"/>
          <p:cNvSpPr/>
          <p:nvPr/>
        </p:nvSpPr>
        <p:spPr>
          <a:xfrm>
            <a:off x="7630783" y="2159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7" name="Google Shape;1417;p74"/>
          <p:cNvSpPr/>
          <p:nvPr/>
        </p:nvSpPr>
        <p:spPr>
          <a:xfrm>
            <a:off x="8034194" y="205025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8" name="Google Shape;1418;p74"/>
          <p:cNvSpPr/>
          <p:nvPr/>
        </p:nvSpPr>
        <p:spPr>
          <a:xfrm>
            <a:off x="7849297" y="24956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19" name="Google Shape;1419;p74"/>
          <p:cNvSpPr txBox="1"/>
          <p:nvPr/>
        </p:nvSpPr>
        <p:spPr>
          <a:xfrm>
            <a:off x="7854762" y="1080806"/>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Reads</a:t>
            </a:r>
            <a:endParaRPr sz="1500" b="1" i="0" u="none" strike="noStrike" cap="none">
              <a:solidFill>
                <a:schemeClr val="dk1"/>
              </a:solidFill>
              <a:latin typeface="Calibri"/>
              <a:ea typeface="Calibri"/>
              <a:cs typeface="Calibri"/>
              <a:sym typeface="Calibri"/>
            </a:endParaRPr>
          </a:p>
        </p:txBody>
      </p:sp>
      <p:sp>
        <p:nvSpPr>
          <p:cNvPr id="1420" name="Google Shape;1420;p74"/>
          <p:cNvSpPr txBox="1"/>
          <p:nvPr/>
        </p:nvSpPr>
        <p:spPr>
          <a:xfrm>
            <a:off x="7669878" y="2618825"/>
            <a:ext cx="12666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100-150 bp</a:t>
            </a:r>
            <a:endParaRPr sz="1100" b="0" i="0" u="none" strike="noStrike" cap="none">
              <a:solidFill>
                <a:srgbClr val="000000"/>
              </a:solidFill>
              <a:latin typeface="Arial"/>
              <a:ea typeface="Arial"/>
              <a:cs typeface="Arial"/>
              <a:sym typeface="Arial"/>
            </a:endParaRPr>
          </a:p>
        </p:txBody>
      </p:sp>
      <p:sp>
        <p:nvSpPr>
          <p:cNvPr id="1421" name="Google Shape;1421;p74"/>
          <p:cNvSpPr/>
          <p:nvPr/>
        </p:nvSpPr>
        <p:spPr>
          <a:xfrm rot="5400000">
            <a:off x="7894660" y="3180091"/>
            <a:ext cx="504300" cy="1764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22" name="Google Shape;1422;p74"/>
          <p:cNvSpPr/>
          <p:nvPr/>
        </p:nvSpPr>
        <p:spPr>
          <a:xfrm>
            <a:off x="7714146" y="3772934"/>
            <a:ext cx="1370100" cy="161400"/>
          </a:xfrm>
          <a:prstGeom prst="rect">
            <a:avLst/>
          </a:prstGeom>
          <a:solidFill>
            <a:srgbClr val="38562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23" name="Google Shape;1423;p74"/>
          <p:cNvSpPr/>
          <p:nvPr/>
        </p:nvSpPr>
        <p:spPr>
          <a:xfrm>
            <a:off x="7588761"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24" name="Google Shape;1424;p74"/>
          <p:cNvSpPr/>
          <p:nvPr/>
        </p:nvSpPr>
        <p:spPr>
          <a:xfrm>
            <a:off x="7351526" y="4012301"/>
            <a:ext cx="1337100" cy="37800"/>
          </a:xfrm>
          <a:prstGeom prst="rect">
            <a:avLst/>
          </a:prstGeom>
          <a:solidFill>
            <a:srgbClr val="38562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25" name="Google Shape;1425;p74"/>
          <p:cNvSpPr/>
          <p:nvPr/>
        </p:nvSpPr>
        <p:spPr>
          <a:xfrm>
            <a:off x="7588762" y="4176571"/>
            <a:ext cx="1454100" cy="84300"/>
          </a:xfrm>
          <a:prstGeom prst="rect">
            <a:avLst/>
          </a:prstGeom>
          <a:solidFill>
            <a:srgbClr val="38562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26" name="Google Shape;1426;p74"/>
          <p:cNvSpPr txBox="1"/>
          <p:nvPr/>
        </p:nvSpPr>
        <p:spPr>
          <a:xfrm>
            <a:off x="7888379" y="3526489"/>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Scaffolds</a:t>
            </a:r>
            <a:endParaRPr sz="1400" b="0" i="0" u="none" strike="noStrike" cap="none">
              <a:solidFill>
                <a:schemeClr val="dk1"/>
              </a:solidFill>
              <a:latin typeface="Calibri"/>
              <a:ea typeface="Calibri"/>
              <a:cs typeface="Calibri"/>
              <a:sym typeface="Calibri"/>
            </a:endParaRPr>
          </a:p>
        </p:txBody>
      </p:sp>
      <p:sp>
        <p:nvSpPr>
          <p:cNvPr id="1427" name="Google Shape;1427;p74"/>
          <p:cNvSpPr txBox="1"/>
          <p:nvPr/>
        </p:nvSpPr>
        <p:spPr>
          <a:xfrm>
            <a:off x="7669865" y="4476188"/>
            <a:ext cx="948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1000+ bp</a:t>
            </a:r>
            <a:endParaRPr sz="1100" b="0" i="0" u="none" strike="noStrike" cap="none">
              <a:solidFill>
                <a:srgbClr val="000000"/>
              </a:solidFill>
              <a:latin typeface="Arial"/>
              <a:ea typeface="Arial"/>
              <a:cs typeface="Arial"/>
              <a:sym typeface="Arial"/>
            </a:endParaRPr>
          </a:p>
        </p:txBody>
      </p:sp>
      <p:sp>
        <p:nvSpPr>
          <p:cNvPr id="1428" name="Google Shape;1428;p74"/>
          <p:cNvSpPr txBox="1"/>
          <p:nvPr/>
        </p:nvSpPr>
        <p:spPr>
          <a:xfrm>
            <a:off x="7274297" y="3131483"/>
            <a:ext cx="948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Assembly</a:t>
            </a:r>
            <a:endParaRPr sz="1100" b="0" i="0" u="none" strike="noStrike" cap="none">
              <a:solidFill>
                <a:srgbClr val="000000"/>
              </a:solidFill>
              <a:latin typeface="Arial"/>
              <a:ea typeface="Arial"/>
              <a:cs typeface="Arial"/>
              <a:sym typeface="Arial"/>
            </a:endParaRPr>
          </a:p>
        </p:txBody>
      </p:sp>
      <p:grpSp>
        <p:nvGrpSpPr>
          <p:cNvPr id="1429" name="Google Shape;1429;p74"/>
          <p:cNvGrpSpPr/>
          <p:nvPr/>
        </p:nvGrpSpPr>
        <p:grpSpPr>
          <a:xfrm>
            <a:off x="6024648" y="3192660"/>
            <a:ext cx="1350228" cy="1653772"/>
            <a:chOff x="8032864" y="4256880"/>
            <a:chExt cx="1800304" cy="2205030"/>
          </a:xfrm>
        </p:grpSpPr>
        <p:sp>
          <p:nvSpPr>
            <p:cNvPr id="1430" name="Google Shape;1430;p74"/>
            <p:cNvSpPr txBox="1"/>
            <p:nvPr/>
          </p:nvSpPr>
          <p:spPr>
            <a:xfrm>
              <a:off x="8287868" y="6082410"/>
              <a:ext cx="15453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Genome</a:t>
              </a:r>
              <a:endParaRPr sz="1400" b="0" i="0" u="none" strike="noStrike" cap="none">
                <a:solidFill>
                  <a:schemeClr val="dk1"/>
                </a:solidFill>
                <a:latin typeface="Calibri"/>
                <a:ea typeface="Calibri"/>
                <a:cs typeface="Calibri"/>
                <a:sym typeface="Calibri"/>
              </a:endParaRPr>
            </a:p>
          </p:txBody>
        </p:sp>
        <p:grpSp>
          <p:nvGrpSpPr>
            <p:cNvPr id="1431" name="Google Shape;1431;p74"/>
            <p:cNvGrpSpPr/>
            <p:nvPr/>
          </p:nvGrpSpPr>
          <p:grpSpPr>
            <a:xfrm>
              <a:off x="8032864" y="4256880"/>
              <a:ext cx="1653002" cy="1999169"/>
              <a:chOff x="8032864" y="4256880"/>
              <a:chExt cx="1653002" cy="1999169"/>
            </a:xfrm>
          </p:grpSpPr>
          <p:sp>
            <p:nvSpPr>
              <p:cNvPr id="1432" name="Google Shape;1432;p74"/>
              <p:cNvSpPr/>
              <p:nvPr/>
            </p:nvSpPr>
            <p:spPr>
              <a:xfrm rot="10800000">
                <a:off x="8032866" y="4256880"/>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33" name="Google Shape;1433;p74"/>
              <p:cNvSpPr txBox="1"/>
              <p:nvPr/>
            </p:nvSpPr>
            <p:spPr>
              <a:xfrm>
                <a:off x="8287868" y="4399426"/>
                <a:ext cx="12561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Mapping</a:t>
                </a:r>
                <a:endParaRPr sz="1100" b="0" i="0" u="none" strike="noStrike" cap="none">
                  <a:solidFill>
                    <a:srgbClr val="000000"/>
                  </a:solidFill>
                  <a:latin typeface="Arial"/>
                  <a:ea typeface="Arial"/>
                  <a:cs typeface="Arial"/>
                  <a:sym typeface="Arial"/>
                </a:endParaRPr>
              </a:p>
            </p:txBody>
          </p:sp>
          <p:sp>
            <p:nvSpPr>
              <p:cNvPr id="1434" name="Google Shape;1434;p74"/>
              <p:cNvSpPr/>
              <p:nvPr/>
            </p:nvSpPr>
            <p:spPr>
              <a:xfrm rot="10800000">
                <a:off x="8055277" y="4822607"/>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35" name="Google Shape;1435;p74"/>
              <p:cNvSpPr/>
              <p:nvPr/>
            </p:nvSpPr>
            <p:spPr>
              <a:xfrm rot="10800000">
                <a:off x="8032865" y="5396993"/>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36" name="Google Shape;1436;p74"/>
              <p:cNvSpPr/>
              <p:nvPr/>
            </p:nvSpPr>
            <p:spPr>
              <a:xfrm rot="10800000">
                <a:off x="8032864" y="5971379"/>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37" name="Google Shape;1437;p74"/>
              <p:cNvSpPr txBox="1"/>
              <p:nvPr/>
            </p:nvSpPr>
            <p:spPr>
              <a:xfrm>
                <a:off x="8287868" y="5589149"/>
                <a:ext cx="1256100" cy="666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Function</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438" name="Google Shape;1438;p74"/>
              <p:cNvSpPr txBox="1"/>
              <p:nvPr/>
            </p:nvSpPr>
            <p:spPr>
              <a:xfrm>
                <a:off x="8287866" y="4994300"/>
                <a:ext cx="13980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Taxonomy </a:t>
                </a:r>
                <a:endParaRPr sz="1400" b="0" i="0" u="none" strike="noStrike" cap="none">
                  <a:solidFill>
                    <a:schemeClr val="dk1"/>
                  </a:solidFill>
                  <a:latin typeface="Calibri"/>
                  <a:ea typeface="Calibri"/>
                  <a:cs typeface="Calibri"/>
                  <a:sym typeface="Calibri"/>
                </a:endParaRPr>
              </a:p>
            </p:txBody>
          </p:sp>
        </p:grpSp>
      </p:grpSp>
      <p:sp>
        <p:nvSpPr>
          <p:cNvPr id="1439" name="Google Shape;1439;p74"/>
          <p:cNvSpPr/>
          <p:nvPr/>
        </p:nvSpPr>
        <p:spPr>
          <a:xfrm>
            <a:off x="7216752" y="4317613"/>
            <a:ext cx="1857000" cy="30000"/>
          </a:xfrm>
          <a:prstGeom prst="rect">
            <a:avLst/>
          </a:prstGeom>
          <a:solidFill>
            <a:srgbClr val="38562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40" name="Google Shape;1440;p74"/>
          <p:cNvSpPr/>
          <p:nvPr/>
        </p:nvSpPr>
        <p:spPr>
          <a:xfrm>
            <a:off x="5804586" y="3526309"/>
            <a:ext cx="1266600" cy="486600"/>
          </a:xfrm>
          <a:prstGeom prst="rect">
            <a:avLst/>
          </a:prstGeom>
          <a:noFill/>
          <a:ln w="57150" cap="flat" cmpd="sng">
            <a:solidFill>
              <a:srgbClr val="38562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41" name="Google Shape;1441;p7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endParaRPr/>
          </a:p>
        </p:txBody>
      </p:sp>
      <p:sp>
        <p:nvSpPr>
          <p:cNvPr id="1442" name="Google Shape;1442;p7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40</a:t>
            </a:fld>
            <a:endParaRPr/>
          </a:p>
        </p:txBody>
      </p:sp>
      <p:pic>
        <p:nvPicPr>
          <p:cNvPr id="1443" name="Google Shape;1443;p74" descr="Diagram&#10;&#10;Description automatically generated"/>
          <p:cNvPicPr preferRelativeResize="0">
            <a:picLocks noGrp="1"/>
          </p:cNvPicPr>
          <p:nvPr>
            <p:ph type="body" idx="1"/>
          </p:nvPr>
        </p:nvPicPr>
        <p:blipFill rotWithShape="1">
          <a:blip r:embed="rId5">
            <a:alphaModFix/>
          </a:blip>
          <a:srcRect r="50005" b="-241"/>
          <a:stretch/>
        </p:blipFill>
        <p:spPr>
          <a:xfrm>
            <a:off x="449173" y="3287284"/>
            <a:ext cx="1097700" cy="1309500"/>
          </a:xfrm>
          <a:prstGeom prst="rect">
            <a:avLst/>
          </a:prstGeom>
          <a:noFill/>
          <a:ln>
            <a:noFill/>
          </a:ln>
        </p:spPr>
      </p:pic>
      <p:sp>
        <p:nvSpPr>
          <p:cNvPr id="1445" name="Google Shape;1445;p74"/>
          <p:cNvSpPr txBox="1"/>
          <p:nvPr/>
        </p:nvSpPr>
        <p:spPr>
          <a:xfrm>
            <a:off x="2416047" y="3569500"/>
            <a:ext cx="2913000" cy="400200"/>
          </a:xfrm>
          <a:prstGeom prst="rect">
            <a:avLst/>
          </a:prstGeom>
          <a:solidFill>
            <a:srgbClr val="38562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lt1"/>
                </a:solidFill>
              </a:rPr>
              <a:t>Stay tuned: Tuesday October 27th</a:t>
            </a:r>
            <a:endParaRPr dirty="0">
              <a:solidFill>
                <a:schemeClr val="lt1"/>
              </a:solidFill>
            </a:endParaRPr>
          </a:p>
        </p:txBody>
      </p:sp>
      <p:pic>
        <p:nvPicPr>
          <p:cNvPr id="2" name="Google Shape;111;p16">
            <a:extLst>
              <a:ext uri="{FF2B5EF4-FFF2-40B4-BE49-F238E27FC236}">
                <a16:creationId xmlns:a16="http://schemas.microsoft.com/office/drawing/2014/main" id="{95878F31-3B72-E7A1-23F7-0D4B21F6FC48}"/>
              </a:ext>
            </a:extLst>
          </p:cNvPr>
          <p:cNvPicPr preferRelativeResize="0"/>
          <p:nvPr/>
        </p:nvPicPr>
        <p:blipFill rotWithShape="1">
          <a:blip r:embed="rId6">
            <a:alphaModFix/>
          </a:blip>
          <a:srcRect t="44399" r="41038" b="28367"/>
          <a:stretch/>
        </p:blipFill>
        <p:spPr>
          <a:xfrm>
            <a:off x="55129" y="1132205"/>
            <a:ext cx="1866899" cy="14072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49"/>
        <p:cNvGrpSpPr/>
        <p:nvPr/>
      </p:nvGrpSpPr>
      <p:grpSpPr>
        <a:xfrm>
          <a:off x="0" y="0"/>
          <a:ext cx="0" cy="0"/>
          <a:chOff x="0" y="0"/>
          <a:chExt cx="0" cy="0"/>
        </a:xfrm>
      </p:grpSpPr>
      <p:sp>
        <p:nvSpPr>
          <p:cNvPr id="1450" name="Google Shape;1450;p75"/>
          <p:cNvSpPr txBox="1">
            <a:spLocks noGrp="1"/>
          </p:cNvSpPr>
          <p:nvPr>
            <p:ph type="title"/>
          </p:nvPr>
        </p:nvSpPr>
        <p:spPr>
          <a:xfrm>
            <a:off x="1162050" y="273844"/>
            <a:ext cx="6122670" cy="920269"/>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dirty="0"/>
              <a:t>MGXlab: taxonomy assignment on all three levels</a:t>
            </a:r>
            <a:endParaRPr dirty="0"/>
          </a:p>
        </p:txBody>
      </p:sp>
      <p:sp>
        <p:nvSpPr>
          <p:cNvPr id="1451" name="Google Shape;1451;p75"/>
          <p:cNvSpPr/>
          <p:nvPr/>
        </p:nvSpPr>
        <p:spPr>
          <a:xfrm>
            <a:off x="1073461" y="1716973"/>
            <a:ext cx="6773100" cy="2615400"/>
          </a:xfrm>
          <a:prstGeom prst="roundRect">
            <a:avLst>
              <a:gd name="adj" fmla="val 16667"/>
            </a:avLst>
          </a:prstGeom>
          <a:solidFill>
            <a:srgbClr val="F2F2F2"/>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452" name="Google Shape;1452;p75"/>
          <p:cNvSpPr/>
          <p:nvPr/>
        </p:nvSpPr>
        <p:spPr>
          <a:xfrm>
            <a:off x="5040277" y="2355653"/>
            <a:ext cx="1899000" cy="1381500"/>
          </a:xfrm>
          <a:prstGeom prst="roundRect">
            <a:avLst>
              <a:gd name="adj" fmla="val 16667"/>
            </a:avLst>
          </a:prstGeom>
          <a:solidFill>
            <a:srgbClr val="F2F2F2"/>
          </a:solidFill>
          <a:ln w="28575" cap="flat" cmpd="sng">
            <a:solidFill>
              <a:srgbClr val="F6DC8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grpSp>
        <p:nvGrpSpPr>
          <p:cNvPr id="1453" name="Google Shape;1453;p75"/>
          <p:cNvGrpSpPr/>
          <p:nvPr/>
        </p:nvGrpSpPr>
        <p:grpSpPr>
          <a:xfrm>
            <a:off x="1618299" y="2962701"/>
            <a:ext cx="979675" cy="395311"/>
            <a:chOff x="7679454" y="743343"/>
            <a:chExt cx="836400" cy="468600"/>
          </a:xfrm>
        </p:grpSpPr>
        <p:cxnSp>
          <p:nvCxnSpPr>
            <p:cNvPr id="1454" name="Google Shape;1454;p75"/>
            <p:cNvCxnSpPr/>
            <p:nvPr/>
          </p:nvCxnSpPr>
          <p:spPr>
            <a:xfrm>
              <a:off x="7823162" y="890217"/>
              <a:ext cx="570900" cy="0"/>
            </a:xfrm>
            <a:prstGeom prst="straightConnector1">
              <a:avLst/>
            </a:prstGeom>
            <a:noFill/>
            <a:ln w="28575" cap="flat" cmpd="sng">
              <a:solidFill>
                <a:srgbClr val="FF845E"/>
              </a:solidFill>
              <a:prstDash val="solid"/>
              <a:miter lim="800000"/>
              <a:headEnd type="none" w="sm" len="sm"/>
              <a:tailEnd type="none" w="sm" len="sm"/>
            </a:ln>
          </p:spPr>
        </p:cxnSp>
        <p:cxnSp>
          <p:nvCxnSpPr>
            <p:cNvPr id="1455" name="Google Shape;1455;p75"/>
            <p:cNvCxnSpPr/>
            <p:nvPr/>
          </p:nvCxnSpPr>
          <p:spPr>
            <a:xfrm>
              <a:off x="7754582" y="977630"/>
              <a:ext cx="570900" cy="0"/>
            </a:xfrm>
            <a:prstGeom prst="straightConnector1">
              <a:avLst/>
            </a:prstGeom>
            <a:noFill/>
            <a:ln w="28575" cap="flat" cmpd="sng">
              <a:solidFill>
                <a:srgbClr val="FF845E"/>
              </a:solidFill>
              <a:prstDash val="solid"/>
              <a:miter lim="800000"/>
              <a:headEnd type="none" w="sm" len="sm"/>
              <a:tailEnd type="none" w="sm" len="sm"/>
            </a:ln>
          </p:spPr>
        </p:cxnSp>
        <p:cxnSp>
          <p:nvCxnSpPr>
            <p:cNvPr id="1456" name="Google Shape;1456;p75"/>
            <p:cNvCxnSpPr/>
            <p:nvPr/>
          </p:nvCxnSpPr>
          <p:spPr>
            <a:xfrm>
              <a:off x="7823162" y="1062471"/>
              <a:ext cx="570900" cy="0"/>
            </a:xfrm>
            <a:prstGeom prst="straightConnector1">
              <a:avLst/>
            </a:prstGeom>
            <a:noFill/>
            <a:ln w="28575" cap="flat" cmpd="sng">
              <a:solidFill>
                <a:srgbClr val="FF845E"/>
              </a:solidFill>
              <a:prstDash val="solid"/>
              <a:miter lim="800000"/>
              <a:headEnd type="none" w="sm" len="sm"/>
              <a:tailEnd type="none" w="sm" len="sm"/>
            </a:ln>
          </p:spPr>
        </p:cxnSp>
        <p:sp>
          <p:nvSpPr>
            <p:cNvPr id="1457" name="Google Shape;1457;p75"/>
            <p:cNvSpPr/>
            <p:nvPr/>
          </p:nvSpPr>
          <p:spPr>
            <a:xfrm>
              <a:off x="7679454" y="743343"/>
              <a:ext cx="836400" cy="468600"/>
            </a:xfrm>
            <a:prstGeom prst="ellipse">
              <a:avLst/>
            </a:prstGeom>
            <a:noFill/>
            <a:ln w="28575" cap="flat" cmpd="sng">
              <a:solidFill>
                <a:srgbClr val="5E59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grpSp>
      <p:sp>
        <p:nvSpPr>
          <p:cNvPr id="1458" name="Google Shape;1458;p75"/>
          <p:cNvSpPr txBox="1"/>
          <p:nvPr/>
        </p:nvSpPr>
        <p:spPr>
          <a:xfrm>
            <a:off x="4939960" y="2388310"/>
            <a:ext cx="21006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200" b="1">
                <a:solidFill>
                  <a:srgbClr val="000000"/>
                </a:solidFill>
                <a:latin typeface="Arial"/>
                <a:ea typeface="Arial"/>
                <a:cs typeface="Arial"/>
                <a:sym typeface="Arial"/>
              </a:rPr>
              <a:t>Taxonomic annotation of reads with DIAMOND</a:t>
            </a:r>
            <a:endParaRPr sz="1200" b="1">
              <a:solidFill>
                <a:srgbClr val="000000"/>
              </a:solidFill>
              <a:latin typeface="Arial"/>
              <a:ea typeface="Arial"/>
              <a:cs typeface="Arial"/>
              <a:sym typeface="Arial"/>
            </a:endParaRPr>
          </a:p>
        </p:txBody>
      </p:sp>
      <p:grpSp>
        <p:nvGrpSpPr>
          <p:cNvPr id="1459" name="Google Shape;1459;p75"/>
          <p:cNvGrpSpPr/>
          <p:nvPr/>
        </p:nvGrpSpPr>
        <p:grpSpPr>
          <a:xfrm>
            <a:off x="5457469" y="3035797"/>
            <a:ext cx="1074387" cy="312076"/>
            <a:chOff x="1086284" y="602324"/>
            <a:chExt cx="1074387" cy="312076"/>
          </a:xfrm>
        </p:grpSpPr>
        <p:cxnSp>
          <p:nvCxnSpPr>
            <p:cNvPr id="1460" name="Google Shape;1460;p75"/>
            <p:cNvCxnSpPr/>
            <p:nvPr/>
          </p:nvCxnSpPr>
          <p:spPr>
            <a:xfrm>
              <a:off x="1542473" y="603738"/>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61" name="Google Shape;1461;p75"/>
            <p:cNvCxnSpPr/>
            <p:nvPr/>
          </p:nvCxnSpPr>
          <p:spPr>
            <a:xfrm>
              <a:off x="1694873" y="697348"/>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62" name="Google Shape;1462;p75"/>
            <p:cNvCxnSpPr/>
            <p:nvPr/>
          </p:nvCxnSpPr>
          <p:spPr>
            <a:xfrm>
              <a:off x="1366983" y="815290"/>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63" name="Google Shape;1463;p75"/>
            <p:cNvCxnSpPr/>
            <p:nvPr/>
          </p:nvCxnSpPr>
          <p:spPr>
            <a:xfrm>
              <a:off x="1694873" y="810673"/>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64" name="Google Shape;1464;p75"/>
            <p:cNvCxnSpPr/>
            <p:nvPr/>
          </p:nvCxnSpPr>
          <p:spPr>
            <a:xfrm>
              <a:off x="1357745" y="701970"/>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65" name="Google Shape;1465;p75"/>
            <p:cNvCxnSpPr/>
            <p:nvPr/>
          </p:nvCxnSpPr>
          <p:spPr>
            <a:xfrm>
              <a:off x="1232521" y="602324"/>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66" name="Google Shape;1466;p75"/>
            <p:cNvCxnSpPr/>
            <p:nvPr/>
          </p:nvCxnSpPr>
          <p:spPr>
            <a:xfrm>
              <a:off x="1865566" y="603738"/>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67" name="Google Shape;1467;p75"/>
            <p:cNvCxnSpPr/>
            <p:nvPr/>
          </p:nvCxnSpPr>
          <p:spPr>
            <a:xfrm>
              <a:off x="1549223" y="914400"/>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68" name="Google Shape;1468;p75"/>
            <p:cNvCxnSpPr/>
            <p:nvPr/>
          </p:nvCxnSpPr>
          <p:spPr>
            <a:xfrm>
              <a:off x="1239271" y="912986"/>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69" name="Google Shape;1469;p75"/>
            <p:cNvCxnSpPr/>
            <p:nvPr/>
          </p:nvCxnSpPr>
          <p:spPr>
            <a:xfrm>
              <a:off x="1872316" y="914400"/>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70" name="Google Shape;1470;p75"/>
            <p:cNvCxnSpPr/>
            <p:nvPr/>
          </p:nvCxnSpPr>
          <p:spPr>
            <a:xfrm>
              <a:off x="1940471" y="746196"/>
              <a:ext cx="220200" cy="0"/>
            </a:xfrm>
            <a:prstGeom prst="straightConnector1">
              <a:avLst/>
            </a:prstGeom>
            <a:noFill/>
            <a:ln w="28575" cap="flat" cmpd="sng">
              <a:solidFill>
                <a:srgbClr val="F6DC85"/>
              </a:solidFill>
              <a:prstDash val="solid"/>
              <a:miter lim="800000"/>
              <a:headEnd type="none" w="sm" len="sm"/>
              <a:tailEnd type="none" w="sm" len="sm"/>
            </a:ln>
          </p:spPr>
        </p:cxnSp>
        <p:cxnSp>
          <p:nvCxnSpPr>
            <p:cNvPr id="1471" name="Google Shape;1471;p75"/>
            <p:cNvCxnSpPr/>
            <p:nvPr/>
          </p:nvCxnSpPr>
          <p:spPr>
            <a:xfrm>
              <a:off x="1086284" y="746196"/>
              <a:ext cx="220200" cy="0"/>
            </a:xfrm>
            <a:prstGeom prst="straightConnector1">
              <a:avLst/>
            </a:prstGeom>
            <a:noFill/>
            <a:ln w="28575" cap="flat" cmpd="sng">
              <a:solidFill>
                <a:srgbClr val="F6DC85"/>
              </a:solidFill>
              <a:prstDash val="solid"/>
              <a:miter lim="800000"/>
              <a:headEnd type="none" w="sm" len="sm"/>
              <a:tailEnd type="none" w="sm" len="sm"/>
            </a:ln>
          </p:spPr>
        </p:cxnSp>
      </p:grpSp>
      <p:sp>
        <p:nvSpPr>
          <p:cNvPr id="1472" name="Google Shape;1472;p75"/>
          <p:cNvSpPr txBox="1"/>
          <p:nvPr/>
        </p:nvSpPr>
        <p:spPr>
          <a:xfrm>
            <a:off x="1087768" y="2399700"/>
            <a:ext cx="18990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200" b="1">
                <a:solidFill>
                  <a:srgbClr val="000000"/>
                </a:solidFill>
                <a:latin typeface="Arial"/>
                <a:ea typeface="Arial"/>
                <a:cs typeface="Arial"/>
                <a:sym typeface="Arial"/>
              </a:rPr>
              <a:t>Taxonomic annotation of MAGs with BAT</a:t>
            </a:r>
            <a:endParaRPr sz="1200" b="1">
              <a:solidFill>
                <a:srgbClr val="000000"/>
              </a:solidFill>
              <a:latin typeface="Arial"/>
              <a:ea typeface="Arial"/>
              <a:cs typeface="Arial"/>
              <a:sym typeface="Arial"/>
            </a:endParaRPr>
          </a:p>
        </p:txBody>
      </p:sp>
      <p:sp>
        <p:nvSpPr>
          <p:cNvPr id="1473" name="Google Shape;1473;p75"/>
          <p:cNvSpPr txBox="1"/>
          <p:nvPr/>
        </p:nvSpPr>
        <p:spPr>
          <a:xfrm>
            <a:off x="3071977" y="2398114"/>
            <a:ext cx="18990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200" b="1">
                <a:solidFill>
                  <a:srgbClr val="000000"/>
                </a:solidFill>
                <a:latin typeface="Arial"/>
                <a:ea typeface="Arial"/>
                <a:cs typeface="Arial"/>
                <a:sym typeface="Arial"/>
              </a:rPr>
              <a:t>Taxonomic annotation of contigs with CAT</a:t>
            </a:r>
            <a:endParaRPr sz="1200" b="1">
              <a:solidFill>
                <a:srgbClr val="000000"/>
              </a:solidFill>
              <a:latin typeface="Arial"/>
              <a:ea typeface="Arial"/>
              <a:cs typeface="Arial"/>
              <a:sym typeface="Arial"/>
            </a:endParaRPr>
          </a:p>
        </p:txBody>
      </p:sp>
      <p:grpSp>
        <p:nvGrpSpPr>
          <p:cNvPr id="1474" name="Google Shape;1474;p75"/>
          <p:cNvGrpSpPr/>
          <p:nvPr/>
        </p:nvGrpSpPr>
        <p:grpSpPr>
          <a:xfrm>
            <a:off x="3563245" y="3035186"/>
            <a:ext cx="904884" cy="270213"/>
            <a:chOff x="3431916" y="2037568"/>
            <a:chExt cx="904884" cy="270213"/>
          </a:xfrm>
        </p:grpSpPr>
        <p:cxnSp>
          <p:nvCxnSpPr>
            <p:cNvPr id="1475" name="Google Shape;1475;p75"/>
            <p:cNvCxnSpPr/>
            <p:nvPr/>
          </p:nvCxnSpPr>
          <p:spPr>
            <a:xfrm>
              <a:off x="3431916" y="2037568"/>
              <a:ext cx="699900" cy="0"/>
            </a:xfrm>
            <a:prstGeom prst="straightConnector1">
              <a:avLst/>
            </a:prstGeom>
            <a:noFill/>
            <a:ln w="28575" cap="flat" cmpd="sng">
              <a:solidFill>
                <a:srgbClr val="FF845E"/>
              </a:solidFill>
              <a:prstDash val="solid"/>
              <a:miter lim="800000"/>
              <a:headEnd type="none" w="sm" len="sm"/>
              <a:tailEnd type="none" w="sm" len="sm"/>
            </a:ln>
          </p:spPr>
        </p:cxnSp>
        <p:cxnSp>
          <p:nvCxnSpPr>
            <p:cNvPr id="1476" name="Google Shape;1476;p75"/>
            <p:cNvCxnSpPr/>
            <p:nvPr/>
          </p:nvCxnSpPr>
          <p:spPr>
            <a:xfrm>
              <a:off x="3431916" y="2117420"/>
              <a:ext cx="855000" cy="0"/>
            </a:xfrm>
            <a:prstGeom prst="straightConnector1">
              <a:avLst/>
            </a:prstGeom>
            <a:noFill/>
            <a:ln w="28575" cap="flat" cmpd="sng">
              <a:solidFill>
                <a:srgbClr val="FF845E"/>
              </a:solidFill>
              <a:prstDash val="solid"/>
              <a:miter lim="800000"/>
              <a:headEnd type="none" w="sm" len="sm"/>
              <a:tailEnd type="none" w="sm" len="sm"/>
            </a:ln>
          </p:spPr>
        </p:cxnSp>
        <p:cxnSp>
          <p:nvCxnSpPr>
            <p:cNvPr id="1477" name="Google Shape;1477;p75"/>
            <p:cNvCxnSpPr/>
            <p:nvPr/>
          </p:nvCxnSpPr>
          <p:spPr>
            <a:xfrm>
              <a:off x="3522238" y="2212828"/>
              <a:ext cx="699900" cy="0"/>
            </a:xfrm>
            <a:prstGeom prst="straightConnector1">
              <a:avLst/>
            </a:prstGeom>
            <a:noFill/>
            <a:ln w="28575" cap="flat" cmpd="sng">
              <a:solidFill>
                <a:srgbClr val="FF845E"/>
              </a:solidFill>
              <a:prstDash val="solid"/>
              <a:miter lim="800000"/>
              <a:headEnd type="none" w="sm" len="sm"/>
              <a:tailEnd type="none" w="sm" len="sm"/>
            </a:ln>
          </p:spPr>
        </p:cxnSp>
        <p:cxnSp>
          <p:nvCxnSpPr>
            <p:cNvPr id="1478" name="Google Shape;1478;p75"/>
            <p:cNvCxnSpPr/>
            <p:nvPr/>
          </p:nvCxnSpPr>
          <p:spPr>
            <a:xfrm>
              <a:off x="3446700" y="2307781"/>
              <a:ext cx="890100" cy="0"/>
            </a:xfrm>
            <a:prstGeom prst="straightConnector1">
              <a:avLst/>
            </a:prstGeom>
            <a:noFill/>
            <a:ln w="28575" cap="flat" cmpd="sng">
              <a:solidFill>
                <a:srgbClr val="FF845E"/>
              </a:solidFill>
              <a:prstDash val="solid"/>
              <a:miter lim="800000"/>
              <a:headEnd type="none" w="sm" len="sm"/>
              <a:tailEnd type="none" w="sm" len="sm"/>
            </a:ln>
          </p:spPr>
        </p:cxnSp>
      </p:grpSp>
      <p:sp>
        <p:nvSpPr>
          <p:cNvPr id="1479" name="Google Shape;1479;p75"/>
          <p:cNvSpPr/>
          <p:nvPr/>
        </p:nvSpPr>
        <p:spPr>
          <a:xfrm>
            <a:off x="1173142" y="2356708"/>
            <a:ext cx="1859100" cy="1381500"/>
          </a:xfrm>
          <a:prstGeom prst="roundRect">
            <a:avLst>
              <a:gd name="adj" fmla="val 16667"/>
            </a:avLst>
          </a:prstGeom>
          <a:noFill/>
          <a:ln w="28575" cap="flat" cmpd="sng">
            <a:solidFill>
              <a:srgbClr val="5E59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480" name="Google Shape;1480;p75"/>
          <p:cNvSpPr/>
          <p:nvPr/>
        </p:nvSpPr>
        <p:spPr>
          <a:xfrm>
            <a:off x="3128439" y="2358679"/>
            <a:ext cx="1831200" cy="1381500"/>
          </a:xfrm>
          <a:prstGeom prst="roundRect">
            <a:avLst>
              <a:gd name="adj" fmla="val 16667"/>
            </a:avLst>
          </a:prstGeom>
          <a:noFill/>
          <a:ln w="28575" cap="flat" cmpd="sng">
            <a:solidFill>
              <a:srgbClr val="FF84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481" name="Google Shape;1481;p75"/>
          <p:cNvSpPr txBox="1"/>
          <p:nvPr/>
        </p:nvSpPr>
        <p:spPr>
          <a:xfrm>
            <a:off x="6893018" y="2539409"/>
            <a:ext cx="986400" cy="91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331" b="1">
                <a:solidFill>
                  <a:srgbClr val="000000"/>
                </a:solidFill>
                <a:latin typeface="Arial"/>
                <a:ea typeface="Arial"/>
                <a:cs typeface="Arial"/>
                <a:sym typeface="Arial"/>
              </a:rPr>
              <a:t>RAT</a:t>
            </a:r>
            <a:endParaRPr/>
          </a:p>
          <a:p>
            <a:pPr marL="0" marR="0" lvl="0" indent="0" algn="ctr" rtl="0">
              <a:spcBef>
                <a:spcPts val="0"/>
              </a:spcBef>
              <a:spcAft>
                <a:spcPts val="0"/>
              </a:spcAft>
              <a:buNone/>
            </a:pPr>
            <a:r>
              <a:rPr lang="en" sz="1331">
                <a:solidFill>
                  <a:srgbClr val="000000"/>
                </a:solidFill>
                <a:latin typeface="Arial"/>
                <a:ea typeface="Arial"/>
                <a:cs typeface="Arial"/>
                <a:sym typeface="Arial"/>
              </a:rPr>
              <a:t>Integrated taxonomic profiling</a:t>
            </a:r>
            <a:endParaRPr sz="1331">
              <a:solidFill>
                <a:srgbClr val="000000"/>
              </a:solidFill>
              <a:latin typeface="Arial"/>
              <a:ea typeface="Arial"/>
              <a:cs typeface="Arial"/>
              <a:sym typeface="Arial"/>
            </a:endParaRPr>
          </a:p>
        </p:txBody>
      </p:sp>
      <p:grpSp>
        <p:nvGrpSpPr>
          <p:cNvPr id="1482" name="Google Shape;1482;p75"/>
          <p:cNvGrpSpPr/>
          <p:nvPr/>
        </p:nvGrpSpPr>
        <p:grpSpPr>
          <a:xfrm>
            <a:off x="1367038" y="3848435"/>
            <a:ext cx="5459880" cy="394024"/>
            <a:chOff x="332488" y="3044232"/>
            <a:chExt cx="5459880" cy="394024"/>
          </a:xfrm>
        </p:grpSpPr>
        <p:sp>
          <p:nvSpPr>
            <p:cNvPr id="1483" name="Google Shape;1483;p75"/>
            <p:cNvSpPr/>
            <p:nvPr/>
          </p:nvSpPr>
          <p:spPr>
            <a:xfrm flipH="1">
              <a:off x="451340" y="3044232"/>
              <a:ext cx="5341028" cy="394024"/>
            </a:xfrm>
            <a:custGeom>
              <a:avLst/>
              <a:gdLst/>
              <a:ahLst/>
              <a:cxnLst/>
              <a:rect l="l" t="t" r="r" b="b"/>
              <a:pathLst>
                <a:path w="10006" h="16282" extrusionOk="0">
                  <a:moveTo>
                    <a:pt x="0" y="6969"/>
                  </a:moveTo>
                  <a:lnTo>
                    <a:pt x="10006" y="0"/>
                  </a:lnTo>
                  <a:cubicBezTo>
                    <a:pt x="9989" y="4961"/>
                    <a:pt x="10005" y="11321"/>
                    <a:pt x="9988" y="16282"/>
                  </a:cubicBezTo>
                  <a:cubicBezTo>
                    <a:pt x="6671" y="15004"/>
                    <a:pt x="3323" y="12328"/>
                    <a:pt x="6" y="11050"/>
                  </a:cubicBezTo>
                  <a:cubicBezTo>
                    <a:pt x="-4" y="9187"/>
                    <a:pt x="10" y="8832"/>
                    <a:pt x="0" y="6969"/>
                  </a:cubicBezTo>
                  <a:close/>
                </a:path>
              </a:pathLst>
            </a:custGeom>
            <a:gradFill>
              <a:gsLst>
                <a:gs pos="0">
                  <a:srgbClr val="F2F2F2"/>
                </a:gs>
                <a:gs pos="37000">
                  <a:srgbClr val="79D1A1"/>
                </a:gs>
                <a:gs pos="100000">
                  <a:srgbClr val="00B0F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484" name="Google Shape;1484;p75"/>
            <p:cNvSpPr txBox="1"/>
            <p:nvPr/>
          </p:nvSpPr>
          <p:spPr>
            <a:xfrm>
              <a:off x="332488" y="3111107"/>
              <a:ext cx="28191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200" b="1">
                  <a:solidFill>
                    <a:srgbClr val="FFFFFF"/>
                  </a:solidFill>
                  <a:latin typeface="Arial"/>
                  <a:ea typeface="Arial"/>
                  <a:cs typeface="Arial"/>
                  <a:sym typeface="Arial"/>
                </a:rPr>
                <a:t>Reliability of taxonomic annotation</a:t>
              </a:r>
              <a:endParaRPr sz="1200" b="1">
                <a:solidFill>
                  <a:srgbClr val="FFFFFF"/>
                </a:solidFill>
                <a:latin typeface="Arial"/>
                <a:ea typeface="Arial"/>
                <a:cs typeface="Arial"/>
                <a:sym typeface="Arial"/>
              </a:endParaRPr>
            </a:p>
          </p:txBody>
        </p:sp>
      </p:grpSp>
      <p:grpSp>
        <p:nvGrpSpPr>
          <p:cNvPr id="1485" name="Google Shape;1485;p75"/>
          <p:cNvGrpSpPr/>
          <p:nvPr/>
        </p:nvGrpSpPr>
        <p:grpSpPr>
          <a:xfrm>
            <a:off x="1555561" y="1836515"/>
            <a:ext cx="5625942" cy="415881"/>
            <a:chOff x="451339" y="3404416"/>
            <a:chExt cx="5625942" cy="415881"/>
          </a:xfrm>
        </p:grpSpPr>
        <p:sp>
          <p:nvSpPr>
            <p:cNvPr id="1486" name="Google Shape;1486;p75"/>
            <p:cNvSpPr/>
            <p:nvPr/>
          </p:nvSpPr>
          <p:spPr>
            <a:xfrm rot="10800000" flipH="1">
              <a:off x="451339" y="3404416"/>
              <a:ext cx="5368784" cy="415881"/>
            </a:xfrm>
            <a:custGeom>
              <a:avLst/>
              <a:gdLst/>
              <a:ahLst/>
              <a:cxnLst/>
              <a:rect l="l" t="t" r="r" b="b"/>
              <a:pathLst>
                <a:path w="10058" h="17520" extrusionOk="0">
                  <a:moveTo>
                    <a:pt x="0" y="8415"/>
                  </a:moveTo>
                  <a:cubicBezTo>
                    <a:pt x="3335" y="5848"/>
                    <a:pt x="6718" y="2567"/>
                    <a:pt x="10053" y="0"/>
                  </a:cubicBezTo>
                  <a:cubicBezTo>
                    <a:pt x="10070" y="5602"/>
                    <a:pt x="10039" y="11918"/>
                    <a:pt x="10056" y="17520"/>
                  </a:cubicBezTo>
                  <a:lnTo>
                    <a:pt x="6" y="12496"/>
                  </a:lnTo>
                  <a:cubicBezTo>
                    <a:pt x="-4" y="10633"/>
                    <a:pt x="10" y="10278"/>
                    <a:pt x="0" y="8415"/>
                  </a:cubicBezTo>
                  <a:close/>
                </a:path>
              </a:pathLst>
            </a:custGeom>
            <a:gradFill>
              <a:gsLst>
                <a:gs pos="0">
                  <a:srgbClr val="F2F2F2"/>
                </a:gs>
                <a:gs pos="32000">
                  <a:srgbClr val="FF66FF"/>
                </a:gs>
                <a:gs pos="100000">
                  <a:srgbClr val="7127A8"/>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487" name="Google Shape;1487;p75"/>
            <p:cNvSpPr txBox="1"/>
            <p:nvPr/>
          </p:nvSpPr>
          <p:spPr>
            <a:xfrm>
              <a:off x="3258181" y="3429263"/>
              <a:ext cx="2819100" cy="297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331" b="1">
                  <a:solidFill>
                    <a:srgbClr val="FFFFFF"/>
                  </a:solidFill>
                  <a:latin typeface="Arial"/>
                  <a:ea typeface="Arial"/>
                  <a:cs typeface="Arial"/>
                  <a:sym typeface="Arial"/>
                </a:rPr>
                <a:t>Fraction of data represented</a:t>
              </a:r>
              <a:endParaRPr sz="1331" b="1">
                <a:solidFill>
                  <a:srgbClr val="FFFFFF"/>
                </a:solidFill>
                <a:latin typeface="Arial"/>
                <a:ea typeface="Arial"/>
                <a:cs typeface="Arial"/>
                <a:sym typeface="Arial"/>
              </a:endParaRPr>
            </a:p>
          </p:txBody>
        </p:sp>
      </p:grpSp>
      <p:grpSp>
        <p:nvGrpSpPr>
          <p:cNvPr id="1488" name="Google Shape;1488;p75"/>
          <p:cNvGrpSpPr/>
          <p:nvPr/>
        </p:nvGrpSpPr>
        <p:grpSpPr>
          <a:xfrm rot="-1859830">
            <a:off x="2077871" y="2953204"/>
            <a:ext cx="439504" cy="711940"/>
            <a:chOff x="921056" y="2802431"/>
            <a:chExt cx="439500" cy="711934"/>
          </a:xfrm>
        </p:grpSpPr>
        <p:sp>
          <p:nvSpPr>
            <p:cNvPr id="1489" name="Google Shape;1489;p75"/>
            <p:cNvSpPr/>
            <p:nvPr/>
          </p:nvSpPr>
          <p:spPr>
            <a:xfrm>
              <a:off x="921056" y="2802431"/>
              <a:ext cx="439500" cy="440400"/>
            </a:xfrm>
            <a:prstGeom prst="ellipse">
              <a:avLst/>
            </a:prstGeom>
            <a:noFill/>
            <a:ln w="571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490" name="Google Shape;1490;p75"/>
            <p:cNvSpPr/>
            <p:nvPr/>
          </p:nvSpPr>
          <p:spPr>
            <a:xfrm>
              <a:off x="1109937" y="3231765"/>
              <a:ext cx="71400" cy="282600"/>
            </a:xfrm>
            <a:prstGeom prst="trapezoid">
              <a:avLst>
                <a:gd name="adj" fmla="val 25000"/>
              </a:avLst>
            </a:prstGeom>
            <a:solidFill>
              <a:srgbClr val="0000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grpSp>
      <p:grpSp>
        <p:nvGrpSpPr>
          <p:cNvPr id="1491" name="Google Shape;1491;p75"/>
          <p:cNvGrpSpPr/>
          <p:nvPr/>
        </p:nvGrpSpPr>
        <p:grpSpPr>
          <a:xfrm rot="-1859830">
            <a:off x="3981700" y="2952779"/>
            <a:ext cx="439504" cy="711940"/>
            <a:chOff x="921056" y="2802431"/>
            <a:chExt cx="439500" cy="711934"/>
          </a:xfrm>
        </p:grpSpPr>
        <p:sp>
          <p:nvSpPr>
            <p:cNvPr id="1492" name="Google Shape;1492;p75"/>
            <p:cNvSpPr/>
            <p:nvPr/>
          </p:nvSpPr>
          <p:spPr>
            <a:xfrm>
              <a:off x="921056" y="2802431"/>
              <a:ext cx="439500" cy="440400"/>
            </a:xfrm>
            <a:prstGeom prst="ellipse">
              <a:avLst/>
            </a:prstGeom>
            <a:noFill/>
            <a:ln w="571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493" name="Google Shape;1493;p75"/>
            <p:cNvSpPr/>
            <p:nvPr/>
          </p:nvSpPr>
          <p:spPr>
            <a:xfrm>
              <a:off x="1109937" y="3231765"/>
              <a:ext cx="71400" cy="282600"/>
            </a:xfrm>
            <a:prstGeom prst="trapezoid">
              <a:avLst>
                <a:gd name="adj" fmla="val 25000"/>
              </a:avLst>
            </a:prstGeom>
            <a:solidFill>
              <a:srgbClr val="0000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grpSp>
      <p:grpSp>
        <p:nvGrpSpPr>
          <p:cNvPr id="1494" name="Google Shape;1494;p75"/>
          <p:cNvGrpSpPr/>
          <p:nvPr/>
        </p:nvGrpSpPr>
        <p:grpSpPr>
          <a:xfrm rot="-1859830">
            <a:off x="5909244" y="2952545"/>
            <a:ext cx="439504" cy="711940"/>
            <a:chOff x="921056" y="2802431"/>
            <a:chExt cx="439500" cy="711934"/>
          </a:xfrm>
        </p:grpSpPr>
        <p:sp>
          <p:nvSpPr>
            <p:cNvPr id="1495" name="Google Shape;1495;p75"/>
            <p:cNvSpPr/>
            <p:nvPr/>
          </p:nvSpPr>
          <p:spPr>
            <a:xfrm>
              <a:off x="921056" y="2802431"/>
              <a:ext cx="439500" cy="440400"/>
            </a:xfrm>
            <a:prstGeom prst="ellipse">
              <a:avLst/>
            </a:prstGeom>
            <a:noFill/>
            <a:ln w="571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496" name="Google Shape;1496;p75"/>
            <p:cNvSpPr/>
            <p:nvPr/>
          </p:nvSpPr>
          <p:spPr>
            <a:xfrm>
              <a:off x="1109937" y="3231765"/>
              <a:ext cx="71400" cy="282600"/>
            </a:xfrm>
            <a:prstGeom prst="trapezoid">
              <a:avLst>
                <a:gd name="adj" fmla="val 25000"/>
              </a:avLst>
            </a:prstGeom>
            <a:solidFill>
              <a:srgbClr val="0000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grpSp>
      <p:pic>
        <p:nvPicPr>
          <p:cNvPr id="1497" name="Google Shape;1497;p75"/>
          <p:cNvPicPr preferRelativeResize="0"/>
          <p:nvPr/>
        </p:nvPicPr>
        <p:blipFill rotWithShape="1">
          <a:blip r:embed="rId3">
            <a:alphaModFix/>
          </a:blip>
          <a:srcRect l="24826" t="11934" r="22104" b="27644"/>
          <a:stretch/>
        </p:blipFill>
        <p:spPr>
          <a:xfrm>
            <a:off x="265650" y="347787"/>
            <a:ext cx="743400" cy="846326"/>
          </a:xfrm>
          <a:prstGeom prst="rect">
            <a:avLst/>
          </a:prstGeom>
          <a:noFill/>
          <a:ln>
            <a:noFill/>
          </a:ln>
        </p:spPr>
      </p:pic>
      <p:sp>
        <p:nvSpPr>
          <p:cNvPr id="1499" name="Google Shape;1499;p75"/>
          <p:cNvSpPr txBox="1"/>
          <p:nvPr/>
        </p:nvSpPr>
        <p:spPr>
          <a:xfrm>
            <a:off x="5040280" y="4353724"/>
            <a:ext cx="4387200" cy="808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1"/>
                </a:solidFill>
                <a:latin typeface="Calibri"/>
                <a:ea typeface="Calibri"/>
                <a:cs typeface="Calibri"/>
                <a:sym typeface="Calibri"/>
              </a:rPr>
              <a:t>20 metagenomic classifiers compared: </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1"/>
                </a:solidFill>
                <a:latin typeface="Calibri"/>
                <a:ea typeface="Calibri"/>
                <a:cs typeface="Calibri"/>
                <a:sym typeface="Calibri"/>
              </a:rPr>
              <a:t>Simon et.al, 2019 </a:t>
            </a:r>
            <a:r>
              <a:rPr lang="en" sz="1200" b="0" i="0" u="none" strike="noStrike" cap="none" dirty="0">
                <a:solidFill>
                  <a:schemeClr val="dk1"/>
                </a:solidFill>
                <a:latin typeface="Calibri"/>
                <a:ea typeface="Calibri"/>
                <a:cs typeface="Calibri"/>
                <a:sym typeface="Calibri"/>
              </a:rPr>
              <a:t>(</a:t>
            </a:r>
            <a:r>
              <a:rPr lang="en" sz="1200" b="0" i="0" u="sng" strike="noStrike" cap="none" dirty="0">
                <a:solidFill>
                  <a:schemeClr val="hlink"/>
                </a:solidFill>
                <a:latin typeface="Calibri"/>
                <a:ea typeface="Calibri"/>
                <a:cs typeface="Calibri"/>
                <a:sym typeface="Calibri"/>
                <a:hlinkClick r:id="rId4"/>
              </a:rPr>
              <a:t>https://doi.org/10.1016/j.cell.2019.07.010</a:t>
            </a:r>
            <a:r>
              <a:rPr lang="en" sz="1200" b="0" i="0" u="none" strike="noStrike" cap="none" dirty="0">
                <a:solidFill>
                  <a:schemeClr val="dk1"/>
                </a:solidFill>
                <a:latin typeface="Calibri"/>
                <a:ea typeface="Calibri"/>
                <a:cs typeface="Calibri"/>
                <a:sym typeface="Calibri"/>
              </a:rPr>
              <a:t>)</a:t>
            </a:r>
            <a:endParaRPr sz="1200" b="0" i="0" u="none" strike="noStrike" cap="none" dirty="0">
              <a:solidFill>
                <a:schemeClr val="dk1"/>
              </a:solidFill>
              <a:latin typeface="Calibri"/>
              <a:ea typeface="Calibri"/>
              <a:cs typeface="Calibri"/>
              <a:sym typeface="Calibri"/>
            </a:endParaRPr>
          </a:p>
        </p:txBody>
      </p:sp>
      <p:sp>
        <p:nvSpPr>
          <p:cNvPr id="1501" name="Google Shape;1501;p75"/>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41</a:t>
            </a:fld>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15"/>
        <p:cNvGrpSpPr/>
        <p:nvPr/>
      </p:nvGrpSpPr>
      <p:grpSpPr>
        <a:xfrm>
          <a:off x="0" y="0"/>
          <a:ext cx="0" cy="0"/>
          <a:chOff x="0" y="0"/>
          <a:chExt cx="0" cy="0"/>
        </a:xfrm>
      </p:grpSpPr>
      <p:sp>
        <p:nvSpPr>
          <p:cNvPr id="1516" name="Google Shape;1516;p7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a:latin typeface="Arial"/>
                <a:ea typeface="Arial"/>
                <a:cs typeface="Arial"/>
                <a:sym typeface="Arial"/>
              </a:rPr>
              <a:t>Metagenomics workflow: Function</a:t>
            </a:r>
            <a:endParaRPr/>
          </a:p>
        </p:txBody>
      </p:sp>
      <p:sp>
        <p:nvSpPr>
          <p:cNvPr id="1517" name="Google Shape;1517;p77"/>
          <p:cNvSpPr/>
          <p:nvPr/>
        </p:nvSpPr>
        <p:spPr>
          <a:xfrm>
            <a:off x="2378028" y="1226624"/>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18" name="Google Shape;1518;p77"/>
          <p:cNvSpPr/>
          <p:nvPr/>
        </p:nvSpPr>
        <p:spPr>
          <a:xfrm>
            <a:off x="2235152" y="1663653"/>
            <a:ext cx="344400" cy="344400"/>
          </a:xfrm>
          <a:prstGeom prst="ellipse">
            <a:avLst/>
          </a:prstGeom>
          <a:solidFill>
            <a:schemeClr val="lt1"/>
          </a:solidFill>
          <a:ln w="571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19" name="Google Shape;1519;p77"/>
          <p:cNvSpPr/>
          <p:nvPr/>
        </p:nvSpPr>
        <p:spPr>
          <a:xfrm>
            <a:off x="2697395" y="1571204"/>
            <a:ext cx="344400" cy="344400"/>
          </a:xfrm>
          <a:prstGeom prst="ellipse">
            <a:avLst/>
          </a:prstGeom>
          <a:solidFill>
            <a:schemeClr val="lt1"/>
          </a:solidFill>
          <a:ln w="5715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20" name="Google Shape;1520;p77"/>
          <p:cNvSpPr/>
          <p:nvPr/>
        </p:nvSpPr>
        <p:spPr>
          <a:xfrm>
            <a:off x="2470476" y="2058661"/>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21" name="Google Shape;1521;p77"/>
          <p:cNvSpPr/>
          <p:nvPr/>
        </p:nvSpPr>
        <p:spPr>
          <a:xfrm>
            <a:off x="3494924" y="17050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1522" name="Google Shape;1522;p77" descr="DNA with solid fill"/>
          <p:cNvPicPr preferRelativeResize="0"/>
          <p:nvPr/>
        </p:nvPicPr>
        <p:blipFill rotWithShape="1">
          <a:blip r:embed="rId3">
            <a:alphaModFix/>
          </a:blip>
          <a:srcRect/>
          <a:stretch/>
        </p:blipFill>
        <p:spPr>
          <a:xfrm>
            <a:off x="4729163" y="1330342"/>
            <a:ext cx="1005167" cy="1013572"/>
          </a:xfrm>
          <a:prstGeom prst="rect">
            <a:avLst/>
          </a:prstGeom>
          <a:noFill/>
          <a:ln>
            <a:noFill/>
          </a:ln>
        </p:spPr>
      </p:pic>
      <p:pic>
        <p:nvPicPr>
          <p:cNvPr id="1523" name="Google Shape;1523;p77" descr="A picture containing electronics, indoor, computer&#10;&#10;Description automatically generated"/>
          <p:cNvPicPr preferRelativeResize="0"/>
          <p:nvPr/>
        </p:nvPicPr>
        <p:blipFill rotWithShape="1">
          <a:blip r:embed="rId4">
            <a:alphaModFix/>
          </a:blip>
          <a:srcRect/>
          <a:stretch/>
        </p:blipFill>
        <p:spPr>
          <a:xfrm>
            <a:off x="5518337" y="1607583"/>
            <a:ext cx="2057400" cy="1407262"/>
          </a:xfrm>
          <a:prstGeom prst="rect">
            <a:avLst/>
          </a:prstGeom>
          <a:noFill/>
          <a:ln>
            <a:noFill/>
          </a:ln>
        </p:spPr>
      </p:pic>
      <p:sp>
        <p:nvSpPr>
          <p:cNvPr id="1524" name="Google Shape;1524;p77"/>
          <p:cNvSpPr txBox="1"/>
          <p:nvPr/>
        </p:nvSpPr>
        <p:spPr>
          <a:xfrm>
            <a:off x="3408830" y="1408580"/>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DNA extraction</a:t>
            </a:r>
            <a:endParaRPr sz="1100" b="0" i="0" u="none" strike="noStrike" cap="none">
              <a:solidFill>
                <a:srgbClr val="000000"/>
              </a:solidFill>
              <a:latin typeface="Arial"/>
              <a:ea typeface="Arial"/>
              <a:cs typeface="Arial"/>
              <a:sym typeface="Arial"/>
            </a:endParaRPr>
          </a:p>
        </p:txBody>
      </p:sp>
      <p:sp>
        <p:nvSpPr>
          <p:cNvPr id="1525" name="Google Shape;1525;p77"/>
          <p:cNvSpPr txBox="1"/>
          <p:nvPr/>
        </p:nvSpPr>
        <p:spPr>
          <a:xfrm>
            <a:off x="6022600" y="1383375"/>
            <a:ext cx="10977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Sequencing</a:t>
            </a:r>
            <a:endParaRPr sz="1100" b="0" i="0" u="none" strike="noStrike" cap="none">
              <a:solidFill>
                <a:srgbClr val="000000"/>
              </a:solidFill>
              <a:latin typeface="Arial"/>
              <a:ea typeface="Arial"/>
              <a:cs typeface="Arial"/>
              <a:sym typeface="Arial"/>
            </a:endParaRPr>
          </a:p>
        </p:txBody>
      </p:sp>
      <p:sp>
        <p:nvSpPr>
          <p:cNvPr id="1526" name="Google Shape;1526;p77"/>
          <p:cNvSpPr/>
          <p:nvPr/>
        </p:nvSpPr>
        <p:spPr>
          <a:xfrm>
            <a:off x="6024651" y="1688245"/>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27" name="Google Shape;1527;p77"/>
          <p:cNvSpPr/>
          <p:nvPr/>
        </p:nvSpPr>
        <p:spPr>
          <a:xfrm>
            <a:off x="7597168" y="151237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28" name="Google Shape;1528;p77"/>
          <p:cNvSpPr/>
          <p:nvPr/>
        </p:nvSpPr>
        <p:spPr>
          <a:xfrm>
            <a:off x="7849300" y="176450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29" name="Google Shape;1529;p77"/>
          <p:cNvSpPr/>
          <p:nvPr/>
        </p:nvSpPr>
        <p:spPr>
          <a:xfrm>
            <a:off x="7958557" y="187376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0" name="Google Shape;1530;p77"/>
          <p:cNvSpPr/>
          <p:nvPr/>
        </p:nvSpPr>
        <p:spPr>
          <a:xfrm>
            <a:off x="8345160" y="145354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1" name="Google Shape;1531;p77"/>
          <p:cNvSpPr/>
          <p:nvPr/>
        </p:nvSpPr>
        <p:spPr>
          <a:xfrm>
            <a:off x="7597167" y="2344409"/>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2" name="Google Shape;1532;p77"/>
          <p:cNvSpPr/>
          <p:nvPr/>
        </p:nvSpPr>
        <p:spPr>
          <a:xfrm>
            <a:off x="7983770" y="224355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3" name="Google Shape;1533;p77"/>
          <p:cNvSpPr/>
          <p:nvPr/>
        </p:nvSpPr>
        <p:spPr>
          <a:xfrm>
            <a:off x="8252711" y="215951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4" name="Google Shape;1534;p77"/>
          <p:cNvSpPr/>
          <p:nvPr/>
        </p:nvSpPr>
        <p:spPr>
          <a:xfrm>
            <a:off x="8076219" y="236962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5" name="Google Shape;1535;p77"/>
          <p:cNvSpPr/>
          <p:nvPr/>
        </p:nvSpPr>
        <p:spPr>
          <a:xfrm>
            <a:off x="8143454" y="161322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6" name="Google Shape;1536;p77"/>
          <p:cNvSpPr/>
          <p:nvPr/>
        </p:nvSpPr>
        <p:spPr>
          <a:xfrm>
            <a:off x="8252711" y="172248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7" name="Google Shape;1537;p77"/>
          <p:cNvSpPr/>
          <p:nvPr/>
        </p:nvSpPr>
        <p:spPr>
          <a:xfrm>
            <a:off x="7714828" y="1655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8" name="Google Shape;1538;p77"/>
          <p:cNvSpPr/>
          <p:nvPr/>
        </p:nvSpPr>
        <p:spPr>
          <a:xfrm>
            <a:off x="7529931" y="19409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9" name="Google Shape;1539;p77"/>
          <p:cNvSpPr/>
          <p:nvPr/>
        </p:nvSpPr>
        <p:spPr>
          <a:xfrm>
            <a:off x="8437607" y="202504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40" name="Google Shape;1540;p77"/>
          <p:cNvSpPr/>
          <p:nvPr/>
        </p:nvSpPr>
        <p:spPr>
          <a:xfrm>
            <a:off x="8437607"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41" name="Google Shape;1541;p77"/>
          <p:cNvSpPr/>
          <p:nvPr/>
        </p:nvSpPr>
        <p:spPr>
          <a:xfrm>
            <a:off x="7630783" y="2159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42" name="Google Shape;1542;p77"/>
          <p:cNvSpPr/>
          <p:nvPr/>
        </p:nvSpPr>
        <p:spPr>
          <a:xfrm>
            <a:off x="8034194" y="205025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43" name="Google Shape;1543;p77"/>
          <p:cNvSpPr/>
          <p:nvPr/>
        </p:nvSpPr>
        <p:spPr>
          <a:xfrm>
            <a:off x="7849297" y="24956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44" name="Google Shape;1544;p77"/>
          <p:cNvSpPr txBox="1"/>
          <p:nvPr/>
        </p:nvSpPr>
        <p:spPr>
          <a:xfrm>
            <a:off x="7854762" y="1080806"/>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Reads</a:t>
            </a:r>
            <a:endParaRPr sz="1500" b="1" i="0" u="none" strike="noStrike" cap="none">
              <a:solidFill>
                <a:schemeClr val="dk1"/>
              </a:solidFill>
              <a:latin typeface="Calibri"/>
              <a:ea typeface="Calibri"/>
              <a:cs typeface="Calibri"/>
              <a:sym typeface="Calibri"/>
            </a:endParaRPr>
          </a:p>
        </p:txBody>
      </p:sp>
      <p:sp>
        <p:nvSpPr>
          <p:cNvPr id="1545" name="Google Shape;1545;p77"/>
          <p:cNvSpPr txBox="1"/>
          <p:nvPr/>
        </p:nvSpPr>
        <p:spPr>
          <a:xfrm>
            <a:off x="7669876" y="2618825"/>
            <a:ext cx="10368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100-150 bp</a:t>
            </a:r>
            <a:endParaRPr sz="1100" b="0" i="0" u="none" strike="noStrike" cap="none">
              <a:solidFill>
                <a:srgbClr val="000000"/>
              </a:solidFill>
              <a:latin typeface="Arial"/>
              <a:ea typeface="Arial"/>
              <a:cs typeface="Arial"/>
              <a:sym typeface="Arial"/>
            </a:endParaRPr>
          </a:p>
        </p:txBody>
      </p:sp>
      <p:sp>
        <p:nvSpPr>
          <p:cNvPr id="1546" name="Google Shape;1546;p77"/>
          <p:cNvSpPr/>
          <p:nvPr/>
        </p:nvSpPr>
        <p:spPr>
          <a:xfrm rot="5400000">
            <a:off x="7894660" y="3180091"/>
            <a:ext cx="504300" cy="1764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47" name="Google Shape;1547;p77"/>
          <p:cNvSpPr/>
          <p:nvPr/>
        </p:nvSpPr>
        <p:spPr>
          <a:xfrm>
            <a:off x="7714146" y="3772934"/>
            <a:ext cx="1370100" cy="161400"/>
          </a:xfrm>
          <a:prstGeom prst="rect">
            <a:avLst/>
          </a:prstGeom>
          <a:solidFill>
            <a:srgbClr val="00B0F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48" name="Google Shape;1548;p77"/>
          <p:cNvSpPr/>
          <p:nvPr/>
        </p:nvSpPr>
        <p:spPr>
          <a:xfrm>
            <a:off x="7588761"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49" name="Google Shape;1549;p77"/>
          <p:cNvSpPr/>
          <p:nvPr/>
        </p:nvSpPr>
        <p:spPr>
          <a:xfrm>
            <a:off x="7351526" y="4012301"/>
            <a:ext cx="1337100" cy="37800"/>
          </a:xfrm>
          <a:prstGeom prst="rect">
            <a:avLst/>
          </a:prstGeom>
          <a:solidFill>
            <a:srgbClr val="FFC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50" name="Google Shape;1550;p77"/>
          <p:cNvSpPr/>
          <p:nvPr/>
        </p:nvSpPr>
        <p:spPr>
          <a:xfrm>
            <a:off x="7588762" y="4176571"/>
            <a:ext cx="1454100" cy="84300"/>
          </a:xfrm>
          <a:prstGeom prst="rect">
            <a:avLst/>
          </a:prstGeom>
          <a:solidFill>
            <a:srgbClr val="C0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51" name="Google Shape;1551;p77"/>
          <p:cNvSpPr txBox="1"/>
          <p:nvPr/>
        </p:nvSpPr>
        <p:spPr>
          <a:xfrm>
            <a:off x="7888379" y="3526489"/>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Scaffolds</a:t>
            </a:r>
            <a:endParaRPr sz="1400" b="0" i="0" u="none" strike="noStrike" cap="none">
              <a:solidFill>
                <a:schemeClr val="dk1"/>
              </a:solidFill>
              <a:latin typeface="Calibri"/>
              <a:ea typeface="Calibri"/>
              <a:cs typeface="Calibri"/>
              <a:sym typeface="Calibri"/>
            </a:endParaRPr>
          </a:p>
        </p:txBody>
      </p:sp>
      <p:sp>
        <p:nvSpPr>
          <p:cNvPr id="1552" name="Google Shape;1552;p77"/>
          <p:cNvSpPr txBox="1"/>
          <p:nvPr/>
        </p:nvSpPr>
        <p:spPr>
          <a:xfrm>
            <a:off x="7669865" y="4476188"/>
            <a:ext cx="948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1000+ bp</a:t>
            </a:r>
            <a:endParaRPr sz="1100" b="0" i="0" u="none" strike="noStrike" cap="none">
              <a:solidFill>
                <a:srgbClr val="000000"/>
              </a:solidFill>
              <a:latin typeface="Arial"/>
              <a:ea typeface="Arial"/>
              <a:cs typeface="Arial"/>
              <a:sym typeface="Arial"/>
            </a:endParaRPr>
          </a:p>
        </p:txBody>
      </p:sp>
      <p:sp>
        <p:nvSpPr>
          <p:cNvPr id="1553" name="Google Shape;1553;p77"/>
          <p:cNvSpPr txBox="1"/>
          <p:nvPr/>
        </p:nvSpPr>
        <p:spPr>
          <a:xfrm>
            <a:off x="7274297" y="3131483"/>
            <a:ext cx="948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Assembly</a:t>
            </a:r>
            <a:endParaRPr sz="1100" b="0" i="0" u="none" strike="noStrike" cap="none">
              <a:solidFill>
                <a:srgbClr val="000000"/>
              </a:solidFill>
              <a:latin typeface="Arial"/>
              <a:ea typeface="Arial"/>
              <a:cs typeface="Arial"/>
              <a:sym typeface="Arial"/>
            </a:endParaRPr>
          </a:p>
        </p:txBody>
      </p:sp>
      <p:grpSp>
        <p:nvGrpSpPr>
          <p:cNvPr id="1554" name="Google Shape;1554;p77"/>
          <p:cNvGrpSpPr/>
          <p:nvPr/>
        </p:nvGrpSpPr>
        <p:grpSpPr>
          <a:xfrm>
            <a:off x="6024648" y="3192660"/>
            <a:ext cx="1350228" cy="1729973"/>
            <a:chOff x="8032864" y="4256880"/>
            <a:chExt cx="1800304" cy="2306630"/>
          </a:xfrm>
        </p:grpSpPr>
        <p:sp>
          <p:nvSpPr>
            <p:cNvPr id="1555" name="Google Shape;1555;p77"/>
            <p:cNvSpPr txBox="1"/>
            <p:nvPr/>
          </p:nvSpPr>
          <p:spPr>
            <a:xfrm>
              <a:off x="8287868" y="6184010"/>
              <a:ext cx="15453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Calibri"/>
                  <a:ea typeface="Calibri"/>
                  <a:cs typeface="Calibri"/>
                  <a:sym typeface="Calibri"/>
                </a:rPr>
                <a:t>Genome</a:t>
              </a:r>
              <a:endParaRPr sz="1400" b="0" i="0" u="none" strike="noStrike" cap="none" dirty="0">
                <a:solidFill>
                  <a:schemeClr val="dk1"/>
                </a:solidFill>
                <a:latin typeface="Calibri"/>
                <a:ea typeface="Calibri"/>
                <a:cs typeface="Calibri"/>
                <a:sym typeface="Calibri"/>
              </a:endParaRPr>
            </a:p>
          </p:txBody>
        </p:sp>
        <p:grpSp>
          <p:nvGrpSpPr>
            <p:cNvPr id="1556" name="Google Shape;1556;p77"/>
            <p:cNvGrpSpPr/>
            <p:nvPr/>
          </p:nvGrpSpPr>
          <p:grpSpPr>
            <a:xfrm>
              <a:off x="8032864" y="4256880"/>
              <a:ext cx="1666199" cy="1999169"/>
              <a:chOff x="8032864" y="4256880"/>
              <a:chExt cx="1666199" cy="1999169"/>
            </a:xfrm>
          </p:grpSpPr>
          <p:sp>
            <p:nvSpPr>
              <p:cNvPr id="1557" name="Google Shape;1557;p77"/>
              <p:cNvSpPr/>
              <p:nvPr/>
            </p:nvSpPr>
            <p:spPr>
              <a:xfrm rot="10800000">
                <a:off x="8032866" y="4256880"/>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58" name="Google Shape;1558;p77"/>
              <p:cNvSpPr txBox="1"/>
              <p:nvPr/>
            </p:nvSpPr>
            <p:spPr>
              <a:xfrm>
                <a:off x="8287868" y="4399426"/>
                <a:ext cx="12561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Mapping</a:t>
                </a:r>
                <a:endParaRPr sz="1100" b="0" i="0" u="none" strike="noStrike" cap="none">
                  <a:solidFill>
                    <a:srgbClr val="000000"/>
                  </a:solidFill>
                  <a:latin typeface="Arial"/>
                  <a:ea typeface="Arial"/>
                  <a:cs typeface="Arial"/>
                  <a:sym typeface="Arial"/>
                </a:endParaRPr>
              </a:p>
            </p:txBody>
          </p:sp>
          <p:sp>
            <p:nvSpPr>
              <p:cNvPr id="1559" name="Google Shape;1559;p77"/>
              <p:cNvSpPr/>
              <p:nvPr/>
            </p:nvSpPr>
            <p:spPr>
              <a:xfrm rot="10800000">
                <a:off x="8055277" y="4822607"/>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60" name="Google Shape;1560;p77"/>
              <p:cNvSpPr/>
              <p:nvPr/>
            </p:nvSpPr>
            <p:spPr>
              <a:xfrm rot="10800000">
                <a:off x="8032865" y="5396993"/>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61" name="Google Shape;1561;p77"/>
              <p:cNvSpPr/>
              <p:nvPr/>
            </p:nvSpPr>
            <p:spPr>
              <a:xfrm rot="10800000">
                <a:off x="8032864" y="5971379"/>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62" name="Google Shape;1562;p77"/>
              <p:cNvSpPr txBox="1"/>
              <p:nvPr/>
            </p:nvSpPr>
            <p:spPr>
              <a:xfrm>
                <a:off x="8287868" y="5589149"/>
                <a:ext cx="1256100" cy="666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Calibri"/>
                    <a:ea typeface="Calibri"/>
                    <a:cs typeface="Calibri"/>
                    <a:sym typeface="Calibri"/>
                  </a:rPr>
                  <a:t>Function</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sp>
            <p:nvSpPr>
              <p:cNvPr id="1563" name="Google Shape;1563;p77"/>
              <p:cNvSpPr txBox="1"/>
              <p:nvPr/>
            </p:nvSpPr>
            <p:spPr>
              <a:xfrm>
                <a:off x="8287868" y="4994287"/>
                <a:ext cx="1411195" cy="379551"/>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Calibri"/>
                    <a:ea typeface="Calibri"/>
                    <a:cs typeface="Calibri"/>
                    <a:sym typeface="Calibri"/>
                  </a:rPr>
                  <a:t>Taxonomy </a:t>
                </a:r>
                <a:endParaRPr sz="1400" b="0" i="0" u="none" strike="noStrike" cap="none" dirty="0">
                  <a:solidFill>
                    <a:schemeClr val="dk1"/>
                  </a:solidFill>
                  <a:latin typeface="Calibri"/>
                  <a:ea typeface="Calibri"/>
                  <a:cs typeface="Calibri"/>
                  <a:sym typeface="Calibri"/>
                </a:endParaRPr>
              </a:p>
            </p:txBody>
          </p:sp>
        </p:grpSp>
      </p:grpSp>
      <p:sp>
        <p:nvSpPr>
          <p:cNvPr id="1564" name="Google Shape;1564;p77"/>
          <p:cNvSpPr/>
          <p:nvPr/>
        </p:nvSpPr>
        <p:spPr>
          <a:xfrm>
            <a:off x="7216752" y="4317613"/>
            <a:ext cx="1857000" cy="30000"/>
          </a:xfrm>
          <a:prstGeom prst="rect">
            <a:avLst/>
          </a:prstGeom>
          <a:solidFill>
            <a:srgbClr val="FFC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65" name="Google Shape;1565;p77"/>
          <p:cNvSpPr/>
          <p:nvPr/>
        </p:nvSpPr>
        <p:spPr>
          <a:xfrm>
            <a:off x="5947782" y="3980578"/>
            <a:ext cx="1123403" cy="486600"/>
          </a:xfrm>
          <a:prstGeom prst="rect">
            <a:avLst/>
          </a:prstGeom>
          <a:noFill/>
          <a:ln w="57150" cap="flat" cmpd="sng">
            <a:solidFill>
              <a:srgbClr val="38562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67" name="Google Shape;1567;p7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42</a:t>
            </a:fld>
            <a:endParaRPr/>
          </a:p>
        </p:txBody>
      </p:sp>
      <p:pic>
        <p:nvPicPr>
          <p:cNvPr id="1568" name="Google Shape;1568;p77" descr="Diagram&#10;&#10;Description automatically generated"/>
          <p:cNvPicPr preferRelativeResize="0">
            <a:picLocks noGrp="1"/>
          </p:cNvPicPr>
          <p:nvPr>
            <p:ph type="body" idx="1"/>
          </p:nvPr>
        </p:nvPicPr>
        <p:blipFill rotWithShape="1">
          <a:blip r:embed="rId5">
            <a:alphaModFix/>
          </a:blip>
          <a:srcRect r="50005" b="-241"/>
          <a:stretch/>
        </p:blipFill>
        <p:spPr>
          <a:xfrm>
            <a:off x="449173" y="3287284"/>
            <a:ext cx="1097700" cy="1309500"/>
          </a:xfrm>
          <a:prstGeom prst="rect">
            <a:avLst/>
          </a:prstGeom>
          <a:noFill/>
          <a:ln>
            <a:noFill/>
          </a:ln>
        </p:spPr>
      </p:pic>
      <p:sp>
        <p:nvSpPr>
          <p:cNvPr id="1570" name="Google Shape;1570;p77"/>
          <p:cNvSpPr txBox="1"/>
          <p:nvPr/>
        </p:nvSpPr>
        <p:spPr>
          <a:xfrm>
            <a:off x="2538522" y="4023775"/>
            <a:ext cx="2913000" cy="400079"/>
          </a:xfrm>
          <a:prstGeom prst="rect">
            <a:avLst/>
          </a:prstGeom>
          <a:solidFill>
            <a:srgbClr val="385623"/>
          </a:solidFill>
          <a:ln>
            <a:noFill/>
          </a:ln>
        </p:spPr>
        <p:txBody>
          <a:bodyPr spcFirstLastPara="1" wrap="square" lIns="91425" tIns="91425" rIns="91425" bIns="91425" anchor="t" anchorCtr="0">
            <a:spAutoFit/>
          </a:bodyPr>
          <a:lstStyle/>
          <a:p>
            <a:pPr lvl="0"/>
            <a:r>
              <a:rPr lang="en" dirty="0">
                <a:solidFill>
                  <a:schemeClr val="lt1"/>
                </a:solidFill>
              </a:rPr>
              <a:t>Stay tuned: Tuesday October 27th</a:t>
            </a:r>
            <a:endParaRPr dirty="0">
              <a:solidFill>
                <a:schemeClr val="lt1"/>
              </a:solidFill>
            </a:endParaRPr>
          </a:p>
        </p:txBody>
      </p:sp>
      <p:pic>
        <p:nvPicPr>
          <p:cNvPr id="2" name="Google Shape;111;p16">
            <a:extLst>
              <a:ext uri="{FF2B5EF4-FFF2-40B4-BE49-F238E27FC236}">
                <a16:creationId xmlns:a16="http://schemas.microsoft.com/office/drawing/2014/main" id="{A5082669-B9DE-364E-54EE-8E6917D6295D}"/>
              </a:ext>
            </a:extLst>
          </p:cNvPr>
          <p:cNvPicPr preferRelativeResize="0"/>
          <p:nvPr/>
        </p:nvPicPr>
        <p:blipFill rotWithShape="1">
          <a:blip r:embed="rId6">
            <a:alphaModFix/>
          </a:blip>
          <a:srcRect t="44399" r="41038" b="28367"/>
          <a:stretch/>
        </p:blipFill>
        <p:spPr>
          <a:xfrm>
            <a:off x="55129" y="1132205"/>
            <a:ext cx="1866899" cy="14072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5" name="Google Shape;1575;p78"/>
          <p:cNvSpPr txBox="1">
            <a:spLocks noGrp="1"/>
          </p:cNvSpPr>
          <p:nvPr>
            <p:ph type="title"/>
          </p:nvPr>
        </p:nvSpPr>
        <p:spPr>
          <a:xfrm>
            <a:off x="628650" y="273850"/>
            <a:ext cx="85938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a:latin typeface="Arial"/>
                <a:ea typeface="Arial"/>
                <a:cs typeface="Arial"/>
                <a:sym typeface="Arial"/>
              </a:rPr>
              <a:t>Metagenomics workflow: Assembled</a:t>
            </a:r>
            <a:r>
              <a:rPr lang="en"/>
              <a:t>-based analysis</a:t>
            </a:r>
            <a:endParaRPr/>
          </a:p>
        </p:txBody>
      </p:sp>
      <p:sp>
        <p:nvSpPr>
          <p:cNvPr id="1576" name="Google Shape;1576;p78"/>
          <p:cNvSpPr/>
          <p:nvPr/>
        </p:nvSpPr>
        <p:spPr>
          <a:xfrm>
            <a:off x="2378028" y="1226624"/>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77" name="Google Shape;1577;p78"/>
          <p:cNvSpPr/>
          <p:nvPr/>
        </p:nvSpPr>
        <p:spPr>
          <a:xfrm>
            <a:off x="2235152" y="1663653"/>
            <a:ext cx="344400" cy="344400"/>
          </a:xfrm>
          <a:prstGeom prst="ellipse">
            <a:avLst/>
          </a:prstGeom>
          <a:solidFill>
            <a:schemeClr val="lt1"/>
          </a:solidFill>
          <a:ln w="571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78" name="Google Shape;1578;p78"/>
          <p:cNvSpPr/>
          <p:nvPr/>
        </p:nvSpPr>
        <p:spPr>
          <a:xfrm>
            <a:off x="2697395" y="1571204"/>
            <a:ext cx="344400" cy="344400"/>
          </a:xfrm>
          <a:prstGeom prst="ellipse">
            <a:avLst/>
          </a:prstGeom>
          <a:solidFill>
            <a:schemeClr val="lt1"/>
          </a:solidFill>
          <a:ln w="5715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79" name="Google Shape;1579;p78"/>
          <p:cNvSpPr/>
          <p:nvPr/>
        </p:nvSpPr>
        <p:spPr>
          <a:xfrm>
            <a:off x="2470476" y="2058661"/>
            <a:ext cx="344400" cy="344400"/>
          </a:xfrm>
          <a:prstGeom prst="ellipse">
            <a:avLst/>
          </a:prstGeom>
          <a:solidFill>
            <a:schemeClr val="lt1"/>
          </a:solidFill>
          <a:ln w="5715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80" name="Google Shape;1580;p78"/>
          <p:cNvSpPr/>
          <p:nvPr/>
        </p:nvSpPr>
        <p:spPr>
          <a:xfrm>
            <a:off x="3494924" y="1705054"/>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1581" name="Google Shape;1581;p78" descr="DNA with solid fill"/>
          <p:cNvPicPr preferRelativeResize="0"/>
          <p:nvPr/>
        </p:nvPicPr>
        <p:blipFill rotWithShape="1">
          <a:blip r:embed="rId3">
            <a:alphaModFix/>
          </a:blip>
          <a:srcRect/>
          <a:stretch/>
        </p:blipFill>
        <p:spPr>
          <a:xfrm>
            <a:off x="4729163" y="1330342"/>
            <a:ext cx="1005167" cy="1013572"/>
          </a:xfrm>
          <a:prstGeom prst="rect">
            <a:avLst/>
          </a:prstGeom>
          <a:noFill/>
          <a:ln>
            <a:noFill/>
          </a:ln>
        </p:spPr>
      </p:pic>
      <p:pic>
        <p:nvPicPr>
          <p:cNvPr id="1582" name="Google Shape;1582;p78" descr="A picture containing electronics, indoor, computer&#10;&#10;Description automatically generated"/>
          <p:cNvPicPr preferRelativeResize="0"/>
          <p:nvPr/>
        </p:nvPicPr>
        <p:blipFill rotWithShape="1">
          <a:blip r:embed="rId4">
            <a:alphaModFix/>
          </a:blip>
          <a:srcRect/>
          <a:stretch/>
        </p:blipFill>
        <p:spPr>
          <a:xfrm>
            <a:off x="5518337" y="1607583"/>
            <a:ext cx="2057400" cy="1407262"/>
          </a:xfrm>
          <a:prstGeom prst="rect">
            <a:avLst/>
          </a:prstGeom>
          <a:noFill/>
          <a:ln>
            <a:noFill/>
          </a:ln>
        </p:spPr>
      </p:pic>
      <p:sp>
        <p:nvSpPr>
          <p:cNvPr id="1583" name="Google Shape;1583;p78"/>
          <p:cNvSpPr txBox="1"/>
          <p:nvPr/>
        </p:nvSpPr>
        <p:spPr>
          <a:xfrm>
            <a:off x="3408830" y="1408580"/>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DNA extraction</a:t>
            </a:r>
            <a:endParaRPr sz="1100" b="0" i="0" u="none" strike="noStrike" cap="none">
              <a:solidFill>
                <a:srgbClr val="000000"/>
              </a:solidFill>
              <a:latin typeface="Arial"/>
              <a:ea typeface="Arial"/>
              <a:cs typeface="Arial"/>
              <a:sym typeface="Arial"/>
            </a:endParaRPr>
          </a:p>
        </p:txBody>
      </p:sp>
      <p:sp>
        <p:nvSpPr>
          <p:cNvPr id="1584" name="Google Shape;1584;p78"/>
          <p:cNvSpPr txBox="1"/>
          <p:nvPr/>
        </p:nvSpPr>
        <p:spPr>
          <a:xfrm>
            <a:off x="6022600" y="1383375"/>
            <a:ext cx="10485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Sequencing</a:t>
            </a:r>
            <a:endParaRPr sz="1100" b="0" i="0" u="none" strike="noStrike" cap="none">
              <a:solidFill>
                <a:srgbClr val="000000"/>
              </a:solidFill>
              <a:latin typeface="Arial"/>
              <a:ea typeface="Arial"/>
              <a:cs typeface="Arial"/>
              <a:sym typeface="Arial"/>
            </a:endParaRPr>
          </a:p>
        </p:txBody>
      </p:sp>
      <p:sp>
        <p:nvSpPr>
          <p:cNvPr id="1585" name="Google Shape;1585;p78"/>
          <p:cNvSpPr/>
          <p:nvPr/>
        </p:nvSpPr>
        <p:spPr>
          <a:xfrm>
            <a:off x="6024651" y="1688245"/>
            <a:ext cx="1000200" cy="1932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86" name="Google Shape;1586;p78"/>
          <p:cNvSpPr/>
          <p:nvPr/>
        </p:nvSpPr>
        <p:spPr>
          <a:xfrm>
            <a:off x="7597168" y="151237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87" name="Google Shape;1587;p78"/>
          <p:cNvSpPr/>
          <p:nvPr/>
        </p:nvSpPr>
        <p:spPr>
          <a:xfrm>
            <a:off x="7849300" y="176450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88" name="Google Shape;1588;p78"/>
          <p:cNvSpPr/>
          <p:nvPr/>
        </p:nvSpPr>
        <p:spPr>
          <a:xfrm>
            <a:off x="7958557" y="187376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89" name="Google Shape;1589;p78"/>
          <p:cNvSpPr/>
          <p:nvPr/>
        </p:nvSpPr>
        <p:spPr>
          <a:xfrm>
            <a:off x="8345160" y="1453542"/>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0" name="Google Shape;1590;p78"/>
          <p:cNvSpPr/>
          <p:nvPr/>
        </p:nvSpPr>
        <p:spPr>
          <a:xfrm>
            <a:off x="7597167" y="2344409"/>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1" name="Google Shape;1591;p78"/>
          <p:cNvSpPr/>
          <p:nvPr/>
        </p:nvSpPr>
        <p:spPr>
          <a:xfrm>
            <a:off x="7983770" y="224355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2" name="Google Shape;1592;p78"/>
          <p:cNvSpPr/>
          <p:nvPr/>
        </p:nvSpPr>
        <p:spPr>
          <a:xfrm>
            <a:off x="8252711" y="215951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3" name="Google Shape;1593;p78"/>
          <p:cNvSpPr/>
          <p:nvPr/>
        </p:nvSpPr>
        <p:spPr>
          <a:xfrm>
            <a:off x="8076219" y="236962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4" name="Google Shape;1594;p78"/>
          <p:cNvSpPr/>
          <p:nvPr/>
        </p:nvSpPr>
        <p:spPr>
          <a:xfrm>
            <a:off x="8143454" y="1613226"/>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5" name="Google Shape;1595;p78"/>
          <p:cNvSpPr/>
          <p:nvPr/>
        </p:nvSpPr>
        <p:spPr>
          <a:xfrm>
            <a:off x="8252711" y="172248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6" name="Google Shape;1596;p78"/>
          <p:cNvSpPr/>
          <p:nvPr/>
        </p:nvSpPr>
        <p:spPr>
          <a:xfrm>
            <a:off x="7714828" y="165524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7" name="Google Shape;1597;p78"/>
          <p:cNvSpPr/>
          <p:nvPr/>
        </p:nvSpPr>
        <p:spPr>
          <a:xfrm>
            <a:off x="7529931" y="1940998"/>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8" name="Google Shape;1598;p78"/>
          <p:cNvSpPr/>
          <p:nvPr/>
        </p:nvSpPr>
        <p:spPr>
          <a:xfrm>
            <a:off x="8437607" y="202504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9" name="Google Shape;1599;p78"/>
          <p:cNvSpPr/>
          <p:nvPr/>
        </p:nvSpPr>
        <p:spPr>
          <a:xfrm>
            <a:off x="8437607"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00" name="Google Shape;1600;p78"/>
          <p:cNvSpPr/>
          <p:nvPr/>
        </p:nvSpPr>
        <p:spPr>
          <a:xfrm>
            <a:off x="7630783" y="2159511"/>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01" name="Google Shape;1601;p78"/>
          <p:cNvSpPr/>
          <p:nvPr/>
        </p:nvSpPr>
        <p:spPr>
          <a:xfrm>
            <a:off x="8034194" y="2050253"/>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02" name="Google Shape;1602;p78"/>
          <p:cNvSpPr/>
          <p:nvPr/>
        </p:nvSpPr>
        <p:spPr>
          <a:xfrm>
            <a:off x="7849297" y="2495687"/>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03" name="Google Shape;1603;p78"/>
          <p:cNvSpPr txBox="1"/>
          <p:nvPr/>
        </p:nvSpPr>
        <p:spPr>
          <a:xfrm>
            <a:off x="7854762" y="1080806"/>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Reads</a:t>
            </a:r>
            <a:endParaRPr sz="1500" b="1" i="0" u="none" strike="noStrike" cap="none">
              <a:solidFill>
                <a:schemeClr val="dk1"/>
              </a:solidFill>
              <a:latin typeface="Calibri"/>
              <a:ea typeface="Calibri"/>
              <a:cs typeface="Calibri"/>
              <a:sym typeface="Calibri"/>
            </a:endParaRPr>
          </a:p>
        </p:txBody>
      </p:sp>
      <p:sp>
        <p:nvSpPr>
          <p:cNvPr id="1604" name="Google Shape;1604;p78"/>
          <p:cNvSpPr txBox="1"/>
          <p:nvPr/>
        </p:nvSpPr>
        <p:spPr>
          <a:xfrm>
            <a:off x="7669877" y="2618825"/>
            <a:ext cx="11328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100-150 bp</a:t>
            </a:r>
            <a:endParaRPr sz="1100" b="0" i="0" u="none" strike="noStrike" cap="none">
              <a:solidFill>
                <a:srgbClr val="000000"/>
              </a:solidFill>
              <a:latin typeface="Arial"/>
              <a:ea typeface="Arial"/>
              <a:cs typeface="Arial"/>
              <a:sym typeface="Arial"/>
            </a:endParaRPr>
          </a:p>
        </p:txBody>
      </p:sp>
      <p:sp>
        <p:nvSpPr>
          <p:cNvPr id="1605" name="Google Shape;1605;p78"/>
          <p:cNvSpPr/>
          <p:nvPr/>
        </p:nvSpPr>
        <p:spPr>
          <a:xfrm rot="5400000">
            <a:off x="7894660" y="3180091"/>
            <a:ext cx="504300" cy="1764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06" name="Google Shape;1606;p78"/>
          <p:cNvSpPr/>
          <p:nvPr/>
        </p:nvSpPr>
        <p:spPr>
          <a:xfrm>
            <a:off x="7588761" y="1840144"/>
            <a:ext cx="361500" cy="84300"/>
          </a:xfrm>
          <a:prstGeom prst="rect">
            <a:avLst/>
          </a:prstGeom>
          <a:solidFill>
            <a:srgbClr val="7F7F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07" name="Google Shape;1607;p78"/>
          <p:cNvSpPr/>
          <p:nvPr/>
        </p:nvSpPr>
        <p:spPr>
          <a:xfrm>
            <a:off x="7351526" y="4012301"/>
            <a:ext cx="1337100" cy="37800"/>
          </a:xfrm>
          <a:prstGeom prst="rect">
            <a:avLst/>
          </a:prstGeom>
          <a:solidFill>
            <a:srgbClr val="FFC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08" name="Google Shape;1608;p78"/>
          <p:cNvSpPr/>
          <p:nvPr/>
        </p:nvSpPr>
        <p:spPr>
          <a:xfrm>
            <a:off x="7588762" y="4176571"/>
            <a:ext cx="1454100" cy="84300"/>
          </a:xfrm>
          <a:prstGeom prst="rect">
            <a:avLst/>
          </a:prstGeom>
          <a:solidFill>
            <a:srgbClr val="C0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09" name="Google Shape;1609;p78"/>
          <p:cNvSpPr txBox="1"/>
          <p:nvPr/>
        </p:nvSpPr>
        <p:spPr>
          <a:xfrm>
            <a:off x="7888379" y="3526489"/>
            <a:ext cx="94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Calibri"/>
                <a:ea typeface="Calibri"/>
                <a:cs typeface="Calibri"/>
                <a:sym typeface="Calibri"/>
              </a:rPr>
              <a:t>Scaffolds</a:t>
            </a:r>
            <a:endParaRPr sz="1400" b="0" i="0" u="none" strike="noStrike" cap="none">
              <a:solidFill>
                <a:schemeClr val="dk1"/>
              </a:solidFill>
              <a:latin typeface="Calibri"/>
              <a:ea typeface="Calibri"/>
              <a:cs typeface="Calibri"/>
              <a:sym typeface="Calibri"/>
            </a:endParaRPr>
          </a:p>
        </p:txBody>
      </p:sp>
      <p:sp>
        <p:nvSpPr>
          <p:cNvPr id="1610" name="Google Shape;1610;p78"/>
          <p:cNvSpPr txBox="1"/>
          <p:nvPr/>
        </p:nvSpPr>
        <p:spPr>
          <a:xfrm>
            <a:off x="7669865" y="4476188"/>
            <a:ext cx="948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1000+ bp</a:t>
            </a:r>
            <a:endParaRPr sz="1100" b="0" i="0" u="none" strike="noStrike" cap="none">
              <a:solidFill>
                <a:srgbClr val="000000"/>
              </a:solidFill>
              <a:latin typeface="Arial"/>
              <a:ea typeface="Arial"/>
              <a:cs typeface="Arial"/>
              <a:sym typeface="Arial"/>
            </a:endParaRPr>
          </a:p>
        </p:txBody>
      </p:sp>
      <p:sp>
        <p:nvSpPr>
          <p:cNvPr id="1611" name="Google Shape;1611;p78"/>
          <p:cNvSpPr txBox="1"/>
          <p:nvPr/>
        </p:nvSpPr>
        <p:spPr>
          <a:xfrm>
            <a:off x="7274297" y="3131483"/>
            <a:ext cx="948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Assembly</a:t>
            </a:r>
            <a:endParaRPr sz="1100" b="0" i="0" u="none" strike="noStrike" cap="none">
              <a:solidFill>
                <a:srgbClr val="000000"/>
              </a:solidFill>
              <a:latin typeface="Arial"/>
              <a:ea typeface="Arial"/>
              <a:cs typeface="Arial"/>
              <a:sym typeface="Arial"/>
            </a:endParaRPr>
          </a:p>
        </p:txBody>
      </p:sp>
      <p:grpSp>
        <p:nvGrpSpPr>
          <p:cNvPr id="1612" name="Google Shape;1612;p78"/>
          <p:cNvGrpSpPr/>
          <p:nvPr/>
        </p:nvGrpSpPr>
        <p:grpSpPr>
          <a:xfrm>
            <a:off x="6024648" y="3192660"/>
            <a:ext cx="1350228" cy="1729973"/>
            <a:chOff x="8032864" y="4256880"/>
            <a:chExt cx="1800304" cy="2306630"/>
          </a:xfrm>
        </p:grpSpPr>
        <p:sp>
          <p:nvSpPr>
            <p:cNvPr id="1613" name="Google Shape;1613;p78"/>
            <p:cNvSpPr txBox="1"/>
            <p:nvPr/>
          </p:nvSpPr>
          <p:spPr>
            <a:xfrm>
              <a:off x="8287868" y="6184010"/>
              <a:ext cx="15453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Genome</a:t>
              </a:r>
              <a:endParaRPr sz="1400" b="0" i="0" u="none" strike="noStrike" cap="none">
                <a:solidFill>
                  <a:schemeClr val="dk1"/>
                </a:solidFill>
                <a:latin typeface="Calibri"/>
                <a:ea typeface="Calibri"/>
                <a:cs typeface="Calibri"/>
                <a:sym typeface="Calibri"/>
              </a:endParaRPr>
            </a:p>
          </p:txBody>
        </p:sp>
        <p:grpSp>
          <p:nvGrpSpPr>
            <p:cNvPr id="1614" name="Google Shape;1614;p78"/>
            <p:cNvGrpSpPr/>
            <p:nvPr/>
          </p:nvGrpSpPr>
          <p:grpSpPr>
            <a:xfrm>
              <a:off x="8032864" y="4256880"/>
              <a:ext cx="1565812" cy="1999169"/>
              <a:chOff x="8032864" y="4256880"/>
              <a:chExt cx="1565812" cy="1999169"/>
            </a:xfrm>
          </p:grpSpPr>
          <p:sp>
            <p:nvSpPr>
              <p:cNvPr id="1615" name="Google Shape;1615;p78"/>
              <p:cNvSpPr/>
              <p:nvPr/>
            </p:nvSpPr>
            <p:spPr>
              <a:xfrm rot="10800000">
                <a:off x="8032866" y="4256880"/>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16" name="Google Shape;1616;p78"/>
              <p:cNvSpPr txBox="1"/>
              <p:nvPr/>
            </p:nvSpPr>
            <p:spPr>
              <a:xfrm>
                <a:off x="8287868" y="4399426"/>
                <a:ext cx="1256100" cy="37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Mapping</a:t>
                </a:r>
                <a:endParaRPr sz="1100" b="0" i="0" u="none" strike="noStrike" cap="none">
                  <a:solidFill>
                    <a:srgbClr val="000000"/>
                  </a:solidFill>
                  <a:latin typeface="Arial"/>
                  <a:ea typeface="Arial"/>
                  <a:cs typeface="Arial"/>
                  <a:sym typeface="Arial"/>
                </a:endParaRPr>
              </a:p>
            </p:txBody>
          </p:sp>
          <p:sp>
            <p:nvSpPr>
              <p:cNvPr id="1617" name="Google Shape;1617;p78"/>
              <p:cNvSpPr/>
              <p:nvPr/>
            </p:nvSpPr>
            <p:spPr>
              <a:xfrm rot="10800000">
                <a:off x="8055277" y="4822607"/>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18" name="Google Shape;1618;p78"/>
              <p:cNvSpPr/>
              <p:nvPr/>
            </p:nvSpPr>
            <p:spPr>
              <a:xfrm rot="10800000">
                <a:off x="8032865" y="5396993"/>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19" name="Google Shape;1619;p78"/>
              <p:cNvSpPr/>
              <p:nvPr/>
            </p:nvSpPr>
            <p:spPr>
              <a:xfrm rot="10800000">
                <a:off x="8032864" y="5971379"/>
                <a:ext cx="1333500" cy="257700"/>
              </a:xfrm>
              <a:prstGeom prst="rightArrow">
                <a:avLst>
                  <a:gd name="adj1" fmla="val 50000"/>
                  <a:gd name="adj2" fmla="val 50000"/>
                </a:avLst>
              </a:prstGeom>
              <a:solidFill>
                <a:srgbClr val="0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20" name="Google Shape;1620;p78"/>
              <p:cNvSpPr txBox="1"/>
              <p:nvPr/>
            </p:nvSpPr>
            <p:spPr>
              <a:xfrm>
                <a:off x="8287868" y="5589149"/>
                <a:ext cx="1256100" cy="666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Function</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621" name="Google Shape;1621;p78"/>
              <p:cNvSpPr txBox="1"/>
              <p:nvPr/>
            </p:nvSpPr>
            <p:spPr>
              <a:xfrm>
                <a:off x="8287868" y="4994287"/>
                <a:ext cx="1310808" cy="379551"/>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Calibri"/>
                    <a:ea typeface="Calibri"/>
                    <a:cs typeface="Calibri"/>
                    <a:sym typeface="Calibri"/>
                  </a:rPr>
                  <a:t>Taxonomy </a:t>
                </a:r>
                <a:endParaRPr sz="1400" b="0" i="0" u="none" strike="noStrike" cap="none" dirty="0">
                  <a:solidFill>
                    <a:schemeClr val="dk1"/>
                  </a:solidFill>
                  <a:latin typeface="Calibri"/>
                  <a:ea typeface="Calibri"/>
                  <a:cs typeface="Calibri"/>
                  <a:sym typeface="Calibri"/>
                </a:endParaRPr>
              </a:p>
            </p:txBody>
          </p:sp>
        </p:grpSp>
      </p:grpSp>
      <p:sp>
        <p:nvSpPr>
          <p:cNvPr id="1622" name="Google Shape;1622;p78"/>
          <p:cNvSpPr/>
          <p:nvPr/>
        </p:nvSpPr>
        <p:spPr>
          <a:xfrm>
            <a:off x="7216752" y="4317613"/>
            <a:ext cx="1857000" cy="30000"/>
          </a:xfrm>
          <a:prstGeom prst="rect">
            <a:avLst/>
          </a:prstGeom>
          <a:solidFill>
            <a:srgbClr val="FFC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nvGrpSpPr>
          <p:cNvPr id="1623" name="Google Shape;1623;p78"/>
          <p:cNvGrpSpPr/>
          <p:nvPr/>
        </p:nvGrpSpPr>
        <p:grpSpPr>
          <a:xfrm>
            <a:off x="7714146" y="3770217"/>
            <a:ext cx="1370025" cy="161326"/>
            <a:chOff x="10285528" y="5026956"/>
            <a:chExt cx="1826700" cy="215101"/>
          </a:xfrm>
        </p:grpSpPr>
        <p:sp>
          <p:nvSpPr>
            <p:cNvPr id="1624" name="Google Shape;1624;p78"/>
            <p:cNvSpPr/>
            <p:nvPr/>
          </p:nvSpPr>
          <p:spPr>
            <a:xfrm>
              <a:off x="10285528" y="5026957"/>
              <a:ext cx="1826700" cy="215100"/>
            </a:xfrm>
            <a:prstGeom prst="rect">
              <a:avLst/>
            </a:prstGeom>
            <a:solidFill>
              <a:srgbClr val="00B0F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25" name="Google Shape;1625;p78"/>
            <p:cNvSpPr/>
            <p:nvPr/>
          </p:nvSpPr>
          <p:spPr>
            <a:xfrm>
              <a:off x="10367106" y="5026957"/>
              <a:ext cx="107400" cy="214800"/>
            </a:xfrm>
            <a:prstGeom prst="rect">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26" name="Google Shape;1626;p78"/>
            <p:cNvSpPr/>
            <p:nvPr/>
          </p:nvSpPr>
          <p:spPr>
            <a:xfrm>
              <a:off x="10542952" y="5026957"/>
              <a:ext cx="107400" cy="214800"/>
            </a:xfrm>
            <a:prstGeom prst="rect">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27" name="Google Shape;1627;p78"/>
            <p:cNvSpPr/>
            <p:nvPr/>
          </p:nvSpPr>
          <p:spPr>
            <a:xfrm>
              <a:off x="10689490" y="5026957"/>
              <a:ext cx="107400" cy="214800"/>
            </a:xfrm>
            <a:prstGeom prst="rect">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28" name="Google Shape;1628;p78"/>
            <p:cNvSpPr/>
            <p:nvPr/>
          </p:nvSpPr>
          <p:spPr>
            <a:xfrm>
              <a:off x="11138874" y="5026956"/>
              <a:ext cx="107400" cy="214800"/>
            </a:xfrm>
            <a:prstGeom prst="rect">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29" name="Google Shape;1629;p78"/>
            <p:cNvSpPr/>
            <p:nvPr/>
          </p:nvSpPr>
          <p:spPr>
            <a:xfrm>
              <a:off x="11715259" y="5026957"/>
              <a:ext cx="107400" cy="214800"/>
            </a:xfrm>
            <a:prstGeom prst="rect">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1631" name="Google Shape;1631;p7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43</a:t>
            </a:fld>
            <a:endParaRPr/>
          </a:p>
        </p:txBody>
      </p:sp>
      <p:pic>
        <p:nvPicPr>
          <p:cNvPr id="1632" name="Google Shape;1632;p78" descr="Diagram&#10;&#10;Description automatically generated"/>
          <p:cNvPicPr preferRelativeResize="0">
            <a:picLocks noGrp="1"/>
          </p:cNvPicPr>
          <p:nvPr>
            <p:ph type="body" idx="1"/>
          </p:nvPr>
        </p:nvPicPr>
        <p:blipFill rotWithShape="1">
          <a:blip r:embed="rId5">
            <a:alphaModFix/>
          </a:blip>
          <a:srcRect r="50005" b="-241"/>
          <a:stretch/>
        </p:blipFill>
        <p:spPr>
          <a:xfrm>
            <a:off x="449173" y="3287284"/>
            <a:ext cx="1097700" cy="1309500"/>
          </a:xfrm>
          <a:prstGeom prst="rect">
            <a:avLst/>
          </a:prstGeom>
          <a:noFill/>
          <a:ln>
            <a:noFill/>
          </a:ln>
        </p:spPr>
      </p:pic>
      <p:sp>
        <p:nvSpPr>
          <p:cNvPr id="1634" name="Google Shape;1634;p78"/>
          <p:cNvSpPr/>
          <p:nvPr/>
        </p:nvSpPr>
        <p:spPr>
          <a:xfrm>
            <a:off x="1750577" y="3694375"/>
            <a:ext cx="3832200" cy="190500"/>
          </a:xfrm>
          <a:prstGeom prst="leftArrow">
            <a:avLst>
              <a:gd name="adj1" fmla="val 50000"/>
              <a:gd name="adj2" fmla="val 50000"/>
            </a:avLst>
          </a:prstGeom>
          <a:solidFill>
            <a:schemeClr val="dk1"/>
          </a:solidFill>
          <a:ln w="12700" cap="flat" cmpd="sng">
            <a:solidFill>
              <a:srgbClr val="0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35" name="Google Shape;1635;p78"/>
          <p:cNvSpPr/>
          <p:nvPr/>
        </p:nvSpPr>
        <p:spPr>
          <a:xfrm>
            <a:off x="5582775" y="3134875"/>
            <a:ext cx="502200" cy="1632388"/>
          </a:xfrm>
          <a:prstGeom prst="leftBrace">
            <a:avLst>
              <a:gd name="adj1" fmla="val 50000"/>
              <a:gd name="adj2" fmla="val 50000"/>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6" name="Google Shape;1636;p78"/>
          <p:cNvSpPr txBox="1"/>
          <p:nvPr/>
        </p:nvSpPr>
        <p:spPr>
          <a:xfrm>
            <a:off x="2889375" y="3863575"/>
            <a:ext cx="2211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Assembled-based </a:t>
            </a:r>
            <a:endParaRPr sz="1800">
              <a:solidFill>
                <a:schemeClr val="dk1"/>
              </a:solidFill>
            </a:endParaRPr>
          </a:p>
        </p:txBody>
      </p:sp>
      <p:pic>
        <p:nvPicPr>
          <p:cNvPr id="2" name="Google Shape;111;p16">
            <a:extLst>
              <a:ext uri="{FF2B5EF4-FFF2-40B4-BE49-F238E27FC236}">
                <a16:creationId xmlns:a16="http://schemas.microsoft.com/office/drawing/2014/main" id="{94D72829-08A3-B061-C087-D74B1BA72BC2}"/>
              </a:ext>
            </a:extLst>
          </p:cNvPr>
          <p:cNvPicPr preferRelativeResize="0"/>
          <p:nvPr/>
        </p:nvPicPr>
        <p:blipFill rotWithShape="1">
          <a:blip r:embed="rId6">
            <a:alphaModFix/>
          </a:blip>
          <a:srcRect t="44399" r="41038" b="28367"/>
          <a:stretch/>
        </p:blipFill>
        <p:spPr>
          <a:xfrm>
            <a:off x="55129" y="1132205"/>
            <a:ext cx="1866899" cy="140727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91">
          <a:extLst>
            <a:ext uri="{FF2B5EF4-FFF2-40B4-BE49-F238E27FC236}">
              <a16:creationId xmlns:a16="http://schemas.microsoft.com/office/drawing/2014/main" id="{6481D5E4-C926-4139-F275-3F869B70D0C4}"/>
            </a:ext>
          </a:extLst>
        </p:cNvPr>
        <p:cNvGrpSpPr/>
        <p:nvPr/>
      </p:nvGrpSpPr>
      <p:grpSpPr>
        <a:xfrm>
          <a:off x="0" y="0"/>
          <a:ext cx="0" cy="0"/>
          <a:chOff x="0" y="0"/>
          <a:chExt cx="0" cy="0"/>
        </a:xfrm>
      </p:grpSpPr>
      <p:sp>
        <p:nvSpPr>
          <p:cNvPr id="492" name="Google Shape;492;p29">
            <a:extLst>
              <a:ext uri="{FF2B5EF4-FFF2-40B4-BE49-F238E27FC236}">
                <a16:creationId xmlns:a16="http://schemas.microsoft.com/office/drawing/2014/main" id="{DCC6DB42-E96A-C11C-34DD-E14409F21BA6}"/>
              </a:ext>
            </a:extLst>
          </p:cNvPr>
          <p:cNvSpPr txBox="1">
            <a:spLocks noGrp="1"/>
          </p:cNvSpPr>
          <p:nvPr>
            <p:ph type="title"/>
          </p:nvPr>
        </p:nvSpPr>
        <p:spPr>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dirty="0">
                <a:latin typeface="Arial"/>
                <a:ea typeface="Arial"/>
                <a:cs typeface="Arial"/>
                <a:sym typeface="Arial"/>
              </a:rPr>
              <a:t>Read vs assembly-based approaches</a:t>
            </a:r>
            <a:endParaRPr dirty="0"/>
          </a:p>
        </p:txBody>
      </p:sp>
      <p:sp>
        <p:nvSpPr>
          <p:cNvPr id="534" name="Google Shape;534;p29">
            <a:extLst>
              <a:ext uri="{FF2B5EF4-FFF2-40B4-BE49-F238E27FC236}">
                <a16:creationId xmlns:a16="http://schemas.microsoft.com/office/drawing/2014/main" id="{2F90E71A-8A1B-EB7E-B27F-B595858A669B}"/>
              </a:ext>
            </a:extLst>
          </p:cNvPr>
          <p:cNvSpPr txBox="1">
            <a:spLocks noGrp="1"/>
          </p:cNvSpPr>
          <p:nvPr>
            <p:ph type="sldNum" idx="4294967295"/>
          </p:nvPr>
        </p:nvSpPr>
        <p:spPr>
          <a:xfrm>
            <a:off x="7086600" y="4767263"/>
            <a:ext cx="2057400" cy="274637"/>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44</a:t>
            </a:fld>
            <a:endParaRPr/>
          </a:p>
        </p:txBody>
      </p:sp>
      <p:sp>
        <p:nvSpPr>
          <p:cNvPr id="2" name="Text Placeholder 2">
            <a:extLst>
              <a:ext uri="{FF2B5EF4-FFF2-40B4-BE49-F238E27FC236}">
                <a16:creationId xmlns:a16="http://schemas.microsoft.com/office/drawing/2014/main" id="{301F4C6D-FBD9-0593-EC27-0762B849CE3E}"/>
              </a:ext>
            </a:extLst>
          </p:cNvPr>
          <p:cNvSpPr>
            <a:spLocks noGrp="1"/>
          </p:cNvSpPr>
          <p:nvPr>
            <p:ph type="body" sz="quarter" idx="10"/>
          </p:nvPr>
        </p:nvSpPr>
        <p:spPr>
          <a:xfrm>
            <a:off x="452446" y="1038150"/>
            <a:ext cx="8521188" cy="3067200"/>
          </a:xfrm>
        </p:spPr>
        <p:txBody>
          <a:bodyPr>
            <a:normAutofit/>
          </a:bodyPr>
          <a:lstStyle/>
          <a:p>
            <a:r>
              <a:rPr lang="en-US" dirty="0"/>
              <a:t>Read-based vs Assembly-based – Advantages</a:t>
            </a:r>
          </a:p>
          <a:p>
            <a:pPr lvl="1"/>
            <a:r>
              <a:rPr lang="en-US" dirty="0"/>
              <a:t>Low costs with more shallow sequencing</a:t>
            </a:r>
          </a:p>
          <a:p>
            <a:pPr lvl="1"/>
            <a:r>
              <a:rPr lang="en-US" dirty="0"/>
              <a:t>Faster results</a:t>
            </a:r>
          </a:p>
          <a:p>
            <a:pPr lvl="1"/>
            <a:r>
              <a:rPr lang="en-US" dirty="0"/>
              <a:t>Taxonomic profiling on larger fraction of the data</a:t>
            </a:r>
          </a:p>
          <a:p>
            <a:r>
              <a:rPr lang="en-US" dirty="0"/>
              <a:t>Assembly-based vs Read-based – Advantages</a:t>
            </a:r>
          </a:p>
          <a:p>
            <a:pPr lvl="1"/>
            <a:r>
              <a:rPr lang="en-US" dirty="0"/>
              <a:t>No need for reference databases</a:t>
            </a:r>
          </a:p>
          <a:p>
            <a:pPr lvl="1"/>
            <a:r>
              <a:rPr lang="en-US" dirty="0"/>
              <a:t>Functional profiling possible</a:t>
            </a:r>
          </a:p>
          <a:p>
            <a:pPr lvl="1"/>
            <a:r>
              <a:rPr lang="en-US" dirty="0"/>
              <a:t>More reliable taxonomic profiling</a:t>
            </a:r>
          </a:p>
          <a:p>
            <a:pPr lvl="1"/>
            <a:r>
              <a:rPr lang="en-US" dirty="0"/>
              <a:t>Information on intragenomic cooccurrence of functions</a:t>
            </a:r>
          </a:p>
        </p:txBody>
      </p:sp>
    </p:spTree>
    <p:extLst>
      <p:ext uri="{BB962C8B-B14F-4D97-AF65-F5344CB8AC3E}">
        <p14:creationId xmlns:p14="http://schemas.microsoft.com/office/powerpoint/2010/main" val="42927046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09"/>
        <p:cNvGrpSpPr/>
        <p:nvPr/>
      </p:nvGrpSpPr>
      <p:grpSpPr>
        <a:xfrm>
          <a:off x="0" y="0"/>
          <a:ext cx="0" cy="0"/>
          <a:chOff x="0" y="0"/>
          <a:chExt cx="0" cy="0"/>
        </a:xfrm>
      </p:grpSpPr>
      <p:graphicFrame>
        <p:nvGraphicFramePr>
          <p:cNvPr id="2110" name="Google Shape;2110;p91"/>
          <p:cNvGraphicFramePr/>
          <p:nvPr/>
        </p:nvGraphicFramePr>
        <p:xfrm>
          <a:off x="1480038" y="1318846"/>
          <a:ext cx="6776200" cy="3224170"/>
        </p:xfrm>
        <a:graphic>
          <a:graphicData uri="http://schemas.openxmlformats.org/drawingml/2006/table">
            <a:tbl>
              <a:tblPr firstRow="1" bandRow="1">
                <a:noFill/>
                <a:tableStyleId>{C06E1C7E-A112-4B5E-AF22-2FFA16795C80}</a:tableStyleId>
              </a:tblPr>
              <a:tblGrid>
                <a:gridCol w="2888600">
                  <a:extLst>
                    <a:ext uri="{9D8B030D-6E8A-4147-A177-3AD203B41FA5}">
                      <a16:colId xmlns:a16="http://schemas.microsoft.com/office/drawing/2014/main" val="20000"/>
                    </a:ext>
                  </a:extLst>
                </a:gridCol>
                <a:gridCol w="2002825">
                  <a:extLst>
                    <a:ext uri="{9D8B030D-6E8A-4147-A177-3AD203B41FA5}">
                      <a16:colId xmlns:a16="http://schemas.microsoft.com/office/drawing/2014/main" val="20001"/>
                    </a:ext>
                  </a:extLst>
                </a:gridCol>
                <a:gridCol w="1884775">
                  <a:extLst>
                    <a:ext uri="{9D8B030D-6E8A-4147-A177-3AD203B41FA5}">
                      <a16:colId xmlns:a16="http://schemas.microsoft.com/office/drawing/2014/main" val="20002"/>
                    </a:ext>
                  </a:extLst>
                </a:gridCol>
              </a:tblGrid>
              <a:tr h="494800">
                <a:tc>
                  <a:txBody>
                    <a:bodyPr/>
                    <a:lstStyle/>
                    <a:p>
                      <a:pPr marL="0" marR="0" lvl="0" indent="0" algn="l" rtl="0">
                        <a:lnSpc>
                          <a:spcPct val="100000"/>
                        </a:lnSpc>
                        <a:spcBef>
                          <a:spcPts val="0"/>
                        </a:spcBef>
                        <a:spcAft>
                          <a:spcPts val="0"/>
                        </a:spcAft>
                        <a:buClr>
                          <a:schemeClr val="dk1"/>
                        </a:buClr>
                        <a:buSzPts val="1800"/>
                        <a:buFont typeface="Calibri"/>
                        <a:buNone/>
                      </a:pPr>
                      <a:r>
                        <a:rPr lang="en" sz="1800" b="1" i="0" u="none" strike="noStrike" cap="none">
                          <a:solidFill>
                            <a:schemeClr val="dk1"/>
                          </a:solidFill>
                          <a:latin typeface="Calibri"/>
                          <a:ea typeface="Calibri"/>
                          <a:cs typeface="Calibri"/>
                          <a:sym typeface="Calibri"/>
                        </a:rPr>
                        <a:t>Criteria:</a:t>
                      </a:r>
                      <a:endParaRPr sz="1800" b="1" u="none" strike="noStrike" cap="none">
                        <a:solidFill>
                          <a:schemeClr val="dk1"/>
                        </a:solidFill>
                      </a:endParaRPr>
                    </a:p>
                  </a:txBody>
                  <a:tcPr marL="68600" marR="68600" marT="34300" marB="34300">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400"/>
                        <a:buFont typeface="Calibri"/>
                        <a:buNone/>
                      </a:pPr>
                      <a:r>
                        <a:rPr lang="en" b="0"/>
                        <a:t>MAG/</a:t>
                      </a:r>
                      <a:r>
                        <a:rPr lang="en" sz="1400" b="0" i="0" u="none" strike="noStrike" cap="none">
                          <a:latin typeface="Calibri"/>
                          <a:ea typeface="Calibri"/>
                          <a:cs typeface="Calibri"/>
                          <a:sym typeface="Calibri"/>
                        </a:rPr>
                        <a:t>Assembly-based </a:t>
                      </a:r>
                      <a:endParaRPr sz="1400" u="none" strike="noStrike" cap="none"/>
                    </a:p>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analysis </a:t>
                      </a:r>
                      <a:endParaRPr sz="1400" u="none" strike="noStrike" cap="none"/>
                    </a:p>
                  </a:txBody>
                  <a:tcPr marL="68600" marR="68600" marT="34300" marB="34300">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Read-based </a:t>
                      </a:r>
                      <a:endParaRPr sz="1400" u="none" strike="noStrike" cap="none"/>
                    </a:p>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analysis ('mapping') </a:t>
                      </a:r>
                      <a:endParaRPr sz="1400" u="none" strike="noStrike" cap="none"/>
                    </a:p>
                  </a:txBody>
                  <a:tcPr marL="68600" marR="68600" marT="34300" marB="34300">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dirty="0">
                          <a:latin typeface="Calibri"/>
                          <a:ea typeface="Calibri"/>
                          <a:cs typeface="Calibri"/>
                          <a:sym typeface="Calibri"/>
                        </a:rPr>
                        <a:t>Comprehensiveness</a:t>
                      </a:r>
                      <a:endParaRPr sz="1400" u="none" strike="noStrike" cap="none" dirty="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Low</a:t>
                      </a:r>
                      <a:r>
                        <a:rPr lang="en" sz="1400" u="none" strike="noStrike" cap="none">
                          <a:solidFill>
                            <a:schemeClr val="dk1"/>
                          </a:solidFill>
                        </a:rPr>
                        <a:t>/</a:t>
                      </a:r>
                      <a:r>
                        <a:rPr lang="en" sz="1400" u="none" strike="noStrike" cap="none">
                          <a:solidFill>
                            <a:srgbClr val="FFC000"/>
                          </a:solidFill>
                        </a:rPr>
                        <a:t>Medium </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C00000"/>
                        </a:buClr>
                        <a:buSzPts val="1400"/>
                        <a:buFont typeface="Calibri"/>
                        <a:buNone/>
                      </a:pPr>
                      <a:r>
                        <a:rPr lang="en" sz="1400" b="0" i="0" u="none" strike="noStrike" cap="none">
                          <a:solidFill>
                            <a:srgbClr val="C00000"/>
                          </a:solidFill>
                          <a:latin typeface="Calibri"/>
                          <a:ea typeface="Calibri"/>
                          <a:cs typeface="Calibri"/>
                          <a:sym typeface="Calibri"/>
                        </a:rPr>
                        <a:t>Low</a:t>
                      </a:r>
                      <a:r>
                        <a:rPr lang="en" sz="1400" b="0" i="0" u="none" strike="noStrike" cap="none">
                          <a:solidFill>
                            <a:schemeClr val="dk1"/>
                          </a:solidFill>
                          <a:latin typeface="Calibri"/>
                          <a:ea typeface="Calibri"/>
                          <a:cs typeface="Calibri"/>
                          <a:sym typeface="Calibri"/>
                        </a:rPr>
                        <a:t>/</a:t>
                      </a:r>
                      <a:r>
                        <a:rPr lang="en" sz="1400" b="0" i="0" u="none" strike="noStrike" cap="none">
                          <a:solidFill>
                            <a:srgbClr val="FFC000"/>
                          </a:solidFill>
                        </a:rPr>
                        <a:t>Medium</a:t>
                      </a:r>
                      <a:r>
                        <a:rPr lang="en" sz="1400" b="0" i="0" u="none" strike="noStrike" cap="none">
                          <a:solidFill>
                            <a:schemeClr val="dk1"/>
                          </a:solidFill>
                        </a:rPr>
                        <a:t>/</a:t>
                      </a:r>
                      <a:r>
                        <a:rPr lang="en" sz="1400" b="0" i="0" u="none" strike="noStrike" cap="none">
                          <a:solidFill>
                            <a:srgbClr val="4AAB73"/>
                          </a:solidFill>
                          <a:latin typeface="Calibri"/>
                          <a:ea typeface="Calibri"/>
                          <a:cs typeface="Calibri"/>
                          <a:sym typeface="Calibri"/>
                        </a:rPr>
                        <a:t>High</a:t>
                      </a:r>
                      <a:endParaRPr sz="1400" b="0" i="0" u="none" strike="noStrike" cap="none">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Community complexity</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C00000"/>
                        </a:buClr>
                        <a:buSzPts val="1400"/>
                        <a:buFont typeface="Calibri"/>
                        <a:buNone/>
                      </a:pPr>
                      <a:r>
                        <a:rPr lang="en" sz="1400" b="0" i="0" u="none" strike="noStrike" cap="none">
                          <a:solidFill>
                            <a:srgbClr val="C00000"/>
                          </a:solidFill>
                          <a:latin typeface="Calibri"/>
                          <a:ea typeface="Calibri"/>
                          <a:cs typeface="Calibri"/>
                          <a:sym typeface="Calibri"/>
                        </a:rPr>
                        <a:t>Low</a:t>
                      </a:r>
                      <a:r>
                        <a:rPr lang="en" sz="1400" b="0" i="0" u="none" strike="noStrike" cap="none">
                          <a:latin typeface="Calibri"/>
                          <a:ea typeface="Calibri"/>
                          <a:cs typeface="Calibri"/>
                          <a:sym typeface="Calibri"/>
                        </a:rPr>
                        <a:t>/</a:t>
                      </a:r>
                      <a:r>
                        <a:rPr lang="en" sz="1400" b="0" i="0" u="none" strike="noStrike" cap="none">
                          <a:solidFill>
                            <a:srgbClr val="FFC000"/>
                          </a:solidFill>
                          <a:latin typeface="Calibri"/>
                          <a:ea typeface="Calibri"/>
                          <a:cs typeface="Calibri"/>
                          <a:sym typeface="Calibri"/>
                        </a:rPr>
                        <a:t>Medium</a:t>
                      </a:r>
                      <a:endParaRPr sz="1400" u="none" strike="noStrike" cap="none">
                        <a:solidFill>
                          <a:srgbClr val="FFC000"/>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accent6"/>
                        </a:buClr>
                        <a:buSzPts val="1400"/>
                        <a:buFont typeface="Calibri"/>
                        <a:buNone/>
                      </a:pPr>
                      <a:r>
                        <a:rPr lang="en" sz="1400" b="0" i="0" u="none" strike="noStrike" cap="none">
                          <a:solidFill>
                            <a:srgbClr val="4AAB73"/>
                          </a:solidFill>
                          <a:latin typeface="Calibri"/>
                          <a:ea typeface="Calibri"/>
                          <a:cs typeface="Calibri"/>
                          <a:sym typeface="Calibri"/>
                        </a:rPr>
                        <a:t>High </a:t>
                      </a:r>
                      <a:endParaRPr sz="1400" u="none" strike="noStrike" cap="none">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dirty="0">
                          <a:latin typeface="Calibri"/>
                          <a:ea typeface="Calibri"/>
                          <a:cs typeface="Calibri"/>
                          <a:sym typeface="Calibri"/>
                        </a:rPr>
                        <a:t>Novelty </a:t>
                      </a:r>
                      <a:endParaRPr sz="1400" u="none" strike="noStrike" cap="none" dirty="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accent6"/>
                        </a:buClr>
                        <a:buSzPts val="1400"/>
                        <a:buFont typeface="Calibri"/>
                        <a:buNone/>
                      </a:pPr>
                      <a:r>
                        <a:rPr lang="en" sz="1400" b="0" i="0" u="none" strike="noStrike" cap="none" dirty="0">
                          <a:solidFill>
                            <a:srgbClr val="4AAB73"/>
                          </a:solidFill>
                          <a:latin typeface="Calibri"/>
                          <a:ea typeface="Calibri"/>
                          <a:cs typeface="Calibri"/>
                          <a:sym typeface="Calibri"/>
                        </a:rPr>
                        <a:t>High </a:t>
                      </a:r>
                      <a:endParaRPr sz="1400" u="none" strike="noStrike" cap="none" dirty="0">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None</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Computational burden</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High</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4AAB73"/>
                          </a:solidFill>
                        </a:rPr>
                        <a:t>Low</a:t>
                      </a:r>
                      <a:endParaRPr sz="1100" u="none" strike="noStrike" cap="none">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dirty="0">
                          <a:latin typeface="Calibri"/>
                          <a:ea typeface="Calibri"/>
                          <a:cs typeface="Calibri"/>
                          <a:sym typeface="Calibri"/>
                        </a:rPr>
                        <a:t>Genome-resolved metabolism</a:t>
                      </a:r>
                      <a:endParaRPr sz="1400" u="none" strike="noStrike" cap="none" dirty="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4AAB73"/>
                          </a:solidFill>
                        </a:rPr>
                        <a:t>High</a:t>
                      </a:r>
                      <a:endParaRPr sz="1100" u="none" strike="noStrike" cap="none">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Low</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dirty="0">
                          <a:latin typeface="Calibri"/>
                          <a:ea typeface="Calibri"/>
                          <a:cs typeface="Calibri"/>
                          <a:sym typeface="Calibri"/>
                        </a:rPr>
                        <a:t>Expert manual supervision</a:t>
                      </a:r>
                      <a:endParaRPr sz="1400" u="none" strike="noStrike" cap="none" dirty="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High</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4AAB73"/>
                          </a:solidFill>
                        </a:rPr>
                        <a:t>Low</a:t>
                      </a:r>
                      <a:r>
                        <a:rPr lang="en" sz="1400" u="none" strike="noStrike" cap="none"/>
                        <a:t>/</a:t>
                      </a:r>
                      <a:r>
                        <a:rPr lang="en" sz="1400" u="none" strike="noStrike" cap="none">
                          <a:solidFill>
                            <a:srgbClr val="FFC000"/>
                          </a:solidFill>
                        </a:rPr>
                        <a:t>Medium</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6147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dirty="0">
                          <a:latin typeface="Calibri"/>
                          <a:ea typeface="Calibri"/>
                          <a:cs typeface="Calibri"/>
                          <a:sym typeface="Calibri"/>
                        </a:rPr>
                        <a:t>Integration with microbial genomics</a:t>
                      </a:r>
                      <a:endParaRPr sz="1400" u="none" strike="noStrike" cap="none" dirty="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solidFill>
                            <a:srgbClr val="4AAB73"/>
                          </a:solidFill>
                        </a:rPr>
                        <a:t>High</a:t>
                      </a:r>
                      <a:endParaRPr sz="1100" u="none" strike="noStrike" cap="none" dirty="0">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solidFill>
                            <a:srgbClr val="C00000"/>
                          </a:solidFill>
                        </a:rPr>
                        <a:t>None</a:t>
                      </a:r>
                      <a:endParaRPr sz="1100" u="none" strike="noStrike" cap="none" dirty="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2111" name="Google Shape;2111;p91"/>
          <p:cNvSpPr txBox="1"/>
          <p:nvPr/>
        </p:nvSpPr>
        <p:spPr>
          <a:xfrm>
            <a:off x="6297889" y="4538835"/>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Quince et.al., 2017</a:t>
            </a:r>
            <a:endParaRPr sz="1400" b="0" i="0" u="none" strike="noStrike" cap="none">
              <a:solidFill>
                <a:schemeClr val="dk1"/>
              </a:solidFill>
              <a:latin typeface="Calibri"/>
              <a:ea typeface="Calibri"/>
              <a:cs typeface="Calibri"/>
              <a:sym typeface="Calibri"/>
            </a:endParaRPr>
          </a:p>
        </p:txBody>
      </p:sp>
      <p:sp>
        <p:nvSpPr>
          <p:cNvPr id="2112" name="Google Shape;2112;p9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dirty="0"/>
              <a:t>MAG/a</a:t>
            </a:r>
            <a:r>
              <a:rPr lang="en" dirty="0">
                <a:latin typeface="Arial"/>
                <a:ea typeface="Arial"/>
                <a:cs typeface="Arial"/>
                <a:sym typeface="Arial"/>
              </a:rPr>
              <a:t>ssembly-based vs. read-based v2</a:t>
            </a:r>
            <a:endParaRPr dirty="0">
              <a:latin typeface="Arial"/>
              <a:ea typeface="Arial"/>
              <a:cs typeface="Arial"/>
              <a:sym typeface="Arial"/>
            </a:endParaRPr>
          </a:p>
        </p:txBody>
      </p:sp>
      <p:sp>
        <p:nvSpPr>
          <p:cNvPr id="2114" name="Google Shape;2114;p9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18"/>
        <p:cNvGrpSpPr/>
        <p:nvPr/>
      </p:nvGrpSpPr>
      <p:grpSpPr>
        <a:xfrm>
          <a:off x="0" y="0"/>
          <a:ext cx="0" cy="0"/>
          <a:chOff x="0" y="0"/>
          <a:chExt cx="0" cy="0"/>
        </a:xfrm>
      </p:grpSpPr>
      <p:graphicFrame>
        <p:nvGraphicFramePr>
          <p:cNvPr id="2119" name="Google Shape;2119;p92"/>
          <p:cNvGraphicFramePr/>
          <p:nvPr/>
        </p:nvGraphicFramePr>
        <p:xfrm>
          <a:off x="1480038" y="1318846"/>
          <a:ext cx="6776200" cy="3224170"/>
        </p:xfrm>
        <a:graphic>
          <a:graphicData uri="http://schemas.openxmlformats.org/drawingml/2006/table">
            <a:tbl>
              <a:tblPr firstRow="1" bandRow="1">
                <a:noFill/>
                <a:tableStyleId>{C06E1C7E-A112-4B5E-AF22-2FFA16795C80}</a:tableStyleId>
              </a:tblPr>
              <a:tblGrid>
                <a:gridCol w="2888600">
                  <a:extLst>
                    <a:ext uri="{9D8B030D-6E8A-4147-A177-3AD203B41FA5}">
                      <a16:colId xmlns:a16="http://schemas.microsoft.com/office/drawing/2014/main" val="20000"/>
                    </a:ext>
                  </a:extLst>
                </a:gridCol>
                <a:gridCol w="2002825">
                  <a:extLst>
                    <a:ext uri="{9D8B030D-6E8A-4147-A177-3AD203B41FA5}">
                      <a16:colId xmlns:a16="http://schemas.microsoft.com/office/drawing/2014/main" val="20001"/>
                    </a:ext>
                  </a:extLst>
                </a:gridCol>
                <a:gridCol w="1884775">
                  <a:extLst>
                    <a:ext uri="{9D8B030D-6E8A-4147-A177-3AD203B41FA5}">
                      <a16:colId xmlns:a16="http://schemas.microsoft.com/office/drawing/2014/main" val="20002"/>
                    </a:ext>
                  </a:extLst>
                </a:gridCol>
              </a:tblGrid>
              <a:tr h="494800">
                <a:tc>
                  <a:txBody>
                    <a:bodyPr/>
                    <a:lstStyle/>
                    <a:p>
                      <a:pPr marL="0" marR="0" lvl="0" indent="0" algn="l" rtl="0">
                        <a:lnSpc>
                          <a:spcPct val="100000"/>
                        </a:lnSpc>
                        <a:spcBef>
                          <a:spcPts val="0"/>
                        </a:spcBef>
                        <a:spcAft>
                          <a:spcPts val="0"/>
                        </a:spcAft>
                        <a:buClr>
                          <a:schemeClr val="dk1"/>
                        </a:buClr>
                        <a:buSzPts val="1800"/>
                        <a:buFont typeface="Calibri"/>
                        <a:buNone/>
                      </a:pPr>
                      <a:r>
                        <a:rPr lang="en" sz="1800" b="1" i="0" u="none" strike="noStrike" cap="none">
                          <a:solidFill>
                            <a:schemeClr val="dk1"/>
                          </a:solidFill>
                          <a:latin typeface="Calibri"/>
                          <a:ea typeface="Calibri"/>
                          <a:cs typeface="Calibri"/>
                          <a:sym typeface="Calibri"/>
                        </a:rPr>
                        <a:t>Criteria:</a:t>
                      </a:r>
                      <a:endParaRPr sz="1800" b="1" u="none" strike="noStrike" cap="none">
                        <a:solidFill>
                          <a:schemeClr val="dk1"/>
                        </a:solidFill>
                      </a:endParaRPr>
                    </a:p>
                  </a:txBody>
                  <a:tcPr marL="68600" marR="68600" marT="34300" marB="34300">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400"/>
                        <a:buFont typeface="Calibri"/>
                        <a:buNone/>
                      </a:pPr>
                      <a:r>
                        <a:rPr lang="en" b="0"/>
                        <a:t>MAG/</a:t>
                      </a:r>
                      <a:r>
                        <a:rPr lang="en" sz="1400" b="0" i="0" u="none" strike="noStrike" cap="none">
                          <a:latin typeface="Calibri"/>
                          <a:ea typeface="Calibri"/>
                          <a:cs typeface="Calibri"/>
                          <a:sym typeface="Calibri"/>
                        </a:rPr>
                        <a:t>Assembly-based </a:t>
                      </a:r>
                      <a:endParaRPr sz="1400" u="none" strike="noStrike" cap="none"/>
                    </a:p>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analysis </a:t>
                      </a:r>
                      <a:endParaRPr sz="1400" u="none" strike="noStrike" cap="none"/>
                    </a:p>
                  </a:txBody>
                  <a:tcPr marL="68600" marR="68600" marT="34300" marB="34300">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Read-based </a:t>
                      </a:r>
                      <a:endParaRPr sz="1400" u="none" strike="noStrike" cap="none"/>
                    </a:p>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analysis ('mapping') </a:t>
                      </a:r>
                      <a:endParaRPr sz="1400" u="none" strike="noStrike" cap="none"/>
                    </a:p>
                  </a:txBody>
                  <a:tcPr marL="68600" marR="68600" marT="34300" marB="34300">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Comprehensiveness</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Low</a:t>
                      </a:r>
                      <a:r>
                        <a:rPr lang="en" sz="1400" u="none" strike="noStrike" cap="none">
                          <a:solidFill>
                            <a:schemeClr val="dk1"/>
                          </a:solidFill>
                        </a:rPr>
                        <a:t>/</a:t>
                      </a:r>
                      <a:r>
                        <a:rPr lang="en" sz="1400" u="none" strike="noStrike" cap="none">
                          <a:solidFill>
                            <a:srgbClr val="FFC000"/>
                          </a:solidFill>
                        </a:rPr>
                        <a:t>Medium </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C00000"/>
                        </a:buClr>
                        <a:buSzPts val="1400"/>
                        <a:buFont typeface="Calibri"/>
                        <a:buNone/>
                      </a:pPr>
                      <a:r>
                        <a:rPr lang="en" sz="1400" b="0" i="0" u="none" strike="noStrike" cap="none">
                          <a:solidFill>
                            <a:srgbClr val="C00000"/>
                          </a:solidFill>
                          <a:latin typeface="Calibri"/>
                          <a:ea typeface="Calibri"/>
                          <a:cs typeface="Calibri"/>
                          <a:sym typeface="Calibri"/>
                        </a:rPr>
                        <a:t>Low</a:t>
                      </a:r>
                      <a:r>
                        <a:rPr lang="en" sz="1400" b="0" i="0" u="none" strike="noStrike" cap="none">
                          <a:solidFill>
                            <a:schemeClr val="dk1"/>
                          </a:solidFill>
                          <a:latin typeface="Calibri"/>
                          <a:ea typeface="Calibri"/>
                          <a:cs typeface="Calibri"/>
                          <a:sym typeface="Calibri"/>
                        </a:rPr>
                        <a:t>/</a:t>
                      </a:r>
                      <a:r>
                        <a:rPr lang="en" sz="1400" b="0" i="0" u="none" strike="noStrike" cap="none">
                          <a:solidFill>
                            <a:srgbClr val="FFC000"/>
                          </a:solidFill>
                        </a:rPr>
                        <a:t>Medium</a:t>
                      </a:r>
                      <a:r>
                        <a:rPr lang="en" sz="1400" b="0" i="0" u="none" strike="noStrike" cap="none">
                          <a:solidFill>
                            <a:schemeClr val="dk1"/>
                          </a:solidFill>
                        </a:rPr>
                        <a:t>/</a:t>
                      </a:r>
                      <a:r>
                        <a:rPr lang="en" sz="1400" b="0" i="0" u="none" strike="noStrike" cap="none">
                          <a:solidFill>
                            <a:srgbClr val="4AAB73"/>
                          </a:solidFill>
                          <a:latin typeface="Calibri"/>
                          <a:ea typeface="Calibri"/>
                          <a:cs typeface="Calibri"/>
                          <a:sym typeface="Calibri"/>
                        </a:rPr>
                        <a:t>High</a:t>
                      </a:r>
                      <a:endParaRPr sz="1400" b="0" i="0" u="none" strike="noStrike" cap="none">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Community complexity</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C00000"/>
                        </a:buClr>
                        <a:buSzPts val="1400"/>
                        <a:buFont typeface="Calibri"/>
                        <a:buNone/>
                      </a:pPr>
                      <a:r>
                        <a:rPr lang="en" sz="1400" b="0" i="0" u="none" strike="noStrike" cap="none">
                          <a:solidFill>
                            <a:srgbClr val="C00000"/>
                          </a:solidFill>
                          <a:latin typeface="Calibri"/>
                          <a:ea typeface="Calibri"/>
                          <a:cs typeface="Calibri"/>
                          <a:sym typeface="Calibri"/>
                        </a:rPr>
                        <a:t>Low</a:t>
                      </a:r>
                      <a:r>
                        <a:rPr lang="en" sz="1400" b="0" i="0" u="none" strike="noStrike" cap="none">
                          <a:latin typeface="Calibri"/>
                          <a:ea typeface="Calibri"/>
                          <a:cs typeface="Calibri"/>
                          <a:sym typeface="Calibri"/>
                        </a:rPr>
                        <a:t>/</a:t>
                      </a:r>
                      <a:r>
                        <a:rPr lang="en" sz="1400" b="0" i="0" u="none" strike="noStrike" cap="none">
                          <a:solidFill>
                            <a:srgbClr val="FFC000"/>
                          </a:solidFill>
                          <a:latin typeface="Calibri"/>
                          <a:ea typeface="Calibri"/>
                          <a:cs typeface="Calibri"/>
                          <a:sym typeface="Calibri"/>
                        </a:rPr>
                        <a:t>Medium</a:t>
                      </a:r>
                      <a:endParaRPr sz="1400" u="none" strike="noStrike" cap="none">
                        <a:solidFill>
                          <a:srgbClr val="FFC000"/>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accent6"/>
                        </a:buClr>
                        <a:buSzPts val="1400"/>
                        <a:buFont typeface="Calibri"/>
                        <a:buNone/>
                      </a:pPr>
                      <a:r>
                        <a:rPr lang="en" sz="1400" b="0" i="0" u="none" strike="noStrike" cap="none">
                          <a:solidFill>
                            <a:srgbClr val="4AAB73"/>
                          </a:solidFill>
                          <a:latin typeface="Calibri"/>
                          <a:ea typeface="Calibri"/>
                          <a:cs typeface="Calibri"/>
                          <a:sym typeface="Calibri"/>
                        </a:rPr>
                        <a:t>High </a:t>
                      </a:r>
                      <a:endParaRPr sz="1400" u="none" strike="noStrike" cap="none">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Novelty </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accent6"/>
                        </a:buClr>
                        <a:buSzPts val="1400"/>
                        <a:buFont typeface="Calibri"/>
                        <a:buNone/>
                      </a:pPr>
                      <a:r>
                        <a:rPr lang="en" sz="1400" b="0" i="0" u="none" strike="noStrike" cap="none">
                          <a:solidFill>
                            <a:srgbClr val="4AAB73"/>
                          </a:solidFill>
                          <a:latin typeface="Calibri"/>
                          <a:ea typeface="Calibri"/>
                          <a:cs typeface="Calibri"/>
                          <a:sym typeface="Calibri"/>
                        </a:rPr>
                        <a:t>High </a:t>
                      </a:r>
                      <a:endParaRPr sz="1400" u="none" strike="noStrike" cap="none">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None</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Computational burden</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High</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4AAB73"/>
                          </a:solidFill>
                        </a:rPr>
                        <a:t>Low</a:t>
                      </a:r>
                      <a:endParaRPr sz="1100" u="none" strike="noStrike" cap="none">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Genome-resolved metabolism</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4AAB73"/>
                          </a:solidFill>
                        </a:rPr>
                        <a:t>High</a:t>
                      </a:r>
                      <a:endParaRPr sz="1100" u="none" strike="noStrike" cap="none">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Low</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523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Expert manual supervision</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High</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4AAB73"/>
                          </a:solidFill>
                        </a:rPr>
                        <a:t>Low</a:t>
                      </a:r>
                      <a:r>
                        <a:rPr lang="en" sz="1400" u="none" strike="noStrike" cap="none"/>
                        <a:t>/</a:t>
                      </a:r>
                      <a:r>
                        <a:rPr lang="en" sz="1400" u="none" strike="noStrike" cap="none">
                          <a:solidFill>
                            <a:srgbClr val="FFC000"/>
                          </a:solidFill>
                        </a:rPr>
                        <a:t>Medium</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614750">
                <a:tc>
                  <a:txBody>
                    <a:bodyPr/>
                    <a:lstStyle/>
                    <a:p>
                      <a:pPr marL="0" marR="0" lvl="0" indent="0" algn="l" rtl="0">
                        <a:lnSpc>
                          <a:spcPct val="100000"/>
                        </a:lnSpc>
                        <a:spcBef>
                          <a:spcPts val="0"/>
                        </a:spcBef>
                        <a:spcAft>
                          <a:spcPts val="0"/>
                        </a:spcAft>
                        <a:buClr>
                          <a:schemeClr val="dk1"/>
                        </a:buClr>
                        <a:buSzPts val="1400"/>
                        <a:buFont typeface="Calibri"/>
                        <a:buNone/>
                      </a:pPr>
                      <a:r>
                        <a:rPr lang="en" sz="1400" b="0" i="0" u="none" strike="noStrike" cap="none">
                          <a:latin typeface="Calibri"/>
                          <a:ea typeface="Calibri"/>
                          <a:cs typeface="Calibri"/>
                          <a:sym typeface="Calibri"/>
                        </a:rPr>
                        <a:t>Integration with microbial genomics</a:t>
                      </a:r>
                      <a:endParaRPr sz="14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4AAB73"/>
                          </a:solidFill>
                        </a:rPr>
                        <a:t>High</a:t>
                      </a:r>
                      <a:endParaRPr sz="1100" u="none" strike="noStrike" cap="none">
                        <a:solidFill>
                          <a:srgbClr val="4AAB73"/>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C00000"/>
                          </a:solidFill>
                        </a:rPr>
                        <a:t>None</a:t>
                      </a:r>
                      <a:endParaRPr sz="1100" u="none" strike="noStrike" cap="none"/>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2120" name="Google Shape;2120;p92"/>
          <p:cNvSpPr txBox="1"/>
          <p:nvPr/>
        </p:nvSpPr>
        <p:spPr>
          <a:xfrm>
            <a:off x="6297889" y="4538835"/>
            <a:ext cx="205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alibri"/>
                <a:ea typeface="Calibri"/>
                <a:cs typeface="Calibri"/>
                <a:sym typeface="Calibri"/>
              </a:rPr>
              <a:t>Quince et.al., 2017</a:t>
            </a:r>
            <a:endParaRPr sz="1400" b="0" i="0" u="none" strike="noStrike" cap="none">
              <a:solidFill>
                <a:schemeClr val="dk1"/>
              </a:solidFill>
              <a:latin typeface="Calibri"/>
              <a:ea typeface="Calibri"/>
              <a:cs typeface="Calibri"/>
              <a:sym typeface="Calibri"/>
            </a:endParaRPr>
          </a:p>
        </p:txBody>
      </p:sp>
      <p:sp>
        <p:nvSpPr>
          <p:cNvPr id="2121" name="Google Shape;2121;p9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a:t>MAG/a</a:t>
            </a:r>
            <a:r>
              <a:rPr lang="en">
                <a:latin typeface="Arial"/>
                <a:ea typeface="Arial"/>
                <a:cs typeface="Arial"/>
                <a:sym typeface="Arial"/>
              </a:rPr>
              <a:t>ssembly-based vs. read-based v2</a:t>
            </a:r>
            <a:endParaRPr>
              <a:latin typeface="Arial"/>
              <a:ea typeface="Arial"/>
              <a:cs typeface="Arial"/>
              <a:sym typeface="Arial"/>
            </a:endParaRPr>
          </a:p>
        </p:txBody>
      </p:sp>
      <p:sp>
        <p:nvSpPr>
          <p:cNvPr id="2122" name="Google Shape;2122;p9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endParaRPr/>
          </a:p>
        </p:txBody>
      </p:sp>
      <p:sp>
        <p:nvSpPr>
          <p:cNvPr id="2123" name="Google Shape;2123;p9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46</a:t>
            </a:fld>
            <a:endParaRPr/>
          </a:p>
        </p:txBody>
      </p:sp>
      <p:sp>
        <p:nvSpPr>
          <p:cNvPr id="2124" name="Google Shape;2124;p92"/>
          <p:cNvSpPr/>
          <p:nvPr/>
        </p:nvSpPr>
        <p:spPr>
          <a:xfrm>
            <a:off x="-26175" y="-4175"/>
            <a:ext cx="8909700" cy="5045400"/>
          </a:xfrm>
          <a:prstGeom prst="rect">
            <a:avLst/>
          </a:prstGeom>
          <a:solidFill>
            <a:srgbClr val="EEEEEE">
              <a:alpha val="6588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i="1"/>
          </a:p>
        </p:txBody>
      </p:sp>
      <p:sp>
        <p:nvSpPr>
          <p:cNvPr id="2125" name="Google Shape;2125;p92"/>
          <p:cNvSpPr txBox="1"/>
          <p:nvPr/>
        </p:nvSpPr>
        <p:spPr>
          <a:xfrm rot="-2170479">
            <a:off x="2054302" y="2410346"/>
            <a:ext cx="6289723" cy="55408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dk1"/>
                </a:solidFill>
                <a:highlight>
                  <a:schemeClr val="lt1"/>
                </a:highlight>
              </a:rPr>
              <a:t>Choose according to your question! </a:t>
            </a:r>
            <a:endParaRPr sz="2400" b="1">
              <a:solidFill>
                <a:schemeClr val="dk1"/>
              </a:solidFill>
              <a:highlight>
                <a:schemeClr val="lt1"/>
              </a:highligh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38"/>
        <p:cNvGrpSpPr/>
        <p:nvPr/>
      </p:nvGrpSpPr>
      <p:grpSpPr>
        <a:xfrm>
          <a:off x="0" y="0"/>
          <a:ext cx="0" cy="0"/>
          <a:chOff x="0" y="0"/>
          <a:chExt cx="0" cy="0"/>
        </a:xfrm>
      </p:grpSpPr>
      <p:sp>
        <p:nvSpPr>
          <p:cNvPr id="2139" name="Google Shape;2139;p9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
                <a:latin typeface="Arial"/>
                <a:ea typeface="Arial"/>
                <a:cs typeface="Arial"/>
                <a:sym typeface="Arial"/>
              </a:rPr>
              <a:t>Metagenomics is a great tool but...</a:t>
            </a:r>
            <a:endParaRPr/>
          </a:p>
        </p:txBody>
      </p:sp>
      <p:sp>
        <p:nvSpPr>
          <p:cNvPr id="2140" name="Google Shape;2140;p9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dk1"/>
              </a:buClr>
              <a:buSzPts val="2100"/>
              <a:buChar char="•"/>
            </a:pPr>
            <a:r>
              <a:rPr lang="en" dirty="0"/>
              <a:t>Abundance is compositional</a:t>
            </a:r>
            <a:endParaRPr dirty="0"/>
          </a:p>
          <a:p>
            <a:pPr marL="520700" lvl="1" indent="-190500" algn="l" rtl="0">
              <a:lnSpc>
                <a:spcPct val="90000"/>
              </a:lnSpc>
              <a:spcBef>
                <a:spcPts val="400"/>
              </a:spcBef>
              <a:spcAft>
                <a:spcPts val="0"/>
              </a:spcAft>
              <a:buClr>
                <a:schemeClr val="dk1"/>
              </a:buClr>
              <a:buSzPts val="1800"/>
              <a:buChar char="•"/>
            </a:pPr>
            <a:r>
              <a:rPr lang="en" dirty="0"/>
              <a:t>Not easy to be quantitative with microbial communities</a:t>
            </a:r>
            <a:endParaRPr dirty="0"/>
          </a:p>
          <a:p>
            <a:pPr marL="863600" lvl="2" indent="-184150" algn="l" rtl="0">
              <a:lnSpc>
                <a:spcPct val="90000"/>
              </a:lnSpc>
              <a:spcBef>
                <a:spcPts val="400"/>
              </a:spcBef>
              <a:spcAft>
                <a:spcPts val="0"/>
              </a:spcAft>
              <a:buClr>
                <a:schemeClr val="dk1"/>
              </a:buClr>
              <a:buSzPts val="1500"/>
              <a:buChar char="•"/>
            </a:pPr>
            <a:r>
              <a:rPr lang="en" dirty="0"/>
              <a:t>?Integrate metagenomics/barcoding with qPCR, DNA spiking, flow-cytometry and microscopy?</a:t>
            </a:r>
            <a:endParaRPr dirty="0"/>
          </a:p>
          <a:p>
            <a:pPr marL="177800" lvl="0" indent="-184150" algn="l" rtl="0">
              <a:lnSpc>
                <a:spcPct val="90000"/>
              </a:lnSpc>
              <a:spcBef>
                <a:spcPts val="800"/>
              </a:spcBef>
              <a:spcAft>
                <a:spcPts val="0"/>
              </a:spcAft>
              <a:buClr>
                <a:schemeClr val="dk1"/>
              </a:buClr>
              <a:buSzPts val="2100"/>
              <a:buChar char="•"/>
            </a:pPr>
            <a:r>
              <a:rPr lang="en" dirty="0"/>
              <a:t>We are measuring the DNA content, therefore viable &amp; non viable cells</a:t>
            </a:r>
            <a:endParaRPr dirty="0"/>
          </a:p>
          <a:p>
            <a:pPr marL="520700" lvl="1" indent="-190500" algn="l" rtl="0">
              <a:lnSpc>
                <a:spcPct val="90000"/>
              </a:lnSpc>
              <a:spcBef>
                <a:spcPts val="400"/>
              </a:spcBef>
              <a:spcAft>
                <a:spcPts val="0"/>
              </a:spcAft>
              <a:buClr>
                <a:schemeClr val="dk1"/>
              </a:buClr>
              <a:buSzPts val="1800"/>
              <a:buChar char="•"/>
            </a:pPr>
            <a:r>
              <a:rPr lang="en" dirty="0"/>
              <a:t> </a:t>
            </a:r>
            <a:r>
              <a:rPr lang="en" dirty="0">
                <a:solidFill>
                  <a:srgbClr val="AEABAB"/>
                </a:solidFill>
              </a:rPr>
              <a:t>RNA, CFUs (if culturable)</a:t>
            </a:r>
            <a:endParaRPr dirty="0"/>
          </a:p>
          <a:p>
            <a:pPr marL="177800" lvl="0" indent="-184150" algn="l" rtl="0">
              <a:lnSpc>
                <a:spcPct val="90000"/>
              </a:lnSpc>
              <a:spcBef>
                <a:spcPts val="800"/>
              </a:spcBef>
              <a:spcAft>
                <a:spcPts val="0"/>
              </a:spcAft>
              <a:buClr>
                <a:schemeClr val="dk1"/>
              </a:buClr>
              <a:buSzPts val="2100"/>
              <a:buChar char="•"/>
            </a:pPr>
            <a:r>
              <a:rPr lang="en" dirty="0"/>
              <a:t>We investigate potential functionality, not activity</a:t>
            </a:r>
            <a:endParaRPr dirty="0"/>
          </a:p>
          <a:p>
            <a:pPr marL="520700" lvl="1" indent="-190500" algn="l" rtl="0">
              <a:lnSpc>
                <a:spcPct val="90000"/>
              </a:lnSpc>
              <a:spcBef>
                <a:spcPts val="400"/>
              </a:spcBef>
              <a:spcAft>
                <a:spcPts val="0"/>
              </a:spcAft>
              <a:buClr>
                <a:schemeClr val="dk1"/>
              </a:buClr>
              <a:buSzPts val="1800"/>
              <a:buChar char="•"/>
            </a:pPr>
            <a:r>
              <a:rPr lang="en" dirty="0"/>
              <a:t>Multi-omics: Adding layers of information (RNA, protein, metabolites)</a:t>
            </a:r>
            <a:endParaRPr dirty="0"/>
          </a:p>
          <a:p>
            <a:pPr marL="177800" lvl="0" indent="-184150" algn="l" rtl="0">
              <a:lnSpc>
                <a:spcPct val="90000"/>
              </a:lnSpc>
              <a:spcBef>
                <a:spcPts val="800"/>
              </a:spcBef>
              <a:spcAft>
                <a:spcPts val="0"/>
              </a:spcAft>
              <a:buClr>
                <a:schemeClr val="dk1"/>
              </a:buClr>
              <a:buSzPts val="2100"/>
              <a:buChar char="•"/>
            </a:pPr>
            <a:r>
              <a:rPr lang="en" dirty="0"/>
              <a:t>No clue on spatial organization</a:t>
            </a:r>
            <a:endParaRPr dirty="0"/>
          </a:p>
          <a:p>
            <a:pPr marL="520700" lvl="1" indent="-190500" algn="l" rtl="0">
              <a:lnSpc>
                <a:spcPct val="90000"/>
              </a:lnSpc>
              <a:spcBef>
                <a:spcPts val="400"/>
              </a:spcBef>
              <a:spcAft>
                <a:spcPts val="0"/>
              </a:spcAft>
              <a:buClr>
                <a:schemeClr val="dk1"/>
              </a:buClr>
              <a:buSzPts val="1800"/>
              <a:buChar char="•"/>
            </a:pPr>
            <a:r>
              <a:rPr lang="en" dirty="0"/>
              <a:t>Microscopy</a:t>
            </a:r>
            <a:endParaRPr dirty="0"/>
          </a:p>
          <a:p>
            <a:pPr marL="342900" lvl="0" indent="0" algn="l" rtl="0">
              <a:lnSpc>
                <a:spcPct val="90000"/>
              </a:lnSpc>
              <a:spcBef>
                <a:spcPts val="800"/>
              </a:spcBef>
              <a:spcAft>
                <a:spcPts val="0"/>
              </a:spcAft>
              <a:buNone/>
            </a:pPr>
            <a:endParaRPr dirty="0"/>
          </a:p>
          <a:p>
            <a:pPr marL="342900" lvl="0" indent="0" algn="l" rtl="0">
              <a:lnSpc>
                <a:spcPct val="90000"/>
              </a:lnSpc>
              <a:spcBef>
                <a:spcPts val="800"/>
              </a:spcBef>
              <a:spcAft>
                <a:spcPts val="0"/>
              </a:spcAft>
              <a:buNone/>
            </a:pPr>
            <a:endParaRPr dirty="0"/>
          </a:p>
        </p:txBody>
      </p:sp>
      <p:sp>
        <p:nvSpPr>
          <p:cNvPr id="2142" name="Google Shape;2142;p9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79"/>
        <p:cNvGrpSpPr/>
        <p:nvPr/>
      </p:nvGrpSpPr>
      <p:grpSpPr>
        <a:xfrm>
          <a:off x="0" y="0"/>
          <a:ext cx="0" cy="0"/>
          <a:chOff x="0" y="0"/>
          <a:chExt cx="0" cy="0"/>
        </a:xfrm>
      </p:grpSpPr>
      <p:sp>
        <p:nvSpPr>
          <p:cNvPr id="2180" name="Google Shape;2180;p97"/>
          <p:cNvSpPr txBox="1"/>
          <p:nvPr/>
        </p:nvSpPr>
        <p:spPr>
          <a:xfrm>
            <a:off x="211025" y="279800"/>
            <a:ext cx="8734500" cy="10620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 sz="1900">
                <a:solidFill>
                  <a:schemeClr val="dk1"/>
                </a:solidFill>
              </a:rPr>
              <a:t>Challenges of getting genomes from metagenomes across environments:</a:t>
            </a:r>
            <a:endParaRPr sz="1900">
              <a:solidFill>
                <a:schemeClr val="dk1"/>
              </a:solidFill>
            </a:endParaRPr>
          </a:p>
          <a:p>
            <a:pPr marL="2286000" lvl="0" indent="457200" algn="l" rtl="0">
              <a:spcBef>
                <a:spcPts val="0"/>
              </a:spcBef>
              <a:spcAft>
                <a:spcPts val="0"/>
              </a:spcAft>
              <a:buNone/>
            </a:pPr>
            <a:r>
              <a:rPr lang="en" sz="1900" b="1">
                <a:solidFill>
                  <a:schemeClr val="dk1"/>
                </a:solidFill>
              </a:rPr>
              <a:t>The more data, the better?</a:t>
            </a:r>
            <a:endParaRPr sz="1900" b="1">
              <a:solidFill>
                <a:schemeClr val="dk1"/>
              </a:solidFill>
            </a:endParaRPr>
          </a:p>
          <a:p>
            <a:pPr marL="457200" lvl="0" indent="0" algn="l" rtl="0">
              <a:spcBef>
                <a:spcPts val="0"/>
              </a:spcBef>
              <a:spcAft>
                <a:spcPts val="0"/>
              </a:spcAft>
              <a:buClr>
                <a:srgbClr val="000000"/>
              </a:buClr>
              <a:buSzPts val="1100"/>
              <a:buFont typeface="Arial"/>
              <a:buNone/>
            </a:pPr>
            <a:endParaRPr sz="1900">
              <a:solidFill>
                <a:schemeClr val="dk1"/>
              </a:solidFill>
            </a:endParaRPr>
          </a:p>
        </p:txBody>
      </p:sp>
      <p:pic>
        <p:nvPicPr>
          <p:cNvPr id="2181" name="Google Shape;2181;p97"/>
          <p:cNvPicPr preferRelativeResize="0"/>
          <p:nvPr/>
        </p:nvPicPr>
        <p:blipFill>
          <a:blip r:embed="rId3">
            <a:alphaModFix/>
          </a:blip>
          <a:stretch>
            <a:fillRect/>
          </a:stretch>
        </p:blipFill>
        <p:spPr>
          <a:xfrm>
            <a:off x="8605823" y="309363"/>
            <a:ext cx="402549" cy="402585"/>
          </a:xfrm>
          <a:prstGeom prst="rect">
            <a:avLst/>
          </a:prstGeom>
          <a:noFill/>
          <a:ln>
            <a:noFill/>
          </a:ln>
        </p:spPr>
      </p:pic>
      <p:sp>
        <p:nvSpPr>
          <p:cNvPr id="2182" name="Google Shape;2182;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48</a:t>
            </a:fld>
            <a:endParaRPr/>
          </a:p>
        </p:txBody>
      </p:sp>
      <p:sp>
        <p:nvSpPr>
          <p:cNvPr id="2183" name="Google Shape;2183;p97"/>
          <p:cNvSpPr txBox="1"/>
          <p:nvPr/>
        </p:nvSpPr>
        <p:spPr>
          <a:xfrm>
            <a:off x="1828025" y="4644475"/>
            <a:ext cx="5500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dirty="0">
                <a:solidFill>
                  <a:srgbClr val="2A2A2A"/>
                </a:solidFill>
                <a:highlight>
                  <a:srgbClr val="FFFFFF"/>
                </a:highlight>
              </a:rPr>
              <a:t>Julien Tremblay, Lars Schreiber, Charles W Greer, High-resolution shotgun metagenomics: the more data, the better?, </a:t>
            </a:r>
            <a:r>
              <a:rPr lang="en" sz="800" i="1" dirty="0">
                <a:solidFill>
                  <a:srgbClr val="2A2A2A"/>
                </a:solidFill>
                <a:highlight>
                  <a:srgbClr val="FFFFFF"/>
                </a:highlight>
              </a:rPr>
              <a:t>Briefings in Bioinformatics</a:t>
            </a:r>
            <a:r>
              <a:rPr lang="en" sz="800" dirty="0">
                <a:solidFill>
                  <a:srgbClr val="2A2A2A"/>
                </a:solidFill>
                <a:highlight>
                  <a:srgbClr val="FFFFFF"/>
                </a:highlight>
              </a:rPr>
              <a:t>, Volume 23, Issue 6, November 2022, bbac443, </a:t>
            </a:r>
            <a:r>
              <a:rPr lang="en" sz="800" dirty="0">
                <a:solidFill>
                  <a:srgbClr val="006FB7"/>
                </a:solidFill>
                <a:highlight>
                  <a:srgbClr val="FFFFFF"/>
                </a:highlight>
                <a:uFill>
                  <a:noFill/>
                </a:uFill>
                <a:hlinkClick r:id="rId4">
                  <a:extLst>
                    <a:ext uri="{A12FA001-AC4F-418D-AE19-62706E023703}">
                      <ahyp:hlinkClr xmlns:ahyp="http://schemas.microsoft.com/office/drawing/2018/hyperlinkcolor" val="tx"/>
                    </a:ext>
                  </a:extLst>
                </a:hlinkClick>
              </a:rPr>
              <a:t>https://doi.org/10.1093/bib/bbac443</a:t>
            </a:r>
            <a:endParaRPr sz="800" dirty="0">
              <a:solidFill>
                <a:schemeClr val="dk2"/>
              </a:solidFill>
            </a:endParaRPr>
          </a:p>
        </p:txBody>
      </p:sp>
      <p:pic>
        <p:nvPicPr>
          <p:cNvPr id="2184" name="Google Shape;2184;p97"/>
          <p:cNvPicPr preferRelativeResize="0"/>
          <p:nvPr/>
        </p:nvPicPr>
        <p:blipFill rotWithShape="1">
          <a:blip r:embed="rId5">
            <a:alphaModFix/>
          </a:blip>
          <a:srcRect b="85350"/>
          <a:stretch/>
        </p:blipFill>
        <p:spPr>
          <a:xfrm>
            <a:off x="597700" y="1292175"/>
            <a:ext cx="3840475" cy="950648"/>
          </a:xfrm>
          <a:prstGeom prst="rect">
            <a:avLst/>
          </a:prstGeom>
          <a:noFill/>
          <a:ln>
            <a:noFill/>
          </a:ln>
        </p:spPr>
      </p:pic>
      <p:pic>
        <p:nvPicPr>
          <p:cNvPr id="2185" name="Google Shape;2185;p97"/>
          <p:cNvPicPr preferRelativeResize="0"/>
          <p:nvPr/>
        </p:nvPicPr>
        <p:blipFill rotWithShape="1">
          <a:blip r:embed="rId5">
            <a:alphaModFix/>
          </a:blip>
          <a:srcRect t="50051" b="35524"/>
          <a:stretch/>
        </p:blipFill>
        <p:spPr>
          <a:xfrm>
            <a:off x="4765350" y="1380400"/>
            <a:ext cx="3840475" cy="950648"/>
          </a:xfrm>
          <a:prstGeom prst="rect">
            <a:avLst/>
          </a:prstGeom>
          <a:noFill/>
          <a:ln>
            <a:noFill/>
          </a:ln>
        </p:spPr>
      </p:pic>
      <p:pic>
        <p:nvPicPr>
          <p:cNvPr id="2186" name="Google Shape;2186;p97"/>
          <p:cNvPicPr preferRelativeResize="0"/>
          <p:nvPr/>
        </p:nvPicPr>
        <p:blipFill rotWithShape="1">
          <a:blip r:embed="rId5">
            <a:alphaModFix/>
          </a:blip>
          <a:srcRect t="25331" b="60980"/>
          <a:stretch/>
        </p:blipFill>
        <p:spPr>
          <a:xfrm>
            <a:off x="597700" y="2999501"/>
            <a:ext cx="3840475" cy="888298"/>
          </a:xfrm>
          <a:prstGeom prst="rect">
            <a:avLst/>
          </a:prstGeom>
          <a:noFill/>
          <a:ln>
            <a:noFill/>
          </a:ln>
        </p:spPr>
      </p:pic>
      <p:pic>
        <p:nvPicPr>
          <p:cNvPr id="2187" name="Google Shape;2187;p97"/>
          <p:cNvPicPr preferRelativeResize="0"/>
          <p:nvPr/>
        </p:nvPicPr>
        <p:blipFill rotWithShape="1">
          <a:blip r:embed="rId5">
            <a:alphaModFix/>
          </a:blip>
          <a:srcRect t="75375" b="11146"/>
          <a:stretch/>
        </p:blipFill>
        <p:spPr>
          <a:xfrm>
            <a:off x="4765350" y="2999501"/>
            <a:ext cx="3840475" cy="888298"/>
          </a:xfrm>
          <a:prstGeom prst="rect">
            <a:avLst/>
          </a:prstGeom>
          <a:noFill/>
          <a:ln>
            <a:noFill/>
          </a:ln>
        </p:spPr>
      </p:pic>
      <p:sp>
        <p:nvSpPr>
          <p:cNvPr id="2188" name="Google Shape;2188;p97"/>
          <p:cNvSpPr/>
          <p:nvPr/>
        </p:nvSpPr>
        <p:spPr>
          <a:xfrm>
            <a:off x="4851150" y="2307050"/>
            <a:ext cx="3754800" cy="264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210"/>
        <p:cNvGrpSpPr/>
        <p:nvPr/>
      </p:nvGrpSpPr>
      <p:grpSpPr>
        <a:xfrm>
          <a:off x="0" y="0"/>
          <a:ext cx="0" cy="0"/>
          <a:chOff x="0" y="0"/>
          <a:chExt cx="0" cy="0"/>
        </a:xfrm>
      </p:grpSpPr>
      <p:pic>
        <p:nvPicPr>
          <p:cNvPr id="2211" name="Google Shape;2211;p99"/>
          <p:cNvPicPr preferRelativeResize="0"/>
          <p:nvPr/>
        </p:nvPicPr>
        <p:blipFill>
          <a:blip r:embed="rId3">
            <a:alphaModFix/>
          </a:blip>
          <a:stretch>
            <a:fillRect/>
          </a:stretch>
        </p:blipFill>
        <p:spPr>
          <a:xfrm>
            <a:off x="8605823" y="309363"/>
            <a:ext cx="402549" cy="402585"/>
          </a:xfrm>
          <a:prstGeom prst="rect">
            <a:avLst/>
          </a:prstGeom>
          <a:noFill/>
          <a:ln>
            <a:noFill/>
          </a:ln>
        </p:spPr>
      </p:pic>
      <p:sp>
        <p:nvSpPr>
          <p:cNvPr id="2212" name="Google Shape;2212;p99"/>
          <p:cNvSpPr txBox="1"/>
          <p:nvPr/>
        </p:nvSpPr>
        <p:spPr>
          <a:xfrm>
            <a:off x="211025" y="279800"/>
            <a:ext cx="8734500" cy="4770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 sz="1900">
                <a:solidFill>
                  <a:schemeClr val="dk1"/>
                </a:solidFill>
              </a:rPr>
              <a:t>Challenges of getting genomes from metagenomes across environments</a:t>
            </a:r>
            <a:endParaRPr sz="1900">
              <a:solidFill>
                <a:schemeClr val="dk1"/>
              </a:solidFill>
            </a:endParaRPr>
          </a:p>
        </p:txBody>
      </p:sp>
      <p:sp>
        <p:nvSpPr>
          <p:cNvPr id="2213" name="Google Shape;2213;p99"/>
          <p:cNvSpPr/>
          <p:nvPr/>
        </p:nvSpPr>
        <p:spPr>
          <a:xfrm>
            <a:off x="2544800" y="870175"/>
            <a:ext cx="60000" cy="3325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4" name="Google Shape;2214;p99"/>
          <p:cNvSpPr/>
          <p:nvPr/>
        </p:nvSpPr>
        <p:spPr>
          <a:xfrm rot="5400000">
            <a:off x="4237700" y="2503075"/>
            <a:ext cx="60000" cy="3325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5" name="Google Shape;2215;p99"/>
          <p:cNvSpPr txBox="1"/>
          <p:nvPr/>
        </p:nvSpPr>
        <p:spPr>
          <a:xfrm rot="-5400000">
            <a:off x="1035025" y="2332375"/>
            <a:ext cx="2374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 high quality MAGs</a:t>
            </a:r>
            <a:endParaRPr sz="1800">
              <a:solidFill>
                <a:schemeClr val="dk2"/>
              </a:solidFill>
            </a:endParaRPr>
          </a:p>
        </p:txBody>
      </p:sp>
      <p:sp>
        <p:nvSpPr>
          <p:cNvPr id="2216" name="Google Shape;2216;p99"/>
          <p:cNvSpPr txBox="1"/>
          <p:nvPr/>
        </p:nvSpPr>
        <p:spPr>
          <a:xfrm>
            <a:off x="3017513" y="4254225"/>
            <a:ext cx="2679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Total sequence depth</a:t>
            </a:r>
            <a:endParaRPr sz="1800">
              <a:solidFill>
                <a:schemeClr val="dk2"/>
              </a:solidFill>
            </a:endParaRPr>
          </a:p>
        </p:txBody>
      </p:sp>
      <p:pic>
        <p:nvPicPr>
          <p:cNvPr id="2217" name="Google Shape;2217;p99"/>
          <p:cNvPicPr preferRelativeResize="0"/>
          <p:nvPr/>
        </p:nvPicPr>
        <p:blipFill>
          <a:blip r:embed="rId4">
            <a:alphaModFix/>
          </a:blip>
          <a:stretch>
            <a:fillRect/>
          </a:stretch>
        </p:blipFill>
        <p:spPr>
          <a:xfrm>
            <a:off x="4878960" y="2406008"/>
            <a:ext cx="461699" cy="819821"/>
          </a:xfrm>
          <a:prstGeom prst="rect">
            <a:avLst/>
          </a:prstGeom>
          <a:noFill/>
          <a:ln>
            <a:noFill/>
          </a:ln>
        </p:spPr>
      </p:pic>
      <p:pic>
        <p:nvPicPr>
          <p:cNvPr id="2218" name="Google Shape;2218;p99"/>
          <p:cNvPicPr preferRelativeResize="0"/>
          <p:nvPr/>
        </p:nvPicPr>
        <p:blipFill>
          <a:blip r:embed="rId5">
            <a:alphaModFix/>
          </a:blip>
          <a:stretch>
            <a:fillRect/>
          </a:stretch>
        </p:blipFill>
        <p:spPr>
          <a:xfrm>
            <a:off x="2696625" y="1849286"/>
            <a:ext cx="686224" cy="343331"/>
          </a:xfrm>
          <a:prstGeom prst="rect">
            <a:avLst/>
          </a:prstGeom>
          <a:noFill/>
          <a:ln>
            <a:noFill/>
          </a:ln>
        </p:spPr>
      </p:pic>
      <p:pic>
        <p:nvPicPr>
          <p:cNvPr id="2220" name="Google Shape;2220;p99"/>
          <p:cNvPicPr preferRelativeResize="0"/>
          <p:nvPr/>
        </p:nvPicPr>
        <p:blipFill>
          <a:blip r:embed="rId6">
            <a:alphaModFix/>
          </a:blip>
          <a:stretch>
            <a:fillRect/>
          </a:stretch>
        </p:blipFill>
        <p:spPr>
          <a:xfrm>
            <a:off x="3585825" y="1322073"/>
            <a:ext cx="388570" cy="401375"/>
          </a:xfrm>
          <a:prstGeom prst="rect">
            <a:avLst/>
          </a:prstGeom>
          <a:noFill/>
          <a:ln>
            <a:noFill/>
          </a:ln>
        </p:spPr>
      </p:pic>
      <p:pic>
        <p:nvPicPr>
          <p:cNvPr id="2221" name="Google Shape;2221;p99"/>
          <p:cNvPicPr preferRelativeResize="0"/>
          <p:nvPr/>
        </p:nvPicPr>
        <p:blipFill rotWithShape="1">
          <a:blip r:embed="rId7">
            <a:alphaModFix/>
          </a:blip>
          <a:srcRect b="19865"/>
          <a:stretch/>
        </p:blipFill>
        <p:spPr>
          <a:xfrm>
            <a:off x="4462035" y="3578164"/>
            <a:ext cx="833850" cy="402575"/>
          </a:xfrm>
          <a:prstGeom prst="rect">
            <a:avLst/>
          </a:prstGeom>
          <a:noFill/>
          <a:ln>
            <a:noFill/>
          </a:ln>
        </p:spPr>
      </p:pic>
      <p:cxnSp>
        <p:nvCxnSpPr>
          <p:cNvPr id="2223" name="Google Shape;2223;p99"/>
          <p:cNvCxnSpPr/>
          <p:nvPr/>
        </p:nvCxnSpPr>
        <p:spPr>
          <a:xfrm>
            <a:off x="2814475" y="1217525"/>
            <a:ext cx="2712600" cy="2719800"/>
          </a:xfrm>
          <a:prstGeom prst="straightConnector1">
            <a:avLst/>
          </a:prstGeom>
          <a:noFill/>
          <a:ln w="38100" cap="flat" cmpd="sng">
            <a:solidFill>
              <a:srgbClr val="4A86E8"/>
            </a:solidFill>
            <a:prstDash val="solid"/>
            <a:round/>
            <a:headEnd type="none" w="med" len="med"/>
            <a:tailEnd type="triangle" w="med" len="med"/>
          </a:ln>
        </p:spPr>
      </p:cxnSp>
      <p:sp>
        <p:nvSpPr>
          <p:cNvPr id="2225" name="Google Shape;2225;p99"/>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49</a:t>
            </a:fld>
            <a:endParaRPr/>
          </a:p>
        </p:txBody>
      </p:sp>
      <p:pic>
        <p:nvPicPr>
          <p:cNvPr id="2226" name="Google Shape;2226;p99"/>
          <p:cNvPicPr preferRelativeResize="0"/>
          <p:nvPr/>
        </p:nvPicPr>
        <p:blipFill>
          <a:blip r:embed="rId8">
            <a:alphaModFix/>
          </a:blip>
          <a:stretch>
            <a:fillRect/>
          </a:stretch>
        </p:blipFill>
        <p:spPr>
          <a:xfrm>
            <a:off x="3143798" y="756800"/>
            <a:ext cx="474684" cy="652222"/>
          </a:xfrm>
          <a:prstGeom prst="rect">
            <a:avLst/>
          </a:prstGeom>
          <a:noFill/>
          <a:ln>
            <a:noFill/>
          </a:ln>
        </p:spPr>
      </p:pic>
      <p:grpSp>
        <p:nvGrpSpPr>
          <p:cNvPr id="6" name="Group 5">
            <a:extLst>
              <a:ext uri="{FF2B5EF4-FFF2-40B4-BE49-F238E27FC236}">
                <a16:creationId xmlns:a16="http://schemas.microsoft.com/office/drawing/2014/main" id="{3815E723-2487-140E-66AE-435B72EA753A}"/>
              </a:ext>
            </a:extLst>
          </p:cNvPr>
          <p:cNvGrpSpPr/>
          <p:nvPr/>
        </p:nvGrpSpPr>
        <p:grpSpPr>
          <a:xfrm>
            <a:off x="5415612" y="3376876"/>
            <a:ext cx="510783" cy="402575"/>
            <a:chOff x="4610746" y="2258878"/>
            <a:chExt cx="685139" cy="538566"/>
          </a:xfrm>
        </p:grpSpPr>
        <p:pic>
          <p:nvPicPr>
            <p:cNvPr id="3" name="Picture 2" descr="Basic Techniques and Concepts for Drawing Seawater by IMON442 - Make better  art | CLIP STUDIO TIPS">
              <a:extLst>
                <a:ext uri="{FF2B5EF4-FFF2-40B4-BE49-F238E27FC236}">
                  <a16:creationId xmlns:a16="http://schemas.microsoft.com/office/drawing/2014/main" id="{204B612D-CA19-8CB5-CEC7-3C03493C58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4418" y="2280894"/>
              <a:ext cx="651467" cy="50436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58FE8CDA-4284-24FE-1F03-20CEC0062A0C}"/>
                </a:ext>
              </a:extLst>
            </p:cNvPr>
            <p:cNvSpPr/>
            <p:nvPr/>
          </p:nvSpPr>
          <p:spPr>
            <a:xfrm>
              <a:off x="4610746" y="2258878"/>
              <a:ext cx="685139" cy="538566"/>
            </a:xfrm>
            <a:prstGeom prst="round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sp>
        <p:nvSpPr>
          <p:cNvPr id="2335" name="Google Shape;2335;p10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Practicals</a:t>
            </a:r>
            <a:endParaRPr/>
          </a:p>
        </p:txBody>
      </p:sp>
      <p:sp>
        <p:nvSpPr>
          <p:cNvPr id="2336" name="Google Shape;2336;p105"/>
          <p:cNvSpPr txBox="1">
            <a:spLocks noGrp="1"/>
          </p:cNvSpPr>
          <p:nvPr>
            <p:ph type="body" idx="1"/>
          </p:nvPr>
        </p:nvSpPr>
        <p:spPr>
          <a:xfrm>
            <a:off x="1314450" y="1369219"/>
            <a:ext cx="7886700" cy="3263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sz="2400" dirty="0">
                <a:solidFill>
                  <a:schemeClr val="dk1"/>
                </a:solidFill>
              </a:rPr>
              <a:t>Connect to JupyterHub: </a:t>
            </a:r>
            <a:r>
              <a:rPr lang="en" sz="2400" u="sng" dirty="0">
                <a:solidFill>
                  <a:schemeClr val="hlink"/>
                </a:solidFill>
                <a:hlinkClick r:id="rId3"/>
              </a:rPr>
              <a:t>https://bioinformatics.nl/biosb_metagenomics</a:t>
            </a:r>
            <a:endParaRPr sz="2400" dirty="0">
              <a:solidFill>
                <a:schemeClr val="dk1"/>
              </a:solidFill>
            </a:endParaRPr>
          </a:p>
          <a:p>
            <a:pPr marL="381000" marR="381000" lvl="0" indent="0" algn="l" rtl="0">
              <a:lnSpc>
                <a:spcPct val="115000"/>
              </a:lnSpc>
              <a:spcBef>
                <a:spcPts val="0"/>
              </a:spcBef>
              <a:spcAft>
                <a:spcPts val="0"/>
              </a:spcAft>
              <a:buNone/>
            </a:pPr>
            <a:endParaRPr sz="1400" dirty="0">
              <a:solidFill>
                <a:schemeClr val="dk1"/>
              </a:solidFill>
              <a:highlight>
                <a:srgbClr val="FFFFFF"/>
              </a:highlight>
            </a:endParaRPr>
          </a:p>
          <a:p>
            <a:pPr marL="0" lvl="0" indent="0">
              <a:spcBef>
                <a:spcPts val="0"/>
              </a:spcBef>
              <a:buSzPts val="1100"/>
              <a:buNone/>
            </a:pPr>
            <a:r>
              <a:rPr lang="en" sz="2400" dirty="0">
                <a:solidFill>
                  <a:schemeClr val="dk1"/>
                </a:solidFill>
                <a:highlight>
                  <a:srgbClr val="FFFFFF"/>
                </a:highlight>
              </a:rPr>
              <a:t>&gt;</a:t>
            </a:r>
            <a:r>
              <a:rPr lang="nl-NL" sz="2400" u="sng" dirty="0">
                <a:solidFill>
                  <a:schemeClr val="accent5"/>
                </a:solidFill>
              </a:rPr>
              <a:t>https://wur-bioinformatics.github.io/biosb-metagenomics/</a:t>
            </a:r>
            <a:endParaRPr sz="2800" dirty="0">
              <a:solidFill>
                <a:schemeClr val="dk1"/>
              </a:solidFill>
            </a:endParaRPr>
          </a:p>
        </p:txBody>
      </p:sp>
      <p:pic>
        <p:nvPicPr>
          <p:cNvPr id="2337" name="Google Shape;2337;p105"/>
          <p:cNvPicPr preferRelativeResize="0"/>
          <p:nvPr/>
        </p:nvPicPr>
        <p:blipFill rotWithShape="1">
          <a:blip r:embed="rId4">
            <a:alphaModFix/>
          </a:blip>
          <a:srcRect b="12664"/>
          <a:stretch/>
        </p:blipFill>
        <p:spPr>
          <a:xfrm>
            <a:off x="90675" y="1521625"/>
            <a:ext cx="1318347" cy="1151376"/>
          </a:xfrm>
          <a:prstGeom prst="rect">
            <a:avLst/>
          </a:prstGeom>
          <a:noFill/>
          <a:ln>
            <a:noFill/>
          </a:ln>
        </p:spPr>
      </p:pic>
      <p:sp>
        <p:nvSpPr>
          <p:cNvPr id="2339" name="Google Shape;2339;p105"/>
          <p:cNvSpPr txBox="1">
            <a:spLocks noGrp="1"/>
          </p:cNvSpPr>
          <p:nvPr>
            <p:ph type="sldNum" idx="12"/>
          </p:nvPr>
        </p:nvSpPr>
        <p:spPr>
          <a:xfrm>
            <a:off x="6457950" y="4767263"/>
            <a:ext cx="20574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50</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3890</Words>
  <Application>Microsoft Office PowerPoint</Application>
  <PresentationFormat>On-screen Show (16:9)</PresentationFormat>
  <Paragraphs>560</Paragraphs>
  <Slides>50</Slides>
  <Notes>50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Calibri</vt:lpstr>
      <vt:lpstr>Arial</vt:lpstr>
      <vt:lpstr>Helvetica Neue</vt:lpstr>
      <vt:lpstr>Roboto Mono</vt:lpstr>
      <vt:lpstr>Cambria Math</vt:lpstr>
      <vt:lpstr>Verdana</vt:lpstr>
      <vt:lpstr>Simple Light</vt:lpstr>
      <vt:lpstr>PowerPoint Presentation</vt:lpstr>
      <vt:lpstr>Bringing order to chaos</vt:lpstr>
      <vt:lpstr>Metagenomics: Overview</vt:lpstr>
      <vt:lpstr>Metagenomics: Overview (today’s focus)</vt:lpstr>
      <vt:lpstr>Step 1: Data preprocessing</vt:lpstr>
      <vt:lpstr>Data preprocessing - Adapters</vt:lpstr>
      <vt:lpstr>Data preprocessing - Demultiplexing</vt:lpstr>
      <vt:lpstr>Data preprocessing - Adapter trimming</vt:lpstr>
      <vt:lpstr>Data preprocessing - Quality filter</vt:lpstr>
      <vt:lpstr>Data preprocessing – other quality measures</vt:lpstr>
      <vt:lpstr>Data preprocessing - Host (&amp; other) removal</vt:lpstr>
      <vt:lpstr>Metagenomics: Read-based</vt:lpstr>
      <vt:lpstr>PowerPoint Presentation</vt:lpstr>
      <vt:lpstr>PowerPoint Presentation</vt:lpstr>
      <vt:lpstr>PowerPoint Presentation</vt:lpstr>
      <vt:lpstr>PowerPoint Presentation</vt:lpstr>
      <vt:lpstr>Metagenomics workflow: Assembly-based</vt:lpstr>
      <vt:lpstr>PowerPoint Presentation</vt:lpstr>
      <vt:lpstr>PowerPoint Presentation</vt:lpstr>
      <vt:lpstr>PowerPoint Presentation</vt:lpstr>
      <vt:lpstr>PowerPoint Presentation</vt:lpstr>
      <vt:lpstr>PowerPoint Presentation</vt:lpstr>
      <vt:lpstr>PowerPoint Presentation</vt:lpstr>
      <vt:lpstr>Linear vs cyclic De Bruijn graphs</vt:lpstr>
      <vt:lpstr>PowerPoint Presentation</vt:lpstr>
      <vt:lpstr>PowerPoint Presentation</vt:lpstr>
      <vt:lpstr>Yet in complex metagenomes, many contig breaks are also due to lack of coverage</vt:lpstr>
      <vt:lpstr>Binning procedure</vt:lpstr>
      <vt:lpstr>Automatic tools for binning </vt:lpstr>
      <vt:lpstr>(Semi)Automatic pipelines</vt:lpstr>
      <vt:lpstr>PowerPoint Presentation</vt:lpstr>
      <vt:lpstr>Metagenome data input quality determines data output quality</vt:lpstr>
      <vt:lpstr>CheckM2 uses single-copy orthologs to assess completeness</vt:lpstr>
      <vt:lpstr>Metagenome bins are of varying quality</vt:lpstr>
      <vt:lpstr>Ways to identify contamination</vt:lpstr>
      <vt:lpstr>Ways to identify contamination</vt:lpstr>
      <vt:lpstr>PowerPoint Presentation</vt:lpstr>
      <vt:lpstr>Metagenomics workflow: Coverage</vt:lpstr>
      <vt:lpstr>PowerPoint Presentation</vt:lpstr>
      <vt:lpstr>Metagenomics workflow: Taxonomy</vt:lpstr>
      <vt:lpstr>MGXlab: taxonomy assignment on all three levels</vt:lpstr>
      <vt:lpstr>Metagenomics workflow: Function</vt:lpstr>
      <vt:lpstr>Metagenomics workflow: Assembled-based analysis</vt:lpstr>
      <vt:lpstr>Read vs assembly-based approaches</vt:lpstr>
      <vt:lpstr>MAG/assembly-based vs. read-based v2</vt:lpstr>
      <vt:lpstr>MAG/assembly-based vs. read-based v2</vt:lpstr>
      <vt:lpstr>Metagenomics is a great tool but...</vt:lpstr>
      <vt:lpstr>PowerPoint Presentation</vt:lpstr>
      <vt:lpstr>PowerPoint Presentation</vt:lpstr>
      <vt:lpstr>Practicals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Selten, G. (Gijs)</dc:creator>
  <cp:lastModifiedBy>Selten, G. (Gijs)</cp:lastModifiedBy>
  <cp:revision>17</cp:revision>
  <dcterms:modified xsi:type="dcterms:W3CDTF">2026-10-25T14:56:50Z</dcterms:modified>
</cp:coreProperties>
</file>